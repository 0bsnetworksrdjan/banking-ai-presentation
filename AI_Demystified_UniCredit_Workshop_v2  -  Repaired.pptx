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23"/>
    <p:restoredTop sz="94610"/>
  </p:normalViewPr>
  <p:slideViewPr>
    <p:cSldViewPr snapToGrid="0" snapToObjects="1">
      <p:cViewPr varScale="1">
        <p:scale>
          <a:sx n="220" d="100"/>
          <a:sy n="220" d="100"/>
        </p:scale>
        <p:origin x="184" y="7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92500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6.png"/><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9.png"/><Relationship Id="rId5" Type="http://schemas.openxmlformats.org/officeDocument/2006/relationships/image" Target="../media/image15.png"/><Relationship Id="rId4" Type="http://schemas.openxmlformats.org/officeDocument/2006/relationships/image" Target="../media/image12.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1.xml"/><Relationship Id="rId5" Type="http://schemas.openxmlformats.org/officeDocument/2006/relationships/image" Target="../media/image16.png"/><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1.png"/><Relationship Id="rId4" Type="http://schemas.openxmlformats.org/officeDocument/2006/relationships/image" Target="../media/image9.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26EFF"/>
        </a:solidFill>
        <a:effectLst/>
      </p:bgPr>
    </p:bg>
    <p:spTree>
      <p:nvGrpSpPr>
        <p:cNvPr id="1" name=""/>
        <p:cNvGrpSpPr/>
        <p:nvPr/>
      </p:nvGrpSpPr>
      <p:grpSpPr>
        <a:xfrm>
          <a:off x="0" y="0"/>
          <a:ext cx="0" cy="0"/>
          <a:chOff x="0" y="0"/>
          <a:chExt cx="0" cy="0"/>
        </a:xfrm>
      </p:grpSpPr>
      <p:sp>
        <p:nvSpPr>
          <p:cNvPr id="4" name="Shape 2"/>
          <p:cNvSpPr/>
          <p:nvPr/>
        </p:nvSpPr>
        <p:spPr>
          <a:xfrm>
            <a:off x="0" y="4663440"/>
            <a:ext cx="9144000" cy="480060"/>
          </a:xfrm>
          <a:prstGeom prst="rect">
            <a:avLst/>
          </a:prstGeom>
          <a:solidFill>
            <a:srgbClr val="211B41"/>
          </a:solidFill>
          <a:ln w="12700">
            <a:solidFill>
              <a:srgbClr val="211B41"/>
            </a:solidFill>
            <a:prstDash val="solid"/>
          </a:ln>
        </p:spPr>
        <p:txBody>
          <a:bodyPr/>
          <a:lstStyle/>
          <a:p>
            <a:endParaRPr lang="en-US"/>
          </a:p>
        </p:txBody>
      </p:sp>
      <p:sp>
        <p:nvSpPr>
          <p:cNvPr id="5" name="Shape 3"/>
          <p:cNvSpPr/>
          <p:nvPr/>
        </p:nvSpPr>
        <p:spPr>
          <a:xfrm>
            <a:off x="502920" y="2606040"/>
            <a:ext cx="3657600" cy="45720"/>
          </a:xfrm>
          <a:prstGeom prst="rect">
            <a:avLst/>
          </a:prstGeom>
          <a:solidFill>
            <a:srgbClr val="F0B20D"/>
          </a:solidFill>
          <a:ln w="12700">
            <a:solidFill>
              <a:srgbClr val="F0B20D"/>
            </a:solidFill>
            <a:prstDash val="solid"/>
          </a:ln>
        </p:spPr>
        <p:txBody>
          <a:bodyPr/>
          <a:lstStyle/>
          <a:p>
            <a:endParaRPr lang="en-US"/>
          </a:p>
        </p:txBody>
      </p:sp>
      <p:sp>
        <p:nvSpPr>
          <p:cNvPr id="6" name="Text 4"/>
          <p:cNvSpPr/>
          <p:nvPr/>
        </p:nvSpPr>
        <p:spPr>
          <a:xfrm>
            <a:off x="502920" y="548640"/>
            <a:ext cx="7772400" cy="1371600"/>
          </a:xfrm>
          <a:prstGeom prst="rect">
            <a:avLst/>
          </a:prstGeom>
          <a:noFill/>
          <a:ln/>
        </p:spPr>
        <p:txBody>
          <a:bodyPr wrap="square" rtlCol="0" anchor="ctr"/>
          <a:lstStyle/>
          <a:p>
            <a:pPr marL="0" indent="0">
              <a:buNone/>
            </a:pPr>
            <a:r>
              <a:rPr lang="en-US" sz="6200" b="1" dirty="0">
                <a:solidFill>
                  <a:srgbClr val="FFFFFF"/>
                </a:solidFill>
                <a:latin typeface="Georgia" pitchFamily="34" charset="0"/>
                <a:ea typeface="Georgia" pitchFamily="34" charset="-122"/>
                <a:cs typeface="Georgia" pitchFamily="34" charset="-120"/>
              </a:rPr>
              <a:t>AI Demystified</a:t>
            </a:r>
            <a:endParaRPr lang="en-US" sz="6200" dirty="0"/>
          </a:p>
        </p:txBody>
      </p:sp>
      <p:sp>
        <p:nvSpPr>
          <p:cNvPr id="7" name="Text 5"/>
          <p:cNvSpPr/>
          <p:nvPr/>
        </p:nvSpPr>
        <p:spPr>
          <a:xfrm>
            <a:off x="502920" y="1947672"/>
            <a:ext cx="7772400" cy="548640"/>
          </a:xfrm>
          <a:prstGeom prst="rect">
            <a:avLst/>
          </a:prstGeom>
          <a:noFill/>
          <a:ln/>
        </p:spPr>
        <p:txBody>
          <a:bodyPr wrap="square" rtlCol="0" anchor="ctr"/>
          <a:lstStyle/>
          <a:p>
            <a:pPr marL="0" indent="0">
              <a:buNone/>
            </a:pPr>
            <a:r>
              <a:rPr lang="en-US" sz="1900" i="1" dirty="0">
                <a:solidFill>
                  <a:srgbClr val="FFFFFF"/>
                </a:solidFill>
                <a:latin typeface="Calibri" pitchFamily="34" charset="0"/>
                <a:ea typeface="Calibri" pitchFamily="34" charset="-122"/>
                <a:cs typeface="Calibri" pitchFamily="34" charset="-120"/>
              </a:rPr>
              <a:t>A Half-Day Workshop for UniCredit Leadership</a:t>
            </a:r>
            <a:endParaRPr lang="en-US" sz="1900" dirty="0"/>
          </a:p>
        </p:txBody>
      </p:sp>
      <p:sp>
        <p:nvSpPr>
          <p:cNvPr id="8" name="Text 6"/>
          <p:cNvSpPr/>
          <p:nvPr/>
        </p:nvSpPr>
        <p:spPr>
          <a:xfrm>
            <a:off x="502920" y="2788920"/>
            <a:ext cx="6858000" cy="868680"/>
          </a:xfrm>
          <a:prstGeom prst="rect">
            <a:avLst/>
          </a:prstGeom>
          <a:noFill/>
          <a:ln/>
        </p:spPr>
        <p:txBody>
          <a:bodyPr wrap="square" rtlCol="0" anchor="ctr"/>
          <a:lstStyle/>
          <a:p>
            <a:pPr marL="0" indent="0">
              <a:buNone/>
            </a:pPr>
            <a:r>
              <a:rPr lang="en-US" sz="1350" kern="0" spc="30" dirty="0">
                <a:solidFill>
                  <a:srgbClr val="FFFFFF"/>
                </a:solidFill>
                <a:latin typeface="Calibri" pitchFamily="34" charset="0"/>
                <a:ea typeface="Calibri" pitchFamily="34" charset="-122"/>
                <a:cs typeface="Calibri" pitchFamily="34" charset="-120"/>
              </a:rPr>
              <a:t>From buzzwords to business power</a:t>
            </a:r>
            <a:endParaRPr lang="en-US" sz="1350" dirty="0"/>
          </a:p>
          <a:p>
            <a:pPr marL="0" indent="0">
              <a:buNone/>
            </a:pPr>
            <a:r>
              <a:rPr lang="en-US" sz="1350" kern="0" spc="30" dirty="0">
                <a:solidFill>
                  <a:srgbClr val="FFFFFF"/>
                </a:solidFill>
                <a:latin typeface="Calibri" pitchFamily="34" charset="0"/>
                <a:ea typeface="Calibri" pitchFamily="34" charset="-122"/>
                <a:cs typeface="Calibri" pitchFamily="34" charset="-120"/>
              </a:rPr>
              <a:t>A practical guide to Generative AI &amp; LLMs for decision-makers</a:t>
            </a:r>
            <a:endParaRPr lang="en-US" sz="1350" dirty="0"/>
          </a:p>
        </p:txBody>
      </p:sp>
      <p:pic>
        <p:nvPicPr>
          <p:cNvPr id="9" name="Image 0" descr="preencoded.png"/>
          <p:cNvPicPr>
            <a:picLocks noChangeAspect="1"/>
          </p:cNvPicPr>
          <p:nvPr/>
        </p:nvPicPr>
        <p:blipFill>
          <a:blip r:embed="rId3"/>
          <a:stretch>
            <a:fillRect/>
          </a:stretch>
        </p:blipFill>
        <p:spPr>
          <a:xfrm>
            <a:off x="7863840" y="502920"/>
            <a:ext cx="777240" cy="777240"/>
          </a:xfrm>
          <a:prstGeom prst="rect">
            <a:avLst/>
          </a:prstGeom>
        </p:spPr>
      </p:pic>
      <p:sp>
        <p:nvSpPr>
          <p:cNvPr id="10" name="Text 7"/>
          <p:cNvSpPr/>
          <p:nvPr/>
        </p:nvSpPr>
        <p:spPr>
          <a:xfrm>
            <a:off x="365760" y="4718304"/>
            <a:ext cx="6858000" cy="256032"/>
          </a:xfrm>
          <a:prstGeom prst="rect">
            <a:avLst/>
          </a:prstGeom>
          <a:noFill/>
          <a:ln/>
        </p:spPr>
        <p:txBody>
          <a:bodyPr wrap="square" lIns="0" tIns="0" rIns="0" bIns="0" rtlCol="0" anchor="ctr"/>
          <a:lstStyle/>
          <a:p>
            <a:pPr marL="0" indent="0">
              <a:buNone/>
            </a:pPr>
            <a:r>
              <a:rPr lang="en-US" sz="1000" dirty="0">
                <a:solidFill>
                  <a:srgbClr val="EFF4E0"/>
                </a:solidFill>
                <a:latin typeface="Calibri" pitchFamily="34" charset="0"/>
                <a:ea typeface="Calibri" pitchFamily="34" charset="-122"/>
                <a:cs typeface="Calibri" pitchFamily="34" charset="-120"/>
              </a:rPr>
              <a:t>Blockstruct GmbH  ·  Vienna, Austria  ·  Member of AI:AT — AI Factory Austria</a:t>
            </a:r>
            <a:endParaRPr lang="en-US" sz="1000" dirty="0"/>
          </a:p>
        </p:txBody>
      </p:sp>
      <p:sp>
        <p:nvSpPr>
          <p:cNvPr id="11" name="Text 8"/>
          <p:cNvSpPr/>
          <p:nvPr/>
        </p:nvSpPr>
        <p:spPr>
          <a:xfrm>
            <a:off x="7498080" y="4718304"/>
            <a:ext cx="1371600" cy="256032"/>
          </a:xfrm>
          <a:prstGeom prst="rect">
            <a:avLst/>
          </a:prstGeom>
          <a:noFill/>
          <a:ln/>
        </p:spPr>
        <p:txBody>
          <a:bodyPr wrap="square" lIns="0" tIns="0" rIns="0" bIns="0" rtlCol="0" anchor="ctr"/>
          <a:lstStyle/>
          <a:p>
            <a:pPr marL="0" indent="0" algn="r">
              <a:buNone/>
            </a:pPr>
            <a:r>
              <a:rPr lang="en-US" sz="1000" dirty="0">
                <a:solidFill>
                  <a:srgbClr val="EFF4E0"/>
                </a:solidFill>
                <a:latin typeface="Calibri" pitchFamily="34" charset="0"/>
                <a:ea typeface="Calibri" pitchFamily="34" charset="-122"/>
                <a:cs typeface="Calibri" pitchFamily="34" charset="-120"/>
              </a:rPr>
              <a:t>April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11B41"/>
        </a:solidFill>
        <a:effectLst/>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0B20D"/>
          </a:solidFill>
          <a:ln w="12700">
            <a:solidFill>
              <a:srgbClr val="F0B20D"/>
            </a:solidFill>
            <a:prstDash val="solid"/>
          </a:ln>
        </p:spPr>
        <p:txBody>
          <a:bodyPr/>
          <a:lstStyle/>
          <a:p>
            <a:endParaRPr lang="en-US"/>
          </a:p>
        </p:txBody>
      </p:sp>
      <p:sp>
        <p:nvSpPr>
          <p:cNvPr id="3" name="Text 1"/>
          <p:cNvSpPr/>
          <p:nvPr/>
        </p:nvSpPr>
        <p:spPr>
          <a:xfrm>
            <a:off x="320040" y="256032"/>
            <a:ext cx="5486400" cy="320040"/>
          </a:xfrm>
          <a:prstGeom prst="rect">
            <a:avLst/>
          </a:prstGeom>
          <a:noFill/>
          <a:ln/>
        </p:spPr>
        <p:txBody>
          <a:bodyPr wrap="square" lIns="0" tIns="0" rIns="0" bIns="0" rtlCol="0" anchor="ctr"/>
          <a:lstStyle/>
          <a:p>
            <a:pPr marL="0" indent="0">
              <a:buNone/>
            </a:pPr>
            <a:r>
              <a:rPr lang="en-US" sz="1100" b="1" kern="0" spc="400" dirty="0">
                <a:solidFill>
                  <a:srgbClr val="F0B20D"/>
                </a:solidFill>
                <a:latin typeface="Calibri" pitchFamily="34" charset="0"/>
                <a:ea typeface="Calibri" pitchFamily="34" charset="-122"/>
                <a:cs typeface="Calibri" pitchFamily="34" charset="-120"/>
              </a:rPr>
              <a:t>YOUR GUIDE TODAY</a:t>
            </a:r>
            <a:endParaRPr lang="en-US" sz="1100" dirty="0"/>
          </a:p>
        </p:txBody>
      </p:sp>
      <p:sp>
        <p:nvSpPr>
          <p:cNvPr id="4" name="Text 2"/>
          <p:cNvSpPr/>
          <p:nvPr/>
        </p:nvSpPr>
        <p:spPr>
          <a:xfrm>
            <a:off x="320040" y="621792"/>
            <a:ext cx="5943600" cy="685800"/>
          </a:xfrm>
          <a:prstGeom prst="rect">
            <a:avLst/>
          </a:prstGeom>
          <a:noFill/>
          <a:ln/>
        </p:spPr>
        <p:txBody>
          <a:bodyPr wrap="square" lIns="0" tIns="0" rIns="0" bIns="0" rtlCol="0" anchor="ctr"/>
          <a:lstStyle/>
          <a:p>
            <a:pPr marL="0" indent="0">
              <a:buNone/>
            </a:pPr>
            <a:r>
              <a:rPr lang="en-US" sz="3400" b="1" dirty="0">
                <a:solidFill>
                  <a:srgbClr val="FFFFFF"/>
                </a:solidFill>
                <a:latin typeface="Georgia" pitchFamily="34" charset="0"/>
                <a:ea typeface="Georgia" pitchFamily="34" charset="-122"/>
                <a:cs typeface="Georgia" pitchFamily="34" charset="-120"/>
              </a:rPr>
              <a:t>Srdjan Kupresanin</a:t>
            </a:r>
            <a:endParaRPr lang="en-US" sz="3400" dirty="0"/>
          </a:p>
        </p:txBody>
      </p:sp>
      <p:sp>
        <p:nvSpPr>
          <p:cNvPr id="5" name="Text 3"/>
          <p:cNvSpPr/>
          <p:nvPr/>
        </p:nvSpPr>
        <p:spPr>
          <a:xfrm>
            <a:off x="320040" y="1325880"/>
            <a:ext cx="6400800" cy="347472"/>
          </a:xfrm>
          <a:prstGeom prst="rect">
            <a:avLst/>
          </a:prstGeom>
          <a:noFill/>
          <a:ln/>
        </p:spPr>
        <p:txBody>
          <a:bodyPr wrap="square" lIns="0" tIns="0" rIns="0" bIns="0" rtlCol="0" anchor="ctr"/>
          <a:lstStyle/>
          <a:p>
            <a:pPr marL="0" indent="0">
              <a:buNone/>
            </a:pPr>
            <a:r>
              <a:rPr lang="en-US" sz="1350" dirty="0">
                <a:solidFill>
                  <a:srgbClr val="8F96FF"/>
                </a:solidFill>
                <a:latin typeface="Calibri" pitchFamily="34" charset="0"/>
                <a:ea typeface="Calibri" pitchFamily="34" charset="-122"/>
                <a:cs typeface="Calibri" pitchFamily="34" charset="-120"/>
              </a:rPr>
              <a:t>Founder &amp; CEO, Blockstruct GmbH  ·  Vienna, Austria</a:t>
            </a:r>
            <a:endParaRPr lang="en-US" sz="1350" dirty="0"/>
          </a:p>
        </p:txBody>
      </p:sp>
      <p:sp>
        <p:nvSpPr>
          <p:cNvPr id="6" name="Text 4"/>
          <p:cNvSpPr/>
          <p:nvPr/>
        </p:nvSpPr>
        <p:spPr>
          <a:xfrm>
            <a:off x="320040" y="1691640"/>
            <a:ext cx="6400800" cy="292608"/>
          </a:xfrm>
          <a:prstGeom prst="rect">
            <a:avLst/>
          </a:prstGeom>
          <a:noFill/>
          <a:ln/>
        </p:spPr>
        <p:txBody>
          <a:bodyPr wrap="square" lIns="0" tIns="0" rIns="0" bIns="0" rtlCol="0" anchor="ctr"/>
          <a:lstStyle/>
          <a:p>
            <a:pPr marL="0" indent="0">
              <a:buNone/>
            </a:pPr>
            <a:r>
              <a:rPr lang="en-US" sz="1200" i="1" dirty="0">
                <a:solidFill>
                  <a:srgbClr val="F0B20D"/>
                </a:solidFill>
                <a:latin typeface="Calibri" pitchFamily="34" charset="0"/>
                <a:ea typeface="Calibri" pitchFamily="34" charset="-122"/>
                <a:cs typeface="Calibri" pitchFamily="34" charset="-120"/>
              </a:rPr>
              <a:t>Member of AI Factory Austria AI:AT Hub  ·  www.ai-at.eu</a:t>
            </a:r>
            <a:endParaRPr lang="en-US" sz="1200" dirty="0"/>
          </a:p>
        </p:txBody>
      </p:sp>
      <p:sp>
        <p:nvSpPr>
          <p:cNvPr id="7" name="Shape 5"/>
          <p:cNvSpPr/>
          <p:nvPr/>
        </p:nvSpPr>
        <p:spPr>
          <a:xfrm>
            <a:off x="320040" y="2084832"/>
            <a:ext cx="5943600" cy="27432"/>
          </a:xfrm>
          <a:prstGeom prst="rect">
            <a:avLst/>
          </a:prstGeom>
          <a:solidFill>
            <a:srgbClr val="2E2458"/>
          </a:solidFill>
          <a:ln w="12700">
            <a:solidFill>
              <a:srgbClr val="2E2458"/>
            </a:solidFill>
            <a:prstDash val="solid"/>
          </a:ln>
        </p:spPr>
        <p:txBody>
          <a:bodyPr/>
          <a:lstStyle/>
          <a:p>
            <a:endParaRPr lang="en-US"/>
          </a:p>
        </p:txBody>
      </p:sp>
      <p:sp>
        <p:nvSpPr>
          <p:cNvPr id="8" name="Text 6"/>
          <p:cNvSpPr/>
          <p:nvPr/>
        </p:nvSpPr>
        <p:spPr>
          <a:xfrm>
            <a:off x="320040" y="2212848"/>
            <a:ext cx="5212080" cy="475488"/>
          </a:xfrm>
          <a:prstGeom prst="rect">
            <a:avLst/>
          </a:prstGeom>
          <a:noFill/>
          <a:ln/>
        </p:spPr>
        <p:txBody>
          <a:bodyPr wrap="square" lIns="0" tIns="0" rIns="0" bIns="0" rtlCol="0" anchor="ctr"/>
          <a:lstStyle/>
          <a:p>
            <a:pPr marL="0" indent="0">
              <a:buNone/>
            </a:pPr>
            <a:r>
              <a:rPr lang="en-US" sz="1400" b="1" i="1" dirty="0">
                <a:solidFill>
                  <a:srgbClr val="FFFFFF"/>
                </a:solidFill>
                <a:latin typeface="Georgia" pitchFamily="34" charset="0"/>
                <a:ea typeface="Georgia" pitchFamily="34" charset="-122"/>
                <a:cs typeface="Georgia" pitchFamily="34" charset="-120"/>
              </a:rPr>
              <a:t>AI Applications for Business. European Tech. Zero Bullshit.</a:t>
            </a:r>
            <a:endParaRPr lang="en-US" sz="1400" dirty="0"/>
          </a:p>
        </p:txBody>
      </p:sp>
      <p:sp>
        <p:nvSpPr>
          <p:cNvPr id="9" name="Text 7"/>
          <p:cNvSpPr/>
          <p:nvPr/>
        </p:nvSpPr>
        <p:spPr>
          <a:xfrm>
            <a:off x="320040" y="2761488"/>
            <a:ext cx="5212080" cy="1005840"/>
          </a:xfrm>
          <a:prstGeom prst="rect">
            <a:avLst/>
          </a:prstGeom>
          <a:noFill/>
          <a:ln/>
        </p:spPr>
        <p:txBody>
          <a:bodyPr wrap="square" lIns="0" tIns="0" rIns="0" bIns="0" rtlCol="0" anchor="ctr"/>
          <a:lstStyle/>
          <a:p>
            <a:pPr marL="0" indent="0">
              <a:buNone/>
            </a:pPr>
            <a:r>
              <a:rPr lang="en-US" sz="1200" dirty="0">
                <a:solidFill>
                  <a:srgbClr val="8F96FF"/>
                </a:solidFill>
                <a:latin typeface="Calibri" pitchFamily="34" charset="0"/>
                <a:ea typeface="Calibri" pitchFamily="34" charset="-122"/>
                <a:cs typeface="Calibri" pitchFamily="34" charset="-120"/>
              </a:rPr>
              <a:t>Blockstruct builds production-ready AI solutions for government, enterprise and banking clients. International team across Austria, UK, Spain, Croatia, Serbia, Montenegro. We've been building AI that works — not AI that demos — since before it was fashionable.</a:t>
            </a:r>
            <a:endParaRPr lang="en-US" sz="1200" dirty="0"/>
          </a:p>
        </p:txBody>
      </p:sp>
      <p:sp>
        <p:nvSpPr>
          <p:cNvPr id="10" name="Shape 8"/>
          <p:cNvSpPr/>
          <p:nvPr/>
        </p:nvSpPr>
        <p:spPr>
          <a:xfrm>
            <a:off x="5943600" y="274320"/>
            <a:ext cx="2926080" cy="1097280"/>
          </a:xfrm>
          <a:prstGeom prst="rect">
            <a:avLst/>
          </a:prstGeom>
          <a:solidFill>
            <a:srgbClr val="2E2458"/>
          </a:solidFill>
          <a:ln w="12700">
            <a:solidFill>
              <a:srgbClr val="2E2458"/>
            </a:solidFill>
            <a:prstDash val="solid"/>
          </a:ln>
          <a:effectLst>
            <a:outerShdw blurRad="63500" dist="25400" dir="8100000" algn="bl" rotWithShape="0">
              <a:srgbClr val="000000">
                <a:alpha val="8000"/>
              </a:srgbClr>
            </a:outerShdw>
          </a:effectLst>
        </p:spPr>
        <p:txBody>
          <a:bodyPr/>
          <a:lstStyle/>
          <a:p>
            <a:endParaRPr lang="en-US"/>
          </a:p>
        </p:txBody>
      </p:sp>
      <p:sp>
        <p:nvSpPr>
          <p:cNvPr id="11" name="Shape 9"/>
          <p:cNvSpPr/>
          <p:nvPr/>
        </p:nvSpPr>
        <p:spPr>
          <a:xfrm>
            <a:off x="5943600" y="274320"/>
            <a:ext cx="64008" cy="1097280"/>
          </a:xfrm>
          <a:prstGeom prst="rect">
            <a:avLst/>
          </a:prstGeom>
          <a:solidFill>
            <a:srgbClr val="F0B20D"/>
          </a:solidFill>
          <a:ln w="12700">
            <a:solidFill>
              <a:srgbClr val="F0B20D"/>
            </a:solidFill>
            <a:prstDash val="solid"/>
          </a:ln>
        </p:spPr>
        <p:txBody>
          <a:bodyPr/>
          <a:lstStyle/>
          <a:p>
            <a:endParaRPr lang="en-US"/>
          </a:p>
        </p:txBody>
      </p:sp>
      <p:sp>
        <p:nvSpPr>
          <p:cNvPr id="12" name="Text 10"/>
          <p:cNvSpPr/>
          <p:nvPr/>
        </p:nvSpPr>
        <p:spPr>
          <a:xfrm>
            <a:off x="6080760" y="329184"/>
            <a:ext cx="2697480"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Croatian Ministry of Health</a:t>
            </a:r>
            <a:endParaRPr lang="en-US" sz="1100" dirty="0"/>
          </a:p>
        </p:txBody>
      </p:sp>
      <p:sp>
        <p:nvSpPr>
          <p:cNvPr id="13" name="Text 11"/>
          <p:cNvSpPr/>
          <p:nvPr/>
        </p:nvSpPr>
        <p:spPr>
          <a:xfrm>
            <a:off x="6080760" y="676656"/>
            <a:ext cx="2697480" cy="621792"/>
          </a:xfrm>
          <a:prstGeom prst="rect">
            <a:avLst/>
          </a:prstGeom>
          <a:noFill/>
          <a:ln/>
        </p:spPr>
        <p:txBody>
          <a:bodyPr wrap="square" lIns="0" tIns="0" rIns="0" bIns="0" rtlCol="0" anchor="ctr"/>
          <a:lstStyle/>
          <a:p>
            <a:pPr marL="0" indent="0">
              <a:buNone/>
            </a:pPr>
            <a:r>
              <a:rPr lang="en-US" sz="1000" dirty="0">
                <a:solidFill>
                  <a:srgbClr val="8F96FF"/>
                </a:solidFill>
                <a:latin typeface="Calibri" pitchFamily="34" charset="0"/>
                <a:ea typeface="Calibri" pitchFamily="34" charset="-122"/>
                <a:cs typeface="Calibri" pitchFamily="34" charset="-120"/>
              </a:rPr>
              <a:t>National medicine shortages prevention platform — government-grade, countrywide deployment</a:t>
            </a:r>
            <a:endParaRPr lang="en-US" sz="1000" dirty="0"/>
          </a:p>
        </p:txBody>
      </p:sp>
      <p:sp>
        <p:nvSpPr>
          <p:cNvPr id="14" name="Shape 12"/>
          <p:cNvSpPr/>
          <p:nvPr/>
        </p:nvSpPr>
        <p:spPr>
          <a:xfrm>
            <a:off x="5943600" y="1463040"/>
            <a:ext cx="2926080" cy="1097280"/>
          </a:xfrm>
          <a:prstGeom prst="rect">
            <a:avLst/>
          </a:prstGeom>
          <a:solidFill>
            <a:srgbClr val="2E2458"/>
          </a:solidFill>
          <a:ln w="12700">
            <a:solidFill>
              <a:srgbClr val="2E2458"/>
            </a:solidFill>
            <a:prstDash val="solid"/>
          </a:ln>
          <a:effectLst>
            <a:outerShdw blurRad="63500" dist="25400" dir="8100000" algn="bl" rotWithShape="0">
              <a:srgbClr val="000000">
                <a:alpha val="8000"/>
              </a:srgbClr>
            </a:outerShdw>
          </a:effectLst>
        </p:spPr>
        <p:txBody>
          <a:bodyPr/>
          <a:lstStyle/>
          <a:p>
            <a:endParaRPr lang="en-US"/>
          </a:p>
        </p:txBody>
      </p:sp>
      <p:sp>
        <p:nvSpPr>
          <p:cNvPr id="15" name="Shape 13"/>
          <p:cNvSpPr/>
          <p:nvPr/>
        </p:nvSpPr>
        <p:spPr>
          <a:xfrm>
            <a:off x="5943600" y="1463040"/>
            <a:ext cx="64008" cy="1097280"/>
          </a:xfrm>
          <a:prstGeom prst="rect">
            <a:avLst/>
          </a:prstGeom>
          <a:solidFill>
            <a:srgbClr val="F0B20D"/>
          </a:solidFill>
          <a:ln w="12700">
            <a:solidFill>
              <a:srgbClr val="F0B20D"/>
            </a:solidFill>
            <a:prstDash val="solid"/>
          </a:ln>
        </p:spPr>
        <p:txBody>
          <a:bodyPr/>
          <a:lstStyle/>
          <a:p>
            <a:endParaRPr lang="en-US"/>
          </a:p>
        </p:txBody>
      </p:sp>
      <p:sp>
        <p:nvSpPr>
          <p:cNvPr id="16" name="Text 14"/>
          <p:cNvSpPr/>
          <p:nvPr/>
        </p:nvSpPr>
        <p:spPr>
          <a:xfrm>
            <a:off x="6080760" y="1517904"/>
            <a:ext cx="2697480"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Raiffeisen Bank International</a:t>
            </a:r>
            <a:endParaRPr lang="en-US" sz="1100" dirty="0"/>
          </a:p>
        </p:txBody>
      </p:sp>
      <p:sp>
        <p:nvSpPr>
          <p:cNvPr id="17" name="Text 15"/>
          <p:cNvSpPr/>
          <p:nvPr/>
        </p:nvSpPr>
        <p:spPr>
          <a:xfrm>
            <a:off x="6080760" y="1865376"/>
            <a:ext cx="2697480" cy="621792"/>
          </a:xfrm>
          <a:prstGeom prst="rect">
            <a:avLst/>
          </a:prstGeom>
          <a:noFill/>
          <a:ln/>
        </p:spPr>
        <p:txBody>
          <a:bodyPr wrap="square" lIns="0" tIns="0" rIns="0" bIns="0" rtlCol="0" anchor="ctr"/>
          <a:lstStyle/>
          <a:p>
            <a:pPr marL="0" indent="0">
              <a:buNone/>
            </a:pPr>
            <a:r>
              <a:rPr lang="en-US" sz="1000" dirty="0">
                <a:solidFill>
                  <a:srgbClr val="8F96FF"/>
                </a:solidFill>
                <a:latin typeface="Calibri" pitchFamily="34" charset="0"/>
                <a:ea typeface="Calibri" pitchFamily="34" charset="-122"/>
                <a:cs typeface="Calibri" pitchFamily="34" charset="-120"/>
              </a:rPr>
              <a:t>World's first Euro-backed stable token on a public blockchain — independently evaluated by Croatian State Cloud &amp; Citadelo cybersecurity</a:t>
            </a:r>
            <a:endParaRPr lang="en-US" sz="1000" dirty="0"/>
          </a:p>
        </p:txBody>
      </p:sp>
      <p:sp>
        <p:nvSpPr>
          <p:cNvPr id="18" name="Shape 16"/>
          <p:cNvSpPr/>
          <p:nvPr/>
        </p:nvSpPr>
        <p:spPr>
          <a:xfrm>
            <a:off x="5943600" y="2651760"/>
            <a:ext cx="2926080" cy="1097280"/>
          </a:xfrm>
          <a:prstGeom prst="rect">
            <a:avLst/>
          </a:prstGeom>
          <a:solidFill>
            <a:srgbClr val="2E2458"/>
          </a:solidFill>
          <a:ln w="12700">
            <a:solidFill>
              <a:srgbClr val="2E2458"/>
            </a:solidFill>
            <a:prstDash val="solid"/>
          </a:ln>
          <a:effectLst>
            <a:outerShdw blurRad="63500" dist="25400" dir="8100000" algn="bl" rotWithShape="0">
              <a:srgbClr val="000000">
                <a:alpha val="8000"/>
              </a:srgbClr>
            </a:outerShdw>
          </a:effectLst>
        </p:spPr>
        <p:txBody>
          <a:bodyPr/>
          <a:lstStyle/>
          <a:p>
            <a:endParaRPr lang="en-US"/>
          </a:p>
        </p:txBody>
      </p:sp>
      <p:sp>
        <p:nvSpPr>
          <p:cNvPr id="19" name="Shape 17"/>
          <p:cNvSpPr/>
          <p:nvPr/>
        </p:nvSpPr>
        <p:spPr>
          <a:xfrm>
            <a:off x="5943600" y="2651760"/>
            <a:ext cx="64008" cy="1097280"/>
          </a:xfrm>
          <a:prstGeom prst="rect">
            <a:avLst/>
          </a:prstGeom>
          <a:solidFill>
            <a:srgbClr val="F0B20D"/>
          </a:solidFill>
          <a:ln w="12700">
            <a:solidFill>
              <a:srgbClr val="F0B20D"/>
            </a:solidFill>
            <a:prstDash val="solid"/>
          </a:ln>
        </p:spPr>
        <p:txBody>
          <a:bodyPr/>
          <a:lstStyle/>
          <a:p>
            <a:endParaRPr lang="en-US"/>
          </a:p>
        </p:txBody>
      </p:sp>
      <p:sp>
        <p:nvSpPr>
          <p:cNvPr id="20" name="Text 18"/>
          <p:cNvSpPr/>
          <p:nvPr/>
        </p:nvSpPr>
        <p:spPr>
          <a:xfrm>
            <a:off x="6080760" y="2706624"/>
            <a:ext cx="2697480"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VERBUND &amp; SMATRICS / EnBW</a:t>
            </a:r>
            <a:endParaRPr lang="en-US" sz="1100" dirty="0"/>
          </a:p>
        </p:txBody>
      </p:sp>
      <p:sp>
        <p:nvSpPr>
          <p:cNvPr id="21" name="Text 19"/>
          <p:cNvSpPr/>
          <p:nvPr/>
        </p:nvSpPr>
        <p:spPr>
          <a:xfrm>
            <a:off x="6080760" y="3054096"/>
            <a:ext cx="2697480" cy="621792"/>
          </a:xfrm>
          <a:prstGeom prst="rect">
            <a:avLst/>
          </a:prstGeom>
          <a:noFill/>
          <a:ln/>
        </p:spPr>
        <p:txBody>
          <a:bodyPr wrap="square" lIns="0" tIns="0" rIns="0" bIns="0" rtlCol="0" anchor="ctr"/>
          <a:lstStyle/>
          <a:p>
            <a:pPr marL="0" indent="0">
              <a:buNone/>
            </a:pPr>
            <a:r>
              <a:rPr lang="en-US" sz="1000" dirty="0">
                <a:solidFill>
                  <a:srgbClr val="8F96FF"/>
                </a:solidFill>
                <a:latin typeface="Calibri" pitchFamily="34" charset="0"/>
                <a:ea typeface="Calibri" pitchFamily="34" charset="-122"/>
                <a:cs typeface="Calibri" pitchFamily="34" charset="-120"/>
              </a:rPr>
              <a:t>AI-powered ESG reporting, digital operations &amp; cybersecurity for Austria's largest energy company</a:t>
            </a:r>
            <a:endParaRPr lang="en-US" sz="1000" dirty="0"/>
          </a:p>
        </p:txBody>
      </p:sp>
      <p:sp>
        <p:nvSpPr>
          <p:cNvPr id="22" name="Shape 20"/>
          <p:cNvSpPr/>
          <p:nvPr/>
        </p:nvSpPr>
        <p:spPr>
          <a:xfrm>
            <a:off x="5943600" y="3840480"/>
            <a:ext cx="2926080" cy="1097280"/>
          </a:xfrm>
          <a:prstGeom prst="rect">
            <a:avLst/>
          </a:prstGeom>
          <a:solidFill>
            <a:srgbClr val="2E2458"/>
          </a:solidFill>
          <a:ln w="12700">
            <a:solidFill>
              <a:srgbClr val="2E2458"/>
            </a:solidFill>
            <a:prstDash val="solid"/>
          </a:ln>
          <a:effectLst>
            <a:outerShdw blurRad="63500" dist="25400" dir="8100000" algn="bl" rotWithShape="0">
              <a:srgbClr val="000000">
                <a:alpha val="8000"/>
              </a:srgbClr>
            </a:outerShdw>
          </a:effectLst>
        </p:spPr>
        <p:txBody>
          <a:bodyPr/>
          <a:lstStyle/>
          <a:p>
            <a:endParaRPr lang="en-US"/>
          </a:p>
        </p:txBody>
      </p:sp>
      <p:sp>
        <p:nvSpPr>
          <p:cNvPr id="23" name="Shape 21"/>
          <p:cNvSpPr/>
          <p:nvPr/>
        </p:nvSpPr>
        <p:spPr>
          <a:xfrm>
            <a:off x="5943600" y="3840480"/>
            <a:ext cx="64008" cy="1097280"/>
          </a:xfrm>
          <a:prstGeom prst="rect">
            <a:avLst/>
          </a:prstGeom>
          <a:solidFill>
            <a:srgbClr val="F0B20D"/>
          </a:solidFill>
          <a:ln w="12700">
            <a:solidFill>
              <a:srgbClr val="F0B20D"/>
            </a:solidFill>
            <a:prstDash val="solid"/>
          </a:ln>
        </p:spPr>
        <p:txBody>
          <a:bodyPr/>
          <a:lstStyle/>
          <a:p>
            <a:endParaRPr lang="en-US"/>
          </a:p>
        </p:txBody>
      </p:sp>
      <p:sp>
        <p:nvSpPr>
          <p:cNvPr id="24" name="Text 22"/>
          <p:cNvSpPr/>
          <p:nvPr/>
        </p:nvSpPr>
        <p:spPr>
          <a:xfrm>
            <a:off x="6080760" y="3895344"/>
            <a:ext cx="2697480" cy="347472"/>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100+ stakeholders in production</a:t>
            </a:r>
            <a:endParaRPr lang="en-US" sz="1100" dirty="0"/>
          </a:p>
        </p:txBody>
      </p:sp>
      <p:sp>
        <p:nvSpPr>
          <p:cNvPr id="25" name="Text 23"/>
          <p:cNvSpPr/>
          <p:nvPr/>
        </p:nvSpPr>
        <p:spPr>
          <a:xfrm>
            <a:off x="6080760" y="4242816"/>
            <a:ext cx="2697480" cy="621792"/>
          </a:xfrm>
          <a:prstGeom prst="rect">
            <a:avLst/>
          </a:prstGeom>
          <a:noFill/>
          <a:ln/>
        </p:spPr>
        <p:txBody>
          <a:bodyPr wrap="square" lIns="0" tIns="0" rIns="0" bIns="0" rtlCol="0" anchor="ctr"/>
          <a:lstStyle/>
          <a:p>
            <a:pPr marL="0" indent="0">
              <a:buNone/>
            </a:pPr>
            <a:r>
              <a:rPr lang="en-US" sz="1000" dirty="0">
                <a:solidFill>
                  <a:srgbClr val="8F96FF"/>
                </a:solidFill>
                <a:latin typeface="Calibri" pitchFamily="34" charset="0"/>
                <a:ea typeface="Calibri" pitchFamily="34" charset="-122"/>
                <a:cs typeface="Calibri" pitchFamily="34" charset="-120"/>
              </a:rPr>
              <a:t>Tens of thousands of documents processed, payments automated, decisions supported — daily</a:t>
            </a:r>
            <a:endParaRPr lang="en-US" sz="1000" dirty="0"/>
          </a:p>
        </p:txBody>
      </p:sp>
      <p:sp>
        <p:nvSpPr>
          <p:cNvPr id="26" name="Shape 24"/>
          <p:cNvSpPr/>
          <p:nvPr/>
        </p:nvSpPr>
        <p:spPr>
          <a:xfrm>
            <a:off x="0" y="4919472"/>
            <a:ext cx="9144000" cy="224028"/>
          </a:xfrm>
          <a:prstGeom prst="rect">
            <a:avLst/>
          </a:prstGeom>
          <a:solidFill>
            <a:srgbClr val="2E2458"/>
          </a:solidFill>
          <a:ln w="12700">
            <a:solidFill>
              <a:srgbClr val="2E2458"/>
            </a:solidFill>
            <a:prstDash val="solid"/>
          </a:ln>
        </p:spPr>
        <p:txBody>
          <a:bodyPr/>
          <a:lstStyle/>
          <a:p>
            <a:endParaRPr lang="en-US"/>
          </a:p>
        </p:txBody>
      </p:sp>
      <p:sp>
        <p:nvSpPr>
          <p:cNvPr id="27" name="Text 25"/>
          <p:cNvSpPr/>
          <p:nvPr/>
        </p:nvSpPr>
        <p:spPr>
          <a:xfrm>
            <a:off x="274320" y="4928616"/>
            <a:ext cx="8595360" cy="201168"/>
          </a:xfrm>
          <a:prstGeom prst="rect">
            <a:avLst/>
          </a:prstGeom>
          <a:noFill/>
          <a:ln/>
        </p:spPr>
        <p:txBody>
          <a:bodyPr wrap="square" lIns="0" tIns="0" rIns="0" bIns="0" rtlCol="0" anchor="ctr"/>
          <a:lstStyle/>
          <a:p>
            <a:pPr marL="0" indent="0">
              <a:buNone/>
            </a:pPr>
            <a:r>
              <a:rPr lang="en-US" sz="900" dirty="0">
                <a:solidFill>
                  <a:srgbClr val="4A7A82"/>
                </a:solidFill>
                <a:latin typeface="Calibri" pitchFamily="34" charset="0"/>
                <a:ea typeface="Calibri" pitchFamily="34" charset="-122"/>
                <a:cs typeface="Calibri" pitchFamily="34" charset="-120"/>
              </a:rPr>
              <a:t>Blockstruct GmbH  ·  AI Demystified Workshop  ·  UniCredit  ·  April 2026</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FF4E0"/>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600" b="1" dirty="0">
                <a:solidFill>
                  <a:srgbClr val="211B41"/>
                </a:solidFill>
                <a:latin typeface="Georgia" pitchFamily="34" charset="0"/>
                <a:ea typeface="Georgia" pitchFamily="34" charset="-122"/>
                <a:cs typeface="Georgia" pitchFamily="34" charset="-120"/>
              </a:rPr>
              <a:t>AI Factory Austria — AI:AT Hub</a:t>
            </a:r>
            <a:endParaRPr lang="en-US" sz="2600" dirty="0"/>
          </a:p>
        </p:txBody>
      </p:sp>
      <p:sp>
        <p:nvSpPr>
          <p:cNvPr id="3" name="Shape 1"/>
          <p:cNvSpPr/>
          <p:nvPr/>
        </p:nvSpPr>
        <p:spPr>
          <a:xfrm>
            <a:off x="457200" y="822960"/>
            <a:ext cx="8229600" cy="27432"/>
          </a:xfrm>
          <a:prstGeom prst="rect">
            <a:avLst/>
          </a:prstGeom>
          <a:solidFill>
            <a:srgbClr val="BBCE8E"/>
          </a:solidFill>
          <a:ln w="12700">
            <a:solidFill>
              <a:srgbClr val="BBCE8E"/>
            </a:solidFill>
            <a:prstDash val="solid"/>
          </a:ln>
        </p:spPr>
        <p:txBody>
          <a:bodyPr/>
          <a:lstStyle/>
          <a:p>
            <a:endParaRPr lang="en-US"/>
          </a:p>
        </p:txBody>
      </p:sp>
      <p:sp>
        <p:nvSpPr>
          <p:cNvPr id="4" name="Shape 2"/>
          <p:cNvSpPr/>
          <p:nvPr/>
        </p:nvSpPr>
        <p:spPr>
          <a:xfrm>
            <a:off x="0" y="4919472"/>
            <a:ext cx="9144000" cy="224028"/>
          </a:xfrm>
          <a:prstGeom prst="rect">
            <a:avLst/>
          </a:prstGeom>
          <a:solidFill>
            <a:srgbClr val="BBCE8E"/>
          </a:solidFill>
          <a:ln w="12700">
            <a:solidFill>
              <a:srgbClr val="BBCE8E"/>
            </a:solidFill>
            <a:prstDash val="solid"/>
          </a:ln>
        </p:spPr>
        <p:txBody>
          <a:bodyPr/>
          <a:lstStyle/>
          <a:p>
            <a:endParaRPr lang="en-US"/>
          </a:p>
        </p:txBody>
      </p:sp>
      <p:sp>
        <p:nvSpPr>
          <p:cNvPr id="5" name="Text 3"/>
          <p:cNvSpPr/>
          <p:nvPr/>
        </p:nvSpPr>
        <p:spPr>
          <a:xfrm>
            <a:off x="274320" y="4928616"/>
            <a:ext cx="8595360" cy="201168"/>
          </a:xfrm>
          <a:prstGeom prst="rect">
            <a:avLst/>
          </a:prstGeom>
          <a:noFill/>
          <a:ln/>
        </p:spPr>
        <p:txBody>
          <a:bodyPr wrap="square" lIns="0" tIns="0" rIns="0" bIns="0" rtlCol="0" anchor="ctr"/>
          <a:lstStyle/>
          <a:p>
            <a:pPr marL="0" indent="0">
              <a:buNone/>
            </a:pPr>
            <a:r>
              <a:rPr lang="en-US" sz="900" dirty="0">
                <a:solidFill>
                  <a:srgbClr val="4A7A82"/>
                </a:solidFill>
                <a:latin typeface="Calibri" pitchFamily="34" charset="0"/>
                <a:ea typeface="Calibri" pitchFamily="34" charset="-122"/>
                <a:cs typeface="Calibri" pitchFamily="34" charset="-120"/>
              </a:rPr>
              <a:t>Blockstruct GmbH  ·  AI Demystified Workshop  ·  UniCredit  ·  April 2026</a:t>
            </a:r>
            <a:endParaRPr lang="en-US" sz="900" dirty="0"/>
          </a:p>
        </p:txBody>
      </p:sp>
      <p:sp>
        <p:nvSpPr>
          <p:cNvPr id="6" name="Shape 4"/>
          <p:cNvSpPr/>
          <p:nvPr/>
        </p:nvSpPr>
        <p:spPr>
          <a:xfrm>
            <a:off x="457200" y="987552"/>
            <a:ext cx="4846320" cy="3749040"/>
          </a:xfrm>
          <a:prstGeom prst="rect">
            <a:avLst/>
          </a:prstGeom>
          <a:solidFill>
            <a:srgbClr val="211B41"/>
          </a:solidFill>
          <a:ln w="12700">
            <a:solidFill>
              <a:srgbClr val="211B41"/>
            </a:solidFill>
            <a:prstDash val="solid"/>
          </a:ln>
          <a:effectLst>
            <a:outerShdw blurRad="127000" dist="38100" dir="8100000" algn="bl" rotWithShape="0">
              <a:srgbClr val="000000">
                <a:alpha val="13000"/>
              </a:srgbClr>
            </a:outerShdw>
          </a:effectLst>
        </p:spPr>
        <p:txBody>
          <a:bodyPr/>
          <a:lstStyle/>
          <a:p>
            <a:endParaRPr lang="en-US"/>
          </a:p>
        </p:txBody>
      </p:sp>
      <p:sp>
        <p:nvSpPr>
          <p:cNvPr id="7" name="Text 5"/>
          <p:cNvSpPr/>
          <p:nvPr/>
        </p:nvSpPr>
        <p:spPr>
          <a:xfrm>
            <a:off x="594360" y="1060704"/>
            <a:ext cx="4572000" cy="292608"/>
          </a:xfrm>
          <a:prstGeom prst="rect">
            <a:avLst/>
          </a:prstGeom>
          <a:noFill/>
          <a:ln/>
        </p:spPr>
        <p:txBody>
          <a:bodyPr wrap="square" lIns="0" tIns="0" rIns="0" bIns="0" rtlCol="0" anchor="ctr"/>
          <a:lstStyle/>
          <a:p>
            <a:pPr marL="0" indent="0">
              <a:buNone/>
            </a:pPr>
            <a:r>
              <a:rPr lang="en-US" sz="1000" b="1" kern="0" spc="400" dirty="0">
                <a:solidFill>
                  <a:srgbClr val="F0B20D"/>
                </a:solidFill>
                <a:latin typeface="Calibri" pitchFamily="34" charset="0"/>
                <a:ea typeface="Calibri" pitchFamily="34" charset="-122"/>
                <a:cs typeface="Calibri" pitchFamily="34" charset="-120"/>
              </a:rPr>
              <a:t>WHAT IS AI:AT?</a:t>
            </a:r>
            <a:endParaRPr lang="en-US" sz="1000" dirty="0"/>
          </a:p>
        </p:txBody>
      </p:sp>
      <p:sp>
        <p:nvSpPr>
          <p:cNvPr id="8" name="Text 6"/>
          <p:cNvSpPr/>
          <p:nvPr/>
        </p:nvSpPr>
        <p:spPr>
          <a:xfrm>
            <a:off x="594360" y="1389888"/>
            <a:ext cx="4617720" cy="77724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Part of the European AI Factories initiative, funded by the European High Performance Computing Joint Undertaking (EuroHPC JU) — a €1.5B+ pan-European commitment to AI infrastructure.</a:t>
            </a:r>
            <a:endParaRPr lang="en-US" sz="1200" dirty="0"/>
          </a:p>
        </p:txBody>
      </p:sp>
      <p:sp>
        <p:nvSpPr>
          <p:cNvPr id="9" name="Text 7"/>
          <p:cNvSpPr/>
          <p:nvPr/>
        </p:nvSpPr>
        <p:spPr>
          <a:xfrm>
            <a:off x="594360" y="2212848"/>
            <a:ext cx="4572000" cy="292608"/>
          </a:xfrm>
          <a:prstGeom prst="rect">
            <a:avLst/>
          </a:prstGeom>
          <a:noFill/>
          <a:ln/>
        </p:spPr>
        <p:txBody>
          <a:bodyPr wrap="square" lIns="0" tIns="0" rIns="0" bIns="0" rtlCol="0" anchor="ctr"/>
          <a:lstStyle/>
          <a:p>
            <a:pPr marL="0" indent="0">
              <a:buNone/>
            </a:pPr>
            <a:r>
              <a:rPr lang="en-US" sz="1150" b="1" dirty="0">
                <a:solidFill>
                  <a:srgbClr val="8F96FF"/>
                </a:solidFill>
                <a:latin typeface="Calibri" pitchFamily="34" charset="0"/>
                <a:ea typeface="Calibri" pitchFamily="34" charset="-122"/>
                <a:cs typeface="Calibri" pitchFamily="34" charset="-120"/>
              </a:rPr>
              <a:t>Led jointly by:</a:t>
            </a:r>
            <a:endParaRPr lang="en-US" sz="1150" dirty="0"/>
          </a:p>
        </p:txBody>
      </p:sp>
      <p:sp>
        <p:nvSpPr>
          <p:cNvPr id="10" name="Text 8"/>
          <p:cNvSpPr/>
          <p:nvPr/>
        </p:nvSpPr>
        <p:spPr>
          <a:xfrm>
            <a:off x="594360" y="2523744"/>
            <a:ext cx="4617720" cy="329184"/>
          </a:xfrm>
          <a:prstGeom prst="rect">
            <a:avLst/>
          </a:prstGeom>
          <a:noFill/>
          <a:ln/>
        </p:spPr>
        <p:txBody>
          <a:bodyPr wrap="square" lIns="0" tIns="0" rIns="0" bIns="0" rtlCol="0" anchor="ctr"/>
          <a:lstStyle/>
          <a:p>
            <a:pPr marL="342900" indent="-342900">
              <a:buSzPct val="100000"/>
              <a:buChar char="•"/>
            </a:pPr>
            <a:r>
              <a:rPr lang="en-US" sz="1150" dirty="0">
                <a:solidFill>
                  <a:srgbClr val="FFFFFF"/>
                </a:solidFill>
                <a:latin typeface="Calibri" pitchFamily="34" charset="0"/>
                <a:ea typeface="Calibri" pitchFamily="34" charset="-122"/>
                <a:cs typeface="Calibri" pitchFamily="34" charset="-120"/>
              </a:rPr>
              <a:t>AIT — Austrian Institute of Technology</a:t>
            </a:r>
            <a:endParaRPr lang="en-US" sz="1150" dirty="0"/>
          </a:p>
        </p:txBody>
      </p:sp>
      <p:sp>
        <p:nvSpPr>
          <p:cNvPr id="11" name="Text 9"/>
          <p:cNvSpPr/>
          <p:nvPr/>
        </p:nvSpPr>
        <p:spPr>
          <a:xfrm>
            <a:off x="594360" y="2871216"/>
            <a:ext cx="4617720" cy="329184"/>
          </a:xfrm>
          <a:prstGeom prst="rect">
            <a:avLst/>
          </a:prstGeom>
          <a:noFill/>
          <a:ln/>
        </p:spPr>
        <p:txBody>
          <a:bodyPr wrap="square" lIns="0" tIns="0" rIns="0" bIns="0" rtlCol="0" anchor="ctr"/>
          <a:lstStyle/>
          <a:p>
            <a:pPr marL="342900" indent="-342900">
              <a:buSzPct val="100000"/>
              <a:buChar char="•"/>
            </a:pPr>
            <a:r>
              <a:rPr lang="en-US" sz="1150" dirty="0">
                <a:solidFill>
                  <a:srgbClr val="FFFFFF"/>
                </a:solidFill>
                <a:latin typeface="Calibri" pitchFamily="34" charset="0"/>
                <a:ea typeface="Calibri" pitchFamily="34" charset="-122"/>
                <a:cs typeface="Calibri" pitchFamily="34" charset="-120"/>
              </a:rPr>
              <a:t>ACA — Advanced Computing Austria</a:t>
            </a:r>
            <a:endParaRPr lang="en-US" sz="1150" dirty="0"/>
          </a:p>
        </p:txBody>
      </p:sp>
      <p:sp>
        <p:nvSpPr>
          <p:cNvPr id="12" name="Text 10"/>
          <p:cNvSpPr/>
          <p:nvPr/>
        </p:nvSpPr>
        <p:spPr>
          <a:xfrm>
            <a:off x="594360" y="3255264"/>
            <a:ext cx="4572000" cy="292608"/>
          </a:xfrm>
          <a:prstGeom prst="rect">
            <a:avLst/>
          </a:prstGeom>
          <a:noFill/>
          <a:ln/>
        </p:spPr>
        <p:txBody>
          <a:bodyPr wrap="square" lIns="0" tIns="0" rIns="0" bIns="0" rtlCol="0" anchor="ctr"/>
          <a:lstStyle/>
          <a:p>
            <a:pPr marL="0" indent="0">
              <a:buNone/>
            </a:pPr>
            <a:r>
              <a:rPr lang="en-US" sz="1150" b="1" dirty="0">
                <a:solidFill>
                  <a:srgbClr val="8F96FF"/>
                </a:solidFill>
                <a:latin typeface="Calibri" pitchFamily="34" charset="0"/>
                <a:ea typeface="Calibri" pitchFamily="34" charset="-122"/>
                <a:cs typeface="Calibri" pitchFamily="34" charset="-120"/>
              </a:rPr>
              <a:t>Academic partners:</a:t>
            </a:r>
            <a:endParaRPr lang="en-US" sz="1150" dirty="0"/>
          </a:p>
        </p:txBody>
      </p:sp>
      <p:sp>
        <p:nvSpPr>
          <p:cNvPr id="13" name="Text 11"/>
          <p:cNvSpPr/>
          <p:nvPr/>
        </p:nvSpPr>
        <p:spPr>
          <a:xfrm>
            <a:off x="594360" y="3566160"/>
            <a:ext cx="4617720" cy="6858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TU Wien · University of Vienna · BOKU University · TU Graz · JKU Linz · ISTA · Austrian Academy of Sciences · INiTS Vienna High-Tech Incubator</a:t>
            </a:r>
            <a:endParaRPr lang="en-US" sz="1100" dirty="0"/>
          </a:p>
        </p:txBody>
      </p:sp>
      <p:sp>
        <p:nvSpPr>
          <p:cNvPr id="14" name="Text 12"/>
          <p:cNvSpPr/>
          <p:nvPr/>
        </p:nvSpPr>
        <p:spPr>
          <a:xfrm>
            <a:off x="594360" y="4315968"/>
            <a:ext cx="4617720" cy="320040"/>
          </a:xfrm>
          <a:prstGeom prst="rect">
            <a:avLst/>
          </a:prstGeom>
          <a:noFill/>
          <a:ln/>
        </p:spPr>
        <p:txBody>
          <a:bodyPr wrap="square" lIns="0" tIns="0" rIns="0" bIns="0" rtlCol="0" anchor="ctr"/>
          <a:lstStyle/>
          <a:p>
            <a:pPr marL="0" indent="0">
              <a:buNone/>
            </a:pPr>
            <a:r>
              <a:rPr lang="en-US" sz="1200" b="1" i="1" dirty="0">
                <a:solidFill>
                  <a:srgbClr val="F0B20D"/>
                </a:solidFill>
                <a:latin typeface="Calibri" pitchFamily="34" charset="0"/>
                <a:ea typeface="Calibri" pitchFamily="34" charset="-122"/>
                <a:cs typeface="Calibri" pitchFamily="34" charset="-120"/>
              </a:rPr>
              <a:t>www.ai-at.eu</a:t>
            </a:r>
            <a:endParaRPr lang="en-US" sz="1200" dirty="0"/>
          </a:p>
        </p:txBody>
      </p:sp>
      <p:sp>
        <p:nvSpPr>
          <p:cNvPr id="15" name="Shape 13"/>
          <p:cNvSpPr/>
          <p:nvPr/>
        </p:nvSpPr>
        <p:spPr>
          <a:xfrm>
            <a:off x="5532120" y="1005840"/>
            <a:ext cx="1600200" cy="914400"/>
          </a:xfrm>
          <a:prstGeom prst="rect">
            <a:avLst/>
          </a:prstGeom>
          <a:solidFill>
            <a:srgbClr val="626EFF"/>
          </a:solidFill>
          <a:ln w="12700">
            <a:solidFill>
              <a:srgbClr val="626EFF"/>
            </a:solidFill>
            <a:prstDash val="solid"/>
          </a:ln>
          <a:effectLst>
            <a:outerShdw blurRad="63500" dist="25400" dir="8100000" algn="bl" rotWithShape="0">
              <a:srgbClr val="000000">
                <a:alpha val="8000"/>
              </a:srgbClr>
            </a:outerShdw>
          </a:effectLst>
        </p:spPr>
        <p:txBody>
          <a:bodyPr/>
          <a:lstStyle/>
          <a:p>
            <a:endParaRPr lang="en-US"/>
          </a:p>
        </p:txBody>
      </p:sp>
      <p:sp>
        <p:nvSpPr>
          <p:cNvPr id="16" name="Text 14"/>
          <p:cNvSpPr/>
          <p:nvPr/>
        </p:nvSpPr>
        <p:spPr>
          <a:xfrm>
            <a:off x="5532120" y="1033272"/>
            <a:ext cx="1600200" cy="530352"/>
          </a:xfrm>
          <a:prstGeom prst="rect">
            <a:avLst/>
          </a:prstGeom>
          <a:noFill/>
          <a:ln/>
        </p:spPr>
        <p:txBody>
          <a:bodyPr wrap="square" lIns="0" tIns="0" rIns="0" bIns="0" rtlCol="0" anchor="ctr"/>
          <a:lstStyle/>
          <a:p>
            <a:pPr marL="0" indent="0" algn="ctr">
              <a:buNone/>
            </a:pPr>
            <a:r>
              <a:rPr lang="en-US" sz="3000" b="1" dirty="0">
                <a:solidFill>
                  <a:srgbClr val="FFFFFF"/>
                </a:solidFill>
                <a:latin typeface="Georgia" pitchFamily="34" charset="0"/>
                <a:ea typeface="Georgia" pitchFamily="34" charset="-122"/>
                <a:cs typeface="Georgia" pitchFamily="34" charset="-120"/>
              </a:rPr>
              <a:t>67</a:t>
            </a:r>
            <a:endParaRPr lang="en-US" sz="3000" dirty="0"/>
          </a:p>
        </p:txBody>
      </p:sp>
      <p:sp>
        <p:nvSpPr>
          <p:cNvPr id="17" name="Text 15"/>
          <p:cNvSpPr/>
          <p:nvPr/>
        </p:nvSpPr>
        <p:spPr>
          <a:xfrm>
            <a:off x="5532120" y="1554480"/>
            <a:ext cx="1600200" cy="292608"/>
          </a:xfrm>
          <a:prstGeom prst="rect">
            <a:avLst/>
          </a:prstGeom>
          <a:noFill/>
          <a:ln/>
        </p:spPr>
        <p:txBody>
          <a:bodyPr wrap="square" lIns="0" tIns="0" rIns="0" bIns="0" rtlCol="0" anchor="ctr"/>
          <a:lstStyle/>
          <a:p>
            <a:pPr marL="0" indent="0" algn="ctr">
              <a:buNone/>
            </a:pPr>
            <a:r>
              <a:rPr lang="en-US" sz="1100" dirty="0">
                <a:solidFill>
                  <a:srgbClr val="F8CE5A"/>
                </a:solidFill>
                <a:latin typeface="Calibri" pitchFamily="34" charset="0"/>
                <a:ea typeface="Calibri" pitchFamily="34" charset="-122"/>
                <a:cs typeface="Calibri" pitchFamily="34" charset="-120"/>
              </a:rPr>
              <a:t>Members</a:t>
            </a:r>
            <a:endParaRPr lang="en-US" sz="1100" dirty="0"/>
          </a:p>
        </p:txBody>
      </p:sp>
      <p:sp>
        <p:nvSpPr>
          <p:cNvPr id="18" name="Shape 16"/>
          <p:cNvSpPr/>
          <p:nvPr/>
        </p:nvSpPr>
        <p:spPr>
          <a:xfrm>
            <a:off x="7269480" y="1005840"/>
            <a:ext cx="1600200" cy="914400"/>
          </a:xfrm>
          <a:prstGeom prst="rect">
            <a:avLst/>
          </a:prstGeom>
          <a:solidFill>
            <a:srgbClr val="626EFF"/>
          </a:solidFill>
          <a:ln w="12700">
            <a:solidFill>
              <a:srgbClr val="626EFF"/>
            </a:solidFill>
            <a:prstDash val="solid"/>
          </a:ln>
          <a:effectLst>
            <a:outerShdw blurRad="63500" dist="25400" dir="8100000" algn="bl" rotWithShape="0">
              <a:srgbClr val="000000">
                <a:alpha val="8000"/>
              </a:srgbClr>
            </a:outerShdw>
          </a:effectLst>
        </p:spPr>
        <p:txBody>
          <a:bodyPr/>
          <a:lstStyle/>
          <a:p>
            <a:endParaRPr lang="en-US"/>
          </a:p>
        </p:txBody>
      </p:sp>
      <p:sp>
        <p:nvSpPr>
          <p:cNvPr id="19" name="Text 17"/>
          <p:cNvSpPr/>
          <p:nvPr/>
        </p:nvSpPr>
        <p:spPr>
          <a:xfrm>
            <a:off x="7269480" y="1033272"/>
            <a:ext cx="1600200" cy="530352"/>
          </a:xfrm>
          <a:prstGeom prst="rect">
            <a:avLst/>
          </a:prstGeom>
          <a:noFill/>
          <a:ln/>
        </p:spPr>
        <p:txBody>
          <a:bodyPr wrap="square" lIns="0" tIns="0" rIns="0" bIns="0" rtlCol="0" anchor="ctr"/>
          <a:lstStyle/>
          <a:p>
            <a:pPr marL="0" indent="0" algn="ctr">
              <a:buNone/>
            </a:pPr>
            <a:r>
              <a:rPr lang="en-US" sz="3000" b="1" dirty="0">
                <a:solidFill>
                  <a:srgbClr val="FFFFFF"/>
                </a:solidFill>
                <a:latin typeface="Georgia" pitchFamily="34" charset="0"/>
                <a:ea typeface="Georgia" pitchFamily="34" charset="-122"/>
                <a:cs typeface="Georgia" pitchFamily="34" charset="-120"/>
              </a:rPr>
              <a:t>28</a:t>
            </a:r>
            <a:endParaRPr lang="en-US" sz="3000" dirty="0"/>
          </a:p>
        </p:txBody>
      </p:sp>
      <p:sp>
        <p:nvSpPr>
          <p:cNvPr id="20" name="Text 18"/>
          <p:cNvSpPr/>
          <p:nvPr/>
        </p:nvSpPr>
        <p:spPr>
          <a:xfrm>
            <a:off x="7269480" y="1554480"/>
            <a:ext cx="1600200" cy="292608"/>
          </a:xfrm>
          <a:prstGeom prst="rect">
            <a:avLst/>
          </a:prstGeom>
          <a:noFill/>
          <a:ln/>
        </p:spPr>
        <p:txBody>
          <a:bodyPr wrap="square" lIns="0" tIns="0" rIns="0" bIns="0" rtlCol="0" anchor="ctr"/>
          <a:lstStyle/>
          <a:p>
            <a:pPr marL="0" indent="0" algn="ctr">
              <a:buNone/>
            </a:pPr>
            <a:r>
              <a:rPr lang="en-US" sz="1100" dirty="0">
                <a:solidFill>
                  <a:srgbClr val="F8CE5A"/>
                </a:solidFill>
                <a:latin typeface="Calibri" pitchFamily="34" charset="0"/>
                <a:ea typeface="Calibri" pitchFamily="34" charset="-122"/>
                <a:cs typeface="Calibri" pitchFamily="34" charset="-120"/>
              </a:rPr>
              <a:t>Companies</a:t>
            </a:r>
            <a:endParaRPr lang="en-US" sz="1100" dirty="0"/>
          </a:p>
        </p:txBody>
      </p:sp>
      <p:sp>
        <p:nvSpPr>
          <p:cNvPr id="21" name="Shape 19"/>
          <p:cNvSpPr/>
          <p:nvPr/>
        </p:nvSpPr>
        <p:spPr>
          <a:xfrm>
            <a:off x="5532120" y="2057400"/>
            <a:ext cx="1600200" cy="914400"/>
          </a:xfrm>
          <a:prstGeom prst="rect">
            <a:avLst/>
          </a:prstGeom>
          <a:solidFill>
            <a:srgbClr val="626EFF"/>
          </a:solidFill>
          <a:ln w="12700">
            <a:solidFill>
              <a:srgbClr val="626EFF"/>
            </a:solidFill>
            <a:prstDash val="solid"/>
          </a:ln>
          <a:effectLst>
            <a:outerShdw blurRad="63500" dist="25400" dir="8100000" algn="bl" rotWithShape="0">
              <a:srgbClr val="000000">
                <a:alpha val="8000"/>
              </a:srgbClr>
            </a:outerShdw>
          </a:effectLst>
        </p:spPr>
        <p:txBody>
          <a:bodyPr/>
          <a:lstStyle/>
          <a:p>
            <a:endParaRPr lang="en-US"/>
          </a:p>
        </p:txBody>
      </p:sp>
      <p:sp>
        <p:nvSpPr>
          <p:cNvPr id="22" name="Text 20"/>
          <p:cNvSpPr/>
          <p:nvPr/>
        </p:nvSpPr>
        <p:spPr>
          <a:xfrm>
            <a:off x="5532120" y="2084832"/>
            <a:ext cx="1600200" cy="530352"/>
          </a:xfrm>
          <a:prstGeom prst="rect">
            <a:avLst/>
          </a:prstGeom>
          <a:noFill/>
          <a:ln/>
        </p:spPr>
        <p:txBody>
          <a:bodyPr wrap="square" lIns="0" tIns="0" rIns="0" bIns="0" rtlCol="0" anchor="ctr"/>
          <a:lstStyle/>
          <a:p>
            <a:pPr marL="0" indent="0" algn="ctr">
              <a:buNone/>
            </a:pPr>
            <a:r>
              <a:rPr lang="en-US" sz="3000" b="1" dirty="0">
                <a:solidFill>
                  <a:srgbClr val="FFFFFF"/>
                </a:solidFill>
                <a:latin typeface="Georgia" pitchFamily="34" charset="0"/>
                <a:ea typeface="Georgia" pitchFamily="34" charset="-122"/>
                <a:cs typeface="Georgia" pitchFamily="34" charset="-120"/>
              </a:rPr>
              <a:t>5</a:t>
            </a:r>
            <a:endParaRPr lang="en-US" sz="3000" dirty="0"/>
          </a:p>
        </p:txBody>
      </p:sp>
      <p:sp>
        <p:nvSpPr>
          <p:cNvPr id="23" name="Text 21"/>
          <p:cNvSpPr/>
          <p:nvPr/>
        </p:nvSpPr>
        <p:spPr>
          <a:xfrm>
            <a:off x="5532120" y="2606040"/>
            <a:ext cx="1600200" cy="292608"/>
          </a:xfrm>
          <a:prstGeom prst="rect">
            <a:avLst/>
          </a:prstGeom>
          <a:noFill/>
          <a:ln/>
        </p:spPr>
        <p:txBody>
          <a:bodyPr wrap="square" lIns="0" tIns="0" rIns="0" bIns="0" rtlCol="0" anchor="ctr"/>
          <a:lstStyle/>
          <a:p>
            <a:pPr marL="0" indent="0" algn="ctr">
              <a:buNone/>
            </a:pPr>
            <a:r>
              <a:rPr lang="en-US" sz="1100" dirty="0">
                <a:solidFill>
                  <a:srgbClr val="F8CE5A"/>
                </a:solidFill>
                <a:latin typeface="Calibri" pitchFamily="34" charset="0"/>
                <a:ea typeface="Calibri" pitchFamily="34" charset="-122"/>
                <a:cs typeface="Calibri" pitchFamily="34" charset="-120"/>
              </a:rPr>
              <a:t>Sectors</a:t>
            </a:r>
            <a:endParaRPr lang="en-US" sz="1100" dirty="0"/>
          </a:p>
        </p:txBody>
      </p:sp>
      <p:sp>
        <p:nvSpPr>
          <p:cNvPr id="24" name="Shape 22"/>
          <p:cNvSpPr/>
          <p:nvPr/>
        </p:nvSpPr>
        <p:spPr>
          <a:xfrm>
            <a:off x="7269480" y="2057400"/>
            <a:ext cx="1600200" cy="914400"/>
          </a:xfrm>
          <a:prstGeom prst="rect">
            <a:avLst/>
          </a:prstGeom>
          <a:solidFill>
            <a:srgbClr val="626EFF"/>
          </a:solidFill>
          <a:ln w="12700">
            <a:solidFill>
              <a:srgbClr val="626EFF"/>
            </a:solidFill>
            <a:prstDash val="solid"/>
          </a:ln>
          <a:effectLst>
            <a:outerShdw blurRad="63500" dist="25400" dir="8100000" algn="bl" rotWithShape="0">
              <a:srgbClr val="000000">
                <a:alpha val="8000"/>
              </a:srgbClr>
            </a:outerShdw>
          </a:effectLst>
        </p:spPr>
        <p:txBody>
          <a:bodyPr/>
          <a:lstStyle/>
          <a:p>
            <a:endParaRPr lang="en-US"/>
          </a:p>
        </p:txBody>
      </p:sp>
      <p:sp>
        <p:nvSpPr>
          <p:cNvPr id="25" name="Text 23"/>
          <p:cNvSpPr/>
          <p:nvPr/>
        </p:nvSpPr>
        <p:spPr>
          <a:xfrm>
            <a:off x="7269480" y="2084832"/>
            <a:ext cx="1600200" cy="530352"/>
          </a:xfrm>
          <a:prstGeom prst="rect">
            <a:avLst/>
          </a:prstGeom>
          <a:noFill/>
          <a:ln/>
        </p:spPr>
        <p:txBody>
          <a:bodyPr wrap="square" lIns="0" tIns="0" rIns="0" bIns="0" rtlCol="0" anchor="ctr"/>
          <a:lstStyle/>
          <a:p>
            <a:pPr marL="0" indent="0" algn="ctr">
              <a:buNone/>
            </a:pPr>
            <a:r>
              <a:rPr lang="en-US" sz="3000" b="1" dirty="0">
                <a:solidFill>
                  <a:srgbClr val="FFFFFF"/>
                </a:solidFill>
                <a:latin typeface="Georgia" pitchFamily="34" charset="0"/>
                <a:ea typeface="Georgia" pitchFamily="34" charset="-122"/>
                <a:cs typeface="Georgia" pitchFamily="34" charset="-120"/>
              </a:rPr>
              <a:t>€1.5B+</a:t>
            </a:r>
            <a:endParaRPr lang="en-US" sz="3000" dirty="0"/>
          </a:p>
        </p:txBody>
      </p:sp>
      <p:sp>
        <p:nvSpPr>
          <p:cNvPr id="26" name="Text 24"/>
          <p:cNvSpPr/>
          <p:nvPr/>
        </p:nvSpPr>
        <p:spPr>
          <a:xfrm>
            <a:off x="7269480" y="2606040"/>
            <a:ext cx="1600200" cy="292608"/>
          </a:xfrm>
          <a:prstGeom prst="rect">
            <a:avLst/>
          </a:prstGeom>
          <a:noFill/>
          <a:ln/>
        </p:spPr>
        <p:txBody>
          <a:bodyPr wrap="square" lIns="0" tIns="0" rIns="0" bIns="0" rtlCol="0" anchor="ctr"/>
          <a:lstStyle/>
          <a:p>
            <a:pPr marL="0" indent="0" algn="ctr">
              <a:buNone/>
            </a:pPr>
            <a:r>
              <a:rPr lang="en-US" sz="1100" dirty="0">
                <a:solidFill>
                  <a:srgbClr val="F8CE5A"/>
                </a:solidFill>
                <a:latin typeface="Calibri" pitchFamily="34" charset="0"/>
                <a:ea typeface="Calibri" pitchFamily="34" charset="-122"/>
                <a:cs typeface="Calibri" pitchFamily="34" charset="-120"/>
              </a:rPr>
              <a:t>EU commitment</a:t>
            </a:r>
            <a:endParaRPr lang="en-US" sz="1100" dirty="0"/>
          </a:p>
        </p:txBody>
      </p:sp>
      <p:sp>
        <p:nvSpPr>
          <p:cNvPr id="27" name="Shape 25"/>
          <p:cNvSpPr/>
          <p:nvPr/>
        </p:nvSpPr>
        <p:spPr>
          <a:xfrm>
            <a:off x="5532120" y="3127248"/>
            <a:ext cx="3337560" cy="1627632"/>
          </a:xfrm>
          <a:prstGeom prst="rect">
            <a:avLst/>
          </a:prstGeom>
          <a:solidFill>
            <a:srgbClr val="2E2458"/>
          </a:solidFill>
          <a:ln w="12700">
            <a:solidFill>
              <a:srgbClr val="626EFF"/>
            </a:solidFill>
            <a:prstDash val="solid"/>
          </a:ln>
          <a:effectLst>
            <a:outerShdw blurRad="63500" dist="25400" dir="8100000" algn="bl" rotWithShape="0">
              <a:srgbClr val="000000">
                <a:alpha val="8000"/>
              </a:srgbClr>
            </a:outerShdw>
          </a:effectLst>
        </p:spPr>
        <p:txBody>
          <a:bodyPr/>
          <a:lstStyle/>
          <a:p>
            <a:endParaRPr lang="en-US"/>
          </a:p>
        </p:txBody>
      </p:sp>
      <p:sp>
        <p:nvSpPr>
          <p:cNvPr id="28" name="Shape 26"/>
          <p:cNvSpPr/>
          <p:nvPr/>
        </p:nvSpPr>
        <p:spPr>
          <a:xfrm>
            <a:off x="5532120" y="3127248"/>
            <a:ext cx="3337560" cy="73152"/>
          </a:xfrm>
          <a:prstGeom prst="rect">
            <a:avLst/>
          </a:prstGeom>
          <a:solidFill>
            <a:srgbClr val="F0B20D"/>
          </a:solidFill>
          <a:ln w="12700">
            <a:solidFill>
              <a:srgbClr val="F0B20D"/>
            </a:solidFill>
            <a:prstDash val="solid"/>
          </a:ln>
        </p:spPr>
        <p:txBody>
          <a:bodyPr/>
          <a:lstStyle/>
          <a:p>
            <a:endParaRPr lang="en-US"/>
          </a:p>
        </p:txBody>
      </p:sp>
      <p:sp>
        <p:nvSpPr>
          <p:cNvPr id="29" name="Text 27"/>
          <p:cNvSpPr/>
          <p:nvPr/>
        </p:nvSpPr>
        <p:spPr>
          <a:xfrm>
            <a:off x="5623560" y="3246120"/>
            <a:ext cx="3154680" cy="365760"/>
          </a:xfrm>
          <a:prstGeom prst="rect">
            <a:avLst/>
          </a:prstGeom>
          <a:noFill/>
          <a:ln/>
        </p:spPr>
        <p:txBody>
          <a:bodyPr wrap="square" lIns="0" tIns="0" rIns="0" bIns="0" rtlCol="0" anchor="ctr"/>
          <a:lstStyle/>
          <a:p>
            <a:pPr marL="0" indent="0">
              <a:buNone/>
            </a:pPr>
            <a:r>
              <a:rPr lang="en-US" sz="1300" b="1" dirty="0">
                <a:solidFill>
                  <a:srgbClr val="FFFFFF"/>
                </a:solidFill>
                <a:latin typeface="Georgia" pitchFamily="34" charset="0"/>
                <a:ea typeface="Georgia" pitchFamily="34" charset="-122"/>
                <a:cs typeface="Georgia" pitchFamily="34" charset="-120"/>
              </a:rPr>
              <a:t>Blockstruct at AI:AT</a:t>
            </a:r>
            <a:endParaRPr lang="en-US" sz="1300" dirty="0"/>
          </a:p>
        </p:txBody>
      </p:sp>
      <p:sp>
        <p:nvSpPr>
          <p:cNvPr id="30" name="Text 28"/>
          <p:cNvSpPr/>
          <p:nvPr/>
        </p:nvSpPr>
        <p:spPr>
          <a:xfrm>
            <a:off x="5623560" y="3639312"/>
            <a:ext cx="3154680" cy="1024128"/>
          </a:xfrm>
          <a:prstGeom prst="rect">
            <a:avLst/>
          </a:prstGeom>
          <a:noFill/>
          <a:ln/>
        </p:spPr>
        <p:txBody>
          <a:bodyPr wrap="square" lIns="0" tIns="0" rIns="0" bIns="0" rtlCol="0" anchor="ctr"/>
          <a:lstStyle/>
          <a:p>
            <a:pPr marL="0" indent="0">
              <a:buNone/>
            </a:pPr>
            <a:r>
              <a:rPr lang="en-US" sz="1100" dirty="0">
                <a:solidFill>
                  <a:srgbClr val="8F96FF"/>
                </a:solidFill>
                <a:latin typeface="Calibri" pitchFamily="34" charset="0"/>
                <a:ea typeface="Calibri" pitchFamily="34" charset="-122"/>
                <a:cs typeface="Calibri" pitchFamily="34" charset="-120"/>
              </a:rPr>
              <a:t>One of the hub's business members, working at the intersection of AI research and real-world enterprise deployment. The workshop you're attending today was developed within this ecosystem.</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1B41"/>
        </a:solidFill>
        <a:effectLst/>
      </p:bgPr>
    </p:bg>
    <p:spTree>
      <p:nvGrpSpPr>
        <p:cNvPr id="1" name=""/>
        <p:cNvGrpSpPr/>
        <p:nvPr/>
      </p:nvGrpSpPr>
      <p:grpSpPr>
        <a:xfrm>
          <a:off x="0" y="0"/>
          <a:ext cx="0" cy="0"/>
          <a:chOff x="0" y="0"/>
          <a:chExt cx="0" cy="0"/>
        </a:xfrm>
      </p:grpSpPr>
      <p:sp>
        <p:nvSpPr>
          <p:cNvPr id="2" name="Shape 0"/>
          <p:cNvSpPr/>
          <p:nvPr/>
        </p:nvSpPr>
        <p:spPr>
          <a:xfrm>
            <a:off x="0" y="0"/>
            <a:ext cx="9144000" cy="1325880"/>
          </a:xfrm>
          <a:prstGeom prst="rect">
            <a:avLst/>
          </a:prstGeom>
          <a:solidFill>
            <a:srgbClr val="626EFF"/>
          </a:solidFill>
          <a:ln w="12700">
            <a:solidFill>
              <a:srgbClr val="626EFF"/>
            </a:solidFill>
            <a:prstDash val="solid"/>
          </a:ln>
        </p:spPr>
        <p:txBody>
          <a:bodyPr/>
          <a:lstStyle/>
          <a:p>
            <a:endParaRPr lang="en-US"/>
          </a:p>
        </p:txBody>
      </p:sp>
      <p:sp>
        <p:nvSpPr>
          <p:cNvPr id="3" name="Text 1"/>
          <p:cNvSpPr/>
          <p:nvPr/>
        </p:nvSpPr>
        <p:spPr>
          <a:xfrm>
            <a:off x="457200" y="73152"/>
            <a:ext cx="8229600" cy="566928"/>
          </a:xfrm>
          <a:prstGeom prst="rect">
            <a:avLst/>
          </a:prstGeom>
          <a:noFill/>
          <a:ln/>
        </p:spPr>
        <p:txBody>
          <a:bodyPr wrap="square" rtlCol="0" anchor="ctr"/>
          <a:lstStyle/>
          <a:p>
            <a:pPr marL="0" indent="0">
              <a:buNone/>
            </a:pPr>
            <a:r>
              <a:rPr lang="en-US" sz="2400" b="1" i="1" dirty="0">
                <a:solidFill>
                  <a:srgbClr val="FFFFFF"/>
                </a:solidFill>
                <a:latin typeface="Georgia" pitchFamily="34" charset="0"/>
                <a:ea typeface="Georgia" pitchFamily="34" charset="-122"/>
                <a:cs typeface="Georgia" pitchFamily="34" charset="-120"/>
              </a:rPr>
              <a:t>Full disclosure: this slide deck was prepared by an AI.</a:t>
            </a:r>
            <a:endParaRPr lang="en-US" sz="2400" dirty="0"/>
          </a:p>
        </p:txBody>
      </p:sp>
      <p:sp>
        <p:nvSpPr>
          <p:cNvPr id="4" name="Text 2"/>
          <p:cNvSpPr/>
          <p:nvPr/>
        </p:nvSpPr>
        <p:spPr>
          <a:xfrm>
            <a:off x="457200" y="658368"/>
            <a:ext cx="8229600" cy="548640"/>
          </a:xfrm>
          <a:prstGeom prst="rect">
            <a:avLst/>
          </a:prstGeom>
          <a:noFill/>
          <a:ln/>
        </p:spPr>
        <p:txBody>
          <a:bodyPr wrap="square" rtlCol="0" anchor="ctr"/>
          <a:lstStyle/>
          <a:p>
            <a:pPr marL="0" indent="0">
              <a:buNone/>
            </a:pPr>
            <a:r>
              <a:rPr lang="en-US" sz="1400" i="1" dirty="0">
                <a:solidFill>
                  <a:srgbClr val="F8CE5A"/>
                </a:solidFill>
                <a:latin typeface="Calibri" pitchFamily="34" charset="0"/>
                <a:ea typeface="Calibri" pitchFamily="34" charset="-122"/>
                <a:cs typeface="Calibri" pitchFamily="34" charset="-120"/>
              </a:rPr>
              <a:t>With my guidance. I did not write a single bullet point. I wrote about exactly this moment in 2017. The only thing I got wrong was the tool name.</a:t>
            </a:r>
            <a:endParaRPr lang="en-US" sz="1400" dirty="0"/>
          </a:p>
        </p:txBody>
      </p:sp>
      <p:sp>
        <p:nvSpPr>
          <p:cNvPr id="5" name="Shape 3"/>
          <p:cNvSpPr/>
          <p:nvPr/>
        </p:nvSpPr>
        <p:spPr>
          <a:xfrm>
            <a:off x="457200" y="1463040"/>
            <a:ext cx="8229600" cy="1078992"/>
          </a:xfrm>
          <a:prstGeom prst="rect">
            <a:avLst/>
          </a:prstGeom>
          <a:solidFill>
            <a:srgbClr val="2E2458"/>
          </a:solidFill>
          <a:ln w="12700">
            <a:solidFill>
              <a:srgbClr val="2E2458"/>
            </a:solidFill>
            <a:prstDash val="solid"/>
          </a:ln>
          <a:effectLst>
            <a:outerShdw blurRad="63500" dist="25400" dir="8100000" algn="bl" rotWithShape="0">
              <a:srgbClr val="000000">
                <a:alpha val="8000"/>
              </a:srgbClr>
            </a:outerShdw>
          </a:effectLst>
        </p:spPr>
        <p:txBody>
          <a:bodyPr/>
          <a:lstStyle/>
          <a:p>
            <a:endParaRPr lang="en-US"/>
          </a:p>
        </p:txBody>
      </p:sp>
      <p:sp>
        <p:nvSpPr>
          <p:cNvPr id="6" name="Shape 4"/>
          <p:cNvSpPr/>
          <p:nvPr/>
        </p:nvSpPr>
        <p:spPr>
          <a:xfrm>
            <a:off x="457200" y="1463040"/>
            <a:ext cx="73152" cy="1078992"/>
          </a:xfrm>
          <a:prstGeom prst="rect">
            <a:avLst/>
          </a:prstGeom>
          <a:solidFill>
            <a:srgbClr val="8D0D21"/>
          </a:solidFill>
          <a:ln w="12700">
            <a:solidFill>
              <a:srgbClr val="8D0D21"/>
            </a:solidFill>
            <a:prstDash val="solid"/>
          </a:ln>
        </p:spPr>
        <p:txBody>
          <a:bodyPr/>
          <a:lstStyle/>
          <a:p>
            <a:endParaRPr lang="en-US"/>
          </a:p>
        </p:txBody>
      </p:sp>
      <p:sp>
        <p:nvSpPr>
          <p:cNvPr id="7" name="Shape 5"/>
          <p:cNvSpPr/>
          <p:nvPr/>
        </p:nvSpPr>
        <p:spPr>
          <a:xfrm>
            <a:off x="594360" y="1517904"/>
            <a:ext cx="1737360" cy="256032"/>
          </a:xfrm>
          <a:prstGeom prst="rect">
            <a:avLst/>
          </a:prstGeom>
          <a:solidFill>
            <a:srgbClr val="8D0D21"/>
          </a:solidFill>
          <a:ln w="12700">
            <a:solidFill>
              <a:srgbClr val="8D0D21"/>
            </a:solidFill>
            <a:prstDash val="solid"/>
          </a:ln>
        </p:spPr>
        <p:txBody>
          <a:bodyPr/>
          <a:lstStyle/>
          <a:p>
            <a:endParaRPr lang="en-US"/>
          </a:p>
        </p:txBody>
      </p:sp>
      <p:sp>
        <p:nvSpPr>
          <p:cNvPr id="8" name="Text 6"/>
          <p:cNvSpPr/>
          <p:nvPr/>
        </p:nvSpPr>
        <p:spPr>
          <a:xfrm>
            <a:off x="594360" y="1517904"/>
            <a:ext cx="173736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THE REALITY</a:t>
            </a:r>
            <a:endParaRPr lang="en-US" sz="900" dirty="0"/>
          </a:p>
        </p:txBody>
      </p:sp>
      <p:sp>
        <p:nvSpPr>
          <p:cNvPr id="9" name="Text 7"/>
          <p:cNvSpPr/>
          <p:nvPr/>
        </p:nvSpPr>
        <p:spPr>
          <a:xfrm>
            <a:off x="2468880" y="1499616"/>
            <a:ext cx="603504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This time, it's not our muscles — it's our brains</a:t>
            </a:r>
            <a:endParaRPr lang="en-US" sz="1300" dirty="0"/>
          </a:p>
        </p:txBody>
      </p:sp>
      <p:sp>
        <p:nvSpPr>
          <p:cNvPr id="10" name="Text 8"/>
          <p:cNvSpPr/>
          <p:nvPr/>
        </p:nvSpPr>
        <p:spPr>
          <a:xfrm>
            <a:off x="658368" y="1847088"/>
            <a:ext cx="7882128" cy="640080"/>
          </a:xfrm>
          <a:prstGeom prst="rect">
            <a:avLst/>
          </a:prstGeom>
          <a:noFill/>
          <a:ln/>
        </p:spPr>
        <p:txBody>
          <a:bodyPr wrap="square" lIns="0" tIns="0" rIns="0" bIns="0" rtlCol="0" anchor="ctr"/>
          <a:lstStyle/>
          <a:p>
            <a:pPr marL="0" indent="0">
              <a:buNone/>
            </a:pPr>
            <a:r>
              <a:rPr lang="en-US" sz="1100" dirty="0">
                <a:solidFill>
                  <a:srgbClr val="8F96FF"/>
                </a:solidFill>
                <a:latin typeface="Calibri" pitchFamily="34" charset="0"/>
                <a:ea typeface="Calibri" pitchFamily="34" charset="-122"/>
                <a:cs typeface="Calibri" pitchFamily="34" charset="-120"/>
              </a:rPr>
              <a:t>Previous revolutions replaced physical labour. This one replaces cognitive labour: the analysis, the summary, the classification, the first draft. The parts of your career you spent years optimising. The question is not whether this changes everything. It already has.</a:t>
            </a:r>
            <a:endParaRPr lang="en-US" sz="1100" dirty="0"/>
          </a:p>
        </p:txBody>
      </p:sp>
      <p:sp>
        <p:nvSpPr>
          <p:cNvPr id="11" name="Shape 9"/>
          <p:cNvSpPr/>
          <p:nvPr/>
        </p:nvSpPr>
        <p:spPr>
          <a:xfrm>
            <a:off x="457200" y="2633472"/>
            <a:ext cx="8229600" cy="1078992"/>
          </a:xfrm>
          <a:prstGeom prst="rect">
            <a:avLst/>
          </a:prstGeom>
          <a:solidFill>
            <a:srgbClr val="2E2458"/>
          </a:solidFill>
          <a:ln w="12700">
            <a:solidFill>
              <a:srgbClr val="2E2458"/>
            </a:solidFill>
            <a:prstDash val="solid"/>
          </a:ln>
          <a:effectLst>
            <a:outerShdw blurRad="63500" dist="25400" dir="8100000" algn="bl" rotWithShape="0">
              <a:srgbClr val="000000">
                <a:alpha val="8000"/>
              </a:srgbClr>
            </a:outerShdw>
          </a:effectLst>
        </p:spPr>
        <p:txBody>
          <a:bodyPr/>
          <a:lstStyle/>
          <a:p>
            <a:endParaRPr lang="en-US"/>
          </a:p>
        </p:txBody>
      </p:sp>
      <p:sp>
        <p:nvSpPr>
          <p:cNvPr id="12" name="Shape 10"/>
          <p:cNvSpPr/>
          <p:nvPr/>
        </p:nvSpPr>
        <p:spPr>
          <a:xfrm>
            <a:off x="457200" y="2633472"/>
            <a:ext cx="73152" cy="1078992"/>
          </a:xfrm>
          <a:prstGeom prst="rect">
            <a:avLst/>
          </a:prstGeom>
          <a:solidFill>
            <a:srgbClr val="A7B360"/>
          </a:solidFill>
          <a:ln w="12700">
            <a:solidFill>
              <a:srgbClr val="A7B360"/>
            </a:solidFill>
            <a:prstDash val="solid"/>
          </a:ln>
        </p:spPr>
        <p:txBody>
          <a:bodyPr/>
          <a:lstStyle/>
          <a:p>
            <a:endParaRPr lang="en-US"/>
          </a:p>
        </p:txBody>
      </p:sp>
      <p:sp>
        <p:nvSpPr>
          <p:cNvPr id="13" name="Shape 11"/>
          <p:cNvSpPr/>
          <p:nvPr/>
        </p:nvSpPr>
        <p:spPr>
          <a:xfrm>
            <a:off x="594360" y="2688336"/>
            <a:ext cx="1737360" cy="256032"/>
          </a:xfrm>
          <a:prstGeom prst="rect">
            <a:avLst/>
          </a:prstGeom>
          <a:solidFill>
            <a:srgbClr val="A7B360"/>
          </a:solidFill>
          <a:ln w="12700">
            <a:solidFill>
              <a:srgbClr val="A7B360"/>
            </a:solidFill>
            <a:prstDash val="solid"/>
          </a:ln>
        </p:spPr>
        <p:txBody>
          <a:bodyPr/>
          <a:lstStyle/>
          <a:p>
            <a:endParaRPr lang="en-US"/>
          </a:p>
        </p:txBody>
      </p:sp>
      <p:sp>
        <p:nvSpPr>
          <p:cNvPr id="14" name="Text 12"/>
          <p:cNvSpPr/>
          <p:nvPr/>
        </p:nvSpPr>
        <p:spPr>
          <a:xfrm>
            <a:off x="594360" y="2688336"/>
            <a:ext cx="173736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THE CHOICE</a:t>
            </a:r>
            <a:endParaRPr lang="en-US" sz="900" dirty="0"/>
          </a:p>
        </p:txBody>
      </p:sp>
      <p:sp>
        <p:nvSpPr>
          <p:cNvPr id="15" name="Text 13"/>
          <p:cNvSpPr/>
          <p:nvPr/>
        </p:nvSpPr>
        <p:spPr>
          <a:xfrm>
            <a:off x="2468880" y="2670048"/>
            <a:ext cx="603504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Embrace the machinery, or break it</a:t>
            </a:r>
            <a:endParaRPr lang="en-US" sz="1300" dirty="0"/>
          </a:p>
        </p:txBody>
      </p:sp>
      <p:sp>
        <p:nvSpPr>
          <p:cNvPr id="16" name="Text 14"/>
          <p:cNvSpPr/>
          <p:nvPr/>
        </p:nvSpPr>
        <p:spPr>
          <a:xfrm>
            <a:off x="658368" y="3017520"/>
            <a:ext cx="7882128" cy="640080"/>
          </a:xfrm>
          <a:prstGeom prst="rect">
            <a:avLst/>
          </a:prstGeom>
          <a:noFill/>
          <a:ln/>
        </p:spPr>
        <p:txBody>
          <a:bodyPr wrap="square" lIns="0" tIns="0" rIns="0" bIns="0" rtlCol="0" anchor="ctr"/>
          <a:lstStyle/>
          <a:p>
            <a:pPr marL="0" indent="0">
              <a:buNone/>
            </a:pPr>
            <a:r>
              <a:rPr lang="en-US" sz="1100" dirty="0">
                <a:solidFill>
                  <a:srgbClr val="8F96FF"/>
                </a:solidFill>
                <a:latin typeface="Calibri" pitchFamily="34" charset="0"/>
                <a:ea typeface="Calibri" pitchFamily="34" charset="-122"/>
                <a:cs typeface="Calibri" pitchFamily="34" charset="-120"/>
              </a:rPr>
              <a:t>In 1811, textile workers smashed weaving machines rather than adapt. It did not end well. We face the same fork: resist and be bypassed, or learn the machinery, understand it, and use it. This is the space race of our time. The only losing move is not to play.</a:t>
            </a:r>
            <a:endParaRPr lang="en-US" sz="1100" dirty="0"/>
          </a:p>
        </p:txBody>
      </p:sp>
      <p:sp>
        <p:nvSpPr>
          <p:cNvPr id="17" name="Shape 15"/>
          <p:cNvSpPr/>
          <p:nvPr/>
        </p:nvSpPr>
        <p:spPr>
          <a:xfrm>
            <a:off x="457200" y="3803904"/>
            <a:ext cx="8229600" cy="1078992"/>
          </a:xfrm>
          <a:prstGeom prst="rect">
            <a:avLst/>
          </a:prstGeom>
          <a:solidFill>
            <a:srgbClr val="2E2458"/>
          </a:solidFill>
          <a:ln w="12700">
            <a:solidFill>
              <a:srgbClr val="2E2458"/>
            </a:solidFill>
            <a:prstDash val="solid"/>
          </a:ln>
          <a:effectLst>
            <a:outerShdw blurRad="63500" dist="25400" dir="8100000" algn="bl" rotWithShape="0">
              <a:srgbClr val="000000">
                <a:alpha val="8000"/>
              </a:srgbClr>
            </a:outerShdw>
          </a:effectLst>
        </p:spPr>
        <p:txBody>
          <a:bodyPr/>
          <a:lstStyle/>
          <a:p>
            <a:endParaRPr lang="en-US"/>
          </a:p>
        </p:txBody>
      </p:sp>
      <p:sp>
        <p:nvSpPr>
          <p:cNvPr id="18" name="Shape 16"/>
          <p:cNvSpPr/>
          <p:nvPr/>
        </p:nvSpPr>
        <p:spPr>
          <a:xfrm>
            <a:off x="457200" y="3803904"/>
            <a:ext cx="73152" cy="1078992"/>
          </a:xfrm>
          <a:prstGeom prst="rect">
            <a:avLst/>
          </a:prstGeom>
          <a:solidFill>
            <a:srgbClr val="F0B20D"/>
          </a:solidFill>
          <a:ln w="12700">
            <a:solidFill>
              <a:srgbClr val="F0B20D"/>
            </a:solidFill>
            <a:prstDash val="solid"/>
          </a:ln>
        </p:spPr>
        <p:txBody>
          <a:bodyPr/>
          <a:lstStyle/>
          <a:p>
            <a:endParaRPr lang="en-US"/>
          </a:p>
        </p:txBody>
      </p:sp>
      <p:sp>
        <p:nvSpPr>
          <p:cNvPr id="19" name="Shape 17"/>
          <p:cNvSpPr/>
          <p:nvPr/>
        </p:nvSpPr>
        <p:spPr>
          <a:xfrm>
            <a:off x="594360" y="3858768"/>
            <a:ext cx="1737360" cy="256032"/>
          </a:xfrm>
          <a:prstGeom prst="rect">
            <a:avLst/>
          </a:prstGeom>
          <a:solidFill>
            <a:srgbClr val="F0B20D"/>
          </a:solidFill>
          <a:ln w="12700">
            <a:solidFill>
              <a:srgbClr val="F0B20D"/>
            </a:solidFill>
            <a:prstDash val="solid"/>
          </a:ln>
        </p:spPr>
        <p:txBody>
          <a:bodyPr/>
          <a:lstStyle/>
          <a:p>
            <a:endParaRPr lang="en-US"/>
          </a:p>
        </p:txBody>
      </p:sp>
      <p:sp>
        <p:nvSpPr>
          <p:cNvPr id="20" name="Text 18"/>
          <p:cNvSpPr/>
          <p:nvPr/>
        </p:nvSpPr>
        <p:spPr>
          <a:xfrm>
            <a:off x="594360" y="3858768"/>
            <a:ext cx="173736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THE REAL QUESTION</a:t>
            </a:r>
            <a:endParaRPr lang="en-US" sz="900" dirty="0"/>
          </a:p>
        </p:txBody>
      </p:sp>
      <p:sp>
        <p:nvSpPr>
          <p:cNvPr id="21" name="Text 19"/>
          <p:cNvSpPr/>
          <p:nvPr/>
        </p:nvSpPr>
        <p:spPr>
          <a:xfrm>
            <a:off x="2468880" y="3840480"/>
            <a:ext cx="603504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What does this free us to become?</a:t>
            </a:r>
            <a:endParaRPr lang="en-US" sz="1300" dirty="0"/>
          </a:p>
        </p:txBody>
      </p:sp>
      <p:sp>
        <p:nvSpPr>
          <p:cNvPr id="22" name="Text 20"/>
          <p:cNvSpPr/>
          <p:nvPr/>
        </p:nvSpPr>
        <p:spPr>
          <a:xfrm>
            <a:off x="658368" y="4187952"/>
            <a:ext cx="7882128" cy="640080"/>
          </a:xfrm>
          <a:prstGeom prst="rect">
            <a:avLst/>
          </a:prstGeom>
          <a:noFill/>
          <a:ln/>
        </p:spPr>
        <p:txBody>
          <a:bodyPr wrap="square" lIns="0" tIns="0" rIns="0" bIns="0" rtlCol="0" anchor="ctr"/>
          <a:lstStyle/>
          <a:p>
            <a:pPr marL="0" indent="0">
              <a:buNone/>
            </a:pPr>
            <a:r>
              <a:rPr lang="en-US" sz="1100" dirty="0">
                <a:solidFill>
                  <a:srgbClr val="8F96FF"/>
                </a:solidFill>
                <a:latin typeface="Calibri" pitchFamily="34" charset="0"/>
                <a:ea typeface="Calibri" pitchFamily="34" charset="-122"/>
                <a:cs typeface="Calibri" pitchFamily="34" charset="-120"/>
              </a:rPr>
              <a:t>If AI handles the cognitive load, what's left for humans? Everything that makes us Human: genuine judgment, empathy, trust-building, leadership. The goal isn't job preservation — it's becoming the best possible versions of Human. And you are perfectly positioned to start today.</a:t>
            </a:r>
            <a:endParaRPr lang="en-US" sz="1100" dirty="0"/>
          </a:p>
        </p:txBody>
      </p:sp>
      <p:sp>
        <p:nvSpPr>
          <p:cNvPr id="23" name="Shape 21"/>
          <p:cNvSpPr/>
          <p:nvPr/>
        </p:nvSpPr>
        <p:spPr>
          <a:xfrm>
            <a:off x="0" y="4919472"/>
            <a:ext cx="9144000" cy="224028"/>
          </a:xfrm>
          <a:prstGeom prst="rect">
            <a:avLst/>
          </a:prstGeom>
          <a:solidFill>
            <a:srgbClr val="2E2458"/>
          </a:solidFill>
          <a:ln w="12700">
            <a:solidFill>
              <a:srgbClr val="2E2458"/>
            </a:solidFill>
            <a:prstDash val="solid"/>
          </a:ln>
        </p:spPr>
        <p:txBody>
          <a:bodyPr/>
          <a:lstStyle/>
          <a:p>
            <a:endParaRPr lang="en-US"/>
          </a:p>
        </p:txBody>
      </p:sp>
      <p:sp>
        <p:nvSpPr>
          <p:cNvPr id="24" name="Text 22"/>
          <p:cNvSpPr/>
          <p:nvPr/>
        </p:nvSpPr>
        <p:spPr>
          <a:xfrm>
            <a:off x="274320" y="4919472"/>
            <a:ext cx="8595360" cy="228600"/>
          </a:xfrm>
          <a:prstGeom prst="rect">
            <a:avLst/>
          </a:prstGeom>
          <a:noFill/>
          <a:ln/>
        </p:spPr>
        <p:txBody>
          <a:bodyPr wrap="square" lIns="0" tIns="0" rIns="0" bIns="0" rtlCol="0" anchor="ctr"/>
          <a:lstStyle/>
          <a:p>
            <a:pPr marL="0" indent="0">
              <a:buNone/>
            </a:pPr>
            <a:r>
              <a:rPr lang="en-US" sz="1000" i="1" dirty="0">
                <a:solidFill>
                  <a:srgbClr val="F0B20D"/>
                </a:solidFill>
                <a:latin typeface="Calibri" pitchFamily="34" charset="0"/>
                <a:ea typeface="Calibri" pitchFamily="34" charset="-122"/>
                <a:cs typeface="Calibri" pitchFamily="34" charset="-120"/>
              </a:rPr>
              <a:t>This is not a lecture — it's a conversation. Push back. I'm open to being wrong.</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FF4E0"/>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600" b="1" dirty="0">
                <a:solidFill>
                  <a:srgbClr val="211B41"/>
                </a:solidFill>
                <a:latin typeface="Georgia" pitchFamily="34" charset="0"/>
                <a:ea typeface="Georgia" pitchFamily="34" charset="-122"/>
                <a:cs typeface="Georgia" pitchFamily="34" charset="-120"/>
              </a:rPr>
              <a:t>About This Workshop</a:t>
            </a:r>
            <a:endParaRPr lang="en-US" sz="2600" dirty="0"/>
          </a:p>
        </p:txBody>
      </p:sp>
      <p:sp>
        <p:nvSpPr>
          <p:cNvPr id="3" name="Shape 1"/>
          <p:cNvSpPr/>
          <p:nvPr/>
        </p:nvSpPr>
        <p:spPr>
          <a:xfrm>
            <a:off x="457200" y="822960"/>
            <a:ext cx="8229600" cy="27432"/>
          </a:xfrm>
          <a:prstGeom prst="rect">
            <a:avLst/>
          </a:prstGeom>
          <a:solidFill>
            <a:srgbClr val="BBCE8E"/>
          </a:solidFill>
          <a:ln w="12700">
            <a:solidFill>
              <a:srgbClr val="BBCE8E"/>
            </a:solidFill>
            <a:prstDash val="solid"/>
          </a:ln>
        </p:spPr>
        <p:txBody>
          <a:bodyPr/>
          <a:lstStyle/>
          <a:p>
            <a:endParaRPr lang="en-US"/>
          </a:p>
        </p:txBody>
      </p:sp>
      <p:sp>
        <p:nvSpPr>
          <p:cNvPr id="4" name="Shape 2"/>
          <p:cNvSpPr/>
          <p:nvPr/>
        </p:nvSpPr>
        <p:spPr>
          <a:xfrm>
            <a:off x="0" y="4919472"/>
            <a:ext cx="9144000" cy="224028"/>
          </a:xfrm>
          <a:prstGeom prst="rect">
            <a:avLst/>
          </a:prstGeom>
          <a:solidFill>
            <a:srgbClr val="BBCE8E"/>
          </a:solidFill>
          <a:ln w="12700">
            <a:solidFill>
              <a:srgbClr val="BBCE8E"/>
            </a:solidFill>
            <a:prstDash val="solid"/>
          </a:ln>
        </p:spPr>
        <p:txBody>
          <a:bodyPr/>
          <a:lstStyle/>
          <a:p>
            <a:endParaRPr lang="en-US"/>
          </a:p>
        </p:txBody>
      </p:sp>
      <p:sp>
        <p:nvSpPr>
          <p:cNvPr id="5" name="Text 3"/>
          <p:cNvSpPr/>
          <p:nvPr/>
        </p:nvSpPr>
        <p:spPr>
          <a:xfrm>
            <a:off x="274320" y="4928616"/>
            <a:ext cx="8595360" cy="201168"/>
          </a:xfrm>
          <a:prstGeom prst="rect">
            <a:avLst/>
          </a:prstGeom>
          <a:noFill/>
          <a:ln/>
        </p:spPr>
        <p:txBody>
          <a:bodyPr wrap="square" lIns="0" tIns="0" rIns="0" bIns="0" rtlCol="0" anchor="ctr"/>
          <a:lstStyle/>
          <a:p>
            <a:pPr marL="0" indent="0">
              <a:buNone/>
            </a:pPr>
            <a:r>
              <a:rPr lang="en-US" sz="900" dirty="0">
                <a:solidFill>
                  <a:srgbClr val="4A7A82"/>
                </a:solidFill>
                <a:latin typeface="Calibri" pitchFamily="34" charset="0"/>
                <a:ea typeface="Calibri" pitchFamily="34" charset="-122"/>
                <a:cs typeface="Calibri" pitchFamily="34" charset="-120"/>
              </a:rPr>
              <a:t>Blockstruct GmbH  ·  AI Demystified Workshop  ·  UniCredit  ·  April 2026</a:t>
            </a:r>
            <a:endParaRPr lang="en-US" sz="900" dirty="0"/>
          </a:p>
        </p:txBody>
      </p:sp>
      <p:sp>
        <p:nvSpPr>
          <p:cNvPr id="6" name="Shape 4"/>
          <p:cNvSpPr/>
          <p:nvPr/>
        </p:nvSpPr>
        <p:spPr>
          <a:xfrm>
            <a:off x="457200" y="1005840"/>
            <a:ext cx="8229600" cy="1371600"/>
          </a:xfrm>
          <a:prstGeom prst="rect">
            <a:avLst/>
          </a:prstGeom>
          <a:solidFill>
            <a:srgbClr val="626EFF"/>
          </a:solidFill>
          <a:ln w="12700">
            <a:solidFill>
              <a:srgbClr val="626EFF"/>
            </a:solidFill>
            <a:prstDash val="solid"/>
          </a:ln>
          <a:effectLst>
            <a:outerShdw blurRad="127000" dist="38100" dir="8100000" algn="bl" rotWithShape="0">
              <a:srgbClr val="000000">
                <a:alpha val="13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594360" y="1097280"/>
            <a:ext cx="411480" cy="411480"/>
          </a:xfrm>
          <a:prstGeom prst="rect">
            <a:avLst/>
          </a:prstGeom>
        </p:spPr>
      </p:pic>
      <p:sp>
        <p:nvSpPr>
          <p:cNvPr id="8" name="Text 5"/>
          <p:cNvSpPr/>
          <p:nvPr/>
        </p:nvSpPr>
        <p:spPr>
          <a:xfrm>
            <a:off x="1097280" y="1078992"/>
            <a:ext cx="7132320" cy="1188720"/>
          </a:xfrm>
          <a:prstGeom prst="rect">
            <a:avLst/>
          </a:prstGeom>
          <a:noFill/>
          <a:ln/>
        </p:spPr>
        <p:txBody>
          <a:bodyPr wrap="square" rtlCol="0" anchor="ctr"/>
          <a:lstStyle/>
          <a:p>
            <a:pPr marL="0" indent="0">
              <a:buNone/>
            </a:pPr>
            <a:r>
              <a:rPr lang="en-US" sz="1700" i="1" dirty="0">
                <a:solidFill>
                  <a:srgbClr val="FFFFFF"/>
                </a:solidFill>
                <a:latin typeface="Georgia" pitchFamily="34" charset="0"/>
                <a:ea typeface="Georgia" pitchFamily="34" charset="-122"/>
                <a:cs typeface="Georgia" pitchFamily="34" charset="-120"/>
              </a:rPr>
              <a:t>By the end of this morning, you won't be AI engineers.</a:t>
            </a:r>
            <a:endParaRPr lang="en-US" sz="1700" dirty="0"/>
          </a:p>
          <a:p>
            <a:pPr marL="0" indent="0">
              <a:buNone/>
            </a:pPr>
            <a:r>
              <a:rPr lang="en-US" sz="1700" i="1" dirty="0">
                <a:solidFill>
                  <a:srgbClr val="FFFFFF"/>
                </a:solidFill>
                <a:latin typeface="Georgia" pitchFamily="34" charset="0"/>
                <a:ea typeface="Georgia" pitchFamily="34" charset="-122"/>
                <a:cs typeface="Georgia" pitchFamily="34" charset="-120"/>
              </a:rPr>
              <a:t>You'll be AI-literate decision-makers — which is frankly more useful.</a:t>
            </a:r>
            <a:endParaRPr lang="en-US" sz="1700" dirty="0"/>
          </a:p>
        </p:txBody>
      </p:sp>
      <p:sp>
        <p:nvSpPr>
          <p:cNvPr id="9" name="Shape 6"/>
          <p:cNvSpPr/>
          <p:nvPr/>
        </p:nvSpPr>
        <p:spPr>
          <a:xfrm>
            <a:off x="457200" y="2606040"/>
            <a:ext cx="2651760" cy="2103120"/>
          </a:xfrm>
          <a:prstGeom prst="rect">
            <a:avLst/>
          </a:prstGeom>
          <a:solidFill>
            <a:srgbClr val="FFFFFF"/>
          </a:solidFill>
          <a:ln w="12700">
            <a:solidFill>
              <a:srgbClr val="FFFFFF"/>
            </a:solidFill>
            <a:prstDash val="solid"/>
          </a:ln>
          <a:effectLst>
            <a:outerShdw blurRad="63500" dist="25400" dir="8100000" algn="bl" rotWithShape="0">
              <a:srgbClr val="000000">
                <a:alpha val="8000"/>
              </a:srgbClr>
            </a:outerShdw>
          </a:effectLst>
        </p:spPr>
        <p:txBody>
          <a:bodyPr/>
          <a:lstStyle/>
          <a:p>
            <a:endParaRPr lang="en-US"/>
          </a:p>
        </p:txBody>
      </p:sp>
      <p:pic>
        <p:nvPicPr>
          <p:cNvPr id="10" name="Image 1" descr="preencoded.png"/>
          <p:cNvPicPr>
            <a:picLocks noChangeAspect="1"/>
          </p:cNvPicPr>
          <p:nvPr/>
        </p:nvPicPr>
        <p:blipFill>
          <a:blip r:embed="rId4"/>
          <a:stretch>
            <a:fillRect/>
          </a:stretch>
        </p:blipFill>
        <p:spPr>
          <a:xfrm>
            <a:off x="594360" y="2724912"/>
            <a:ext cx="411480" cy="411480"/>
          </a:xfrm>
          <a:prstGeom prst="rect">
            <a:avLst/>
          </a:prstGeom>
        </p:spPr>
      </p:pic>
      <p:sp>
        <p:nvSpPr>
          <p:cNvPr id="11" name="Text 7"/>
          <p:cNvSpPr/>
          <p:nvPr/>
        </p:nvSpPr>
        <p:spPr>
          <a:xfrm>
            <a:off x="1097280" y="2697480"/>
            <a:ext cx="1920240" cy="475488"/>
          </a:xfrm>
          <a:prstGeom prst="rect">
            <a:avLst/>
          </a:prstGeom>
          <a:noFill/>
          <a:ln/>
        </p:spPr>
        <p:txBody>
          <a:bodyPr wrap="square" lIns="0" tIns="0" rIns="0" bIns="0" rtlCol="0" anchor="ctr"/>
          <a:lstStyle/>
          <a:p>
            <a:pPr marL="0" indent="0">
              <a:buNone/>
            </a:pPr>
            <a:r>
              <a:rPr lang="en-US" sz="1200" b="1" dirty="0">
                <a:solidFill>
                  <a:srgbClr val="211B41"/>
                </a:solidFill>
                <a:latin typeface="Calibri" pitchFamily="34" charset="0"/>
                <a:ea typeface="Calibri" pitchFamily="34" charset="-122"/>
                <a:cs typeface="Calibri" pitchFamily="34" charset="-120"/>
              </a:rPr>
              <a:t>Understand the technology</a:t>
            </a:r>
            <a:endParaRPr lang="en-US" sz="1200" dirty="0"/>
          </a:p>
        </p:txBody>
      </p:sp>
      <p:sp>
        <p:nvSpPr>
          <p:cNvPr id="12" name="Text 8"/>
          <p:cNvSpPr/>
          <p:nvPr/>
        </p:nvSpPr>
        <p:spPr>
          <a:xfrm>
            <a:off x="566928" y="3246120"/>
            <a:ext cx="2432304" cy="1280160"/>
          </a:xfrm>
          <a:prstGeom prst="rect">
            <a:avLst/>
          </a:prstGeom>
          <a:noFill/>
          <a:ln/>
        </p:spPr>
        <p:txBody>
          <a:bodyPr wrap="square" lIns="0" tIns="0" rIns="0" bIns="0" rtlCol="0" anchor="ctr"/>
          <a:lstStyle/>
          <a:p>
            <a:pPr marL="0" indent="0">
              <a:buNone/>
            </a:pPr>
            <a:r>
              <a:rPr lang="en-US" sz="1100" dirty="0">
                <a:solidFill>
                  <a:srgbClr val="211B41"/>
                </a:solidFill>
                <a:latin typeface="Calibri" pitchFamily="34" charset="0"/>
                <a:ea typeface="Calibri" pitchFamily="34" charset="-122"/>
                <a:cs typeface="Calibri" pitchFamily="34" charset="-120"/>
              </a:rPr>
              <a:t>What LLMs actually are, how they learn, and what they genuinely can (and cannot) do.</a:t>
            </a:r>
            <a:endParaRPr lang="en-US" sz="1100" dirty="0"/>
          </a:p>
        </p:txBody>
      </p:sp>
      <p:sp>
        <p:nvSpPr>
          <p:cNvPr id="13" name="Shape 9"/>
          <p:cNvSpPr/>
          <p:nvPr/>
        </p:nvSpPr>
        <p:spPr>
          <a:xfrm>
            <a:off x="3246120" y="2606040"/>
            <a:ext cx="2651760" cy="2103120"/>
          </a:xfrm>
          <a:prstGeom prst="rect">
            <a:avLst/>
          </a:prstGeom>
          <a:solidFill>
            <a:srgbClr val="FFFFFF"/>
          </a:solidFill>
          <a:ln w="12700">
            <a:solidFill>
              <a:srgbClr val="FFFFFF"/>
            </a:solidFill>
            <a:prstDash val="solid"/>
          </a:ln>
          <a:effectLst>
            <a:outerShdw blurRad="63500" dist="25400" dir="8100000" algn="bl" rotWithShape="0">
              <a:srgbClr val="000000">
                <a:alpha val="8000"/>
              </a:srgbClr>
            </a:outerShdw>
          </a:effectLst>
        </p:spPr>
        <p:txBody>
          <a:bodyPr/>
          <a:lstStyle/>
          <a:p>
            <a:endParaRPr lang="en-US"/>
          </a:p>
        </p:txBody>
      </p:sp>
      <p:pic>
        <p:nvPicPr>
          <p:cNvPr id="14" name="Image 2" descr="preencoded.png"/>
          <p:cNvPicPr>
            <a:picLocks noChangeAspect="1"/>
          </p:cNvPicPr>
          <p:nvPr/>
        </p:nvPicPr>
        <p:blipFill>
          <a:blip r:embed="rId5"/>
          <a:stretch>
            <a:fillRect/>
          </a:stretch>
        </p:blipFill>
        <p:spPr>
          <a:xfrm>
            <a:off x="3383280" y="2724912"/>
            <a:ext cx="411480" cy="411480"/>
          </a:xfrm>
          <a:prstGeom prst="rect">
            <a:avLst/>
          </a:prstGeom>
        </p:spPr>
      </p:pic>
      <p:sp>
        <p:nvSpPr>
          <p:cNvPr id="15" name="Text 10"/>
          <p:cNvSpPr/>
          <p:nvPr/>
        </p:nvSpPr>
        <p:spPr>
          <a:xfrm>
            <a:off x="3886200" y="2697480"/>
            <a:ext cx="1920240" cy="475488"/>
          </a:xfrm>
          <a:prstGeom prst="rect">
            <a:avLst/>
          </a:prstGeom>
          <a:noFill/>
          <a:ln/>
        </p:spPr>
        <p:txBody>
          <a:bodyPr wrap="square" lIns="0" tIns="0" rIns="0" bIns="0" rtlCol="0" anchor="ctr"/>
          <a:lstStyle/>
          <a:p>
            <a:pPr marL="0" indent="0">
              <a:buNone/>
            </a:pPr>
            <a:r>
              <a:rPr lang="en-US" sz="1200" b="1" dirty="0">
                <a:solidFill>
                  <a:srgbClr val="211B41"/>
                </a:solidFill>
                <a:latin typeface="Calibri" pitchFamily="34" charset="0"/>
                <a:ea typeface="Calibri" pitchFamily="34" charset="-122"/>
                <a:cs typeface="Calibri" pitchFamily="34" charset="-120"/>
              </a:rPr>
              <a:t>Design better applications</a:t>
            </a:r>
            <a:endParaRPr lang="en-US" sz="1200" dirty="0"/>
          </a:p>
        </p:txBody>
      </p:sp>
      <p:sp>
        <p:nvSpPr>
          <p:cNvPr id="16" name="Text 11"/>
          <p:cNvSpPr/>
          <p:nvPr/>
        </p:nvSpPr>
        <p:spPr>
          <a:xfrm>
            <a:off x="3355848" y="3246120"/>
            <a:ext cx="2432304" cy="1280160"/>
          </a:xfrm>
          <a:prstGeom prst="rect">
            <a:avLst/>
          </a:prstGeom>
          <a:noFill/>
          <a:ln/>
        </p:spPr>
        <p:txBody>
          <a:bodyPr wrap="square" lIns="0" tIns="0" rIns="0" bIns="0" rtlCol="0" anchor="ctr"/>
          <a:lstStyle/>
          <a:p>
            <a:pPr marL="0" indent="0">
              <a:buNone/>
            </a:pPr>
            <a:r>
              <a:rPr lang="en-US" sz="1100" dirty="0">
                <a:solidFill>
                  <a:srgbClr val="211B41"/>
                </a:solidFill>
                <a:latin typeface="Calibri" pitchFamily="34" charset="0"/>
                <a:ea typeface="Calibri" pitchFamily="34" charset="-122"/>
                <a:cs typeface="Calibri" pitchFamily="34" charset="-120"/>
              </a:rPr>
              <a:t>Identify where AI creates real value in your workflows — especially in sales and client relationships.</a:t>
            </a:r>
            <a:endParaRPr lang="en-US" sz="1100" dirty="0"/>
          </a:p>
        </p:txBody>
      </p:sp>
      <p:sp>
        <p:nvSpPr>
          <p:cNvPr id="17" name="Shape 12"/>
          <p:cNvSpPr/>
          <p:nvPr/>
        </p:nvSpPr>
        <p:spPr>
          <a:xfrm>
            <a:off x="6035040" y="2606040"/>
            <a:ext cx="2651760" cy="2103120"/>
          </a:xfrm>
          <a:prstGeom prst="rect">
            <a:avLst/>
          </a:prstGeom>
          <a:solidFill>
            <a:srgbClr val="FFFFFF"/>
          </a:solidFill>
          <a:ln w="12700">
            <a:solidFill>
              <a:srgbClr val="FFFFFF"/>
            </a:solidFill>
            <a:prstDash val="solid"/>
          </a:ln>
          <a:effectLst>
            <a:outerShdw blurRad="63500" dist="25400" dir="8100000" algn="bl" rotWithShape="0">
              <a:srgbClr val="000000">
                <a:alpha val="8000"/>
              </a:srgbClr>
            </a:outerShdw>
          </a:effectLst>
        </p:spPr>
        <p:txBody>
          <a:bodyPr/>
          <a:lstStyle/>
          <a:p>
            <a:endParaRPr lang="en-US"/>
          </a:p>
        </p:txBody>
      </p:sp>
      <p:pic>
        <p:nvPicPr>
          <p:cNvPr id="18" name="Image 3" descr="preencoded.png"/>
          <p:cNvPicPr>
            <a:picLocks noChangeAspect="1"/>
          </p:cNvPicPr>
          <p:nvPr/>
        </p:nvPicPr>
        <p:blipFill>
          <a:blip r:embed="rId6"/>
          <a:stretch>
            <a:fillRect/>
          </a:stretch>
        </p:blipFill>
        <p:spPr>
          <a:xfrm>
            <a:off x="6172200" y="2724912"/>
            <a:ext cx="411480" cy="411480"/>
          </a:xfrm>
          <a:prstGeom prst="rect">
            <a:avLst/>
          </a:prstGeom>
        </p:spPr>
      </p:pic>
      <p:sp>
        <p:nvSpPr>
          <p:cNvPr id="19" name="Text 13"/>
          <p:cNvSpPr/>
          <p:nvPr/>
        </p:nvSpPr>
        <p:spPr>
          <a:xfrm>
            <a:off x="6675120" y="2697480"/>
            <a:ext cx="1920240" cy="475488"/>
          </a:xfrm>
          <a:prstGeom prst="rect">
            <a:avLst/>
          </a:prstGeom>
          <a:noFill/>
          <a:ln/>
        </p:spPr>
        <p:txBody>
          <a:bodyPr wrap="square" lIns="0" tIns="0" rIns="0" bIns="0" rtlCol="0" anchor="ctr"/>
          <a:lstStyle/>
          <a:p>
            <a:pPr marL="0" indent="0">
              <a:buNone/>
            </a:pPr>
            <a:r>
              <a:rPr lang="en-US" sz="1200" b="1" dirty="0">
                <a:solidFill>
                  <a:srgbClr val="211B41"/>
                </a:solidFill>
                <a:latin typeface="Calibri" pitchFamily="34" charset="0"/>
                <a:ea typeface="Calibri" pitchFamily="34" charset="-122"/>
                <a:cs typeface="Calibri" pitchFamily="34" charset="-120"/>
              </a:rPr>
              <a:t>Ask better questions</a:t>
            </a:r>
            <a:endParaRPr lang="en-US" sz="1200" dirty="0"/>
          </a:p>
        </p:txBody>
      </p:sp>
      <p:sp>
        <p:nvSpPr>
          <p:cNvPr id="20" name="Text 14"/>
          <p:cNvSpPr/>
          <p:nvPr/>
        </p:nvSpPr>
        <p:spPr>
          <a:xfrm>
            <a:off x="6144768" y="3246120"/>
            <a:ext cx="2432304" cy="1280160"/>
          </a:xfrm>
          <a:prstGeom prst="rect">
            <a:avLst/>
          </a:prstGeom>
          <a:noFill/>
          <a:ln/>
        </p:spPr>
        <p:txBody>
          <a:bodyPr wrap="square" lIns="0" tIns="0" rIns="0" bIns="0" rtlCol="0" anchor="ctr"/>
          <a:lstStyle/>
          <a:p>
            <a:pPr marL="0" indent="0">
              <a:buNone/>
            </a:pPr>
            <a:r>
              <a:rPr lang="en-US" sz="1100" dirty="0">
                <a:solidFill>
                  <a:srgbClr val="211B41"/>
                </a:solidFill>
                <a:latin typeface="Calibri" pitchFamily="34" charset="0"/>
                <a:ea typeface="Calibri" pitchFamily="34" charset="-122"/>
                <a:cs typeface="Calibri" pitchFamily="34" charset="-120"/>
              </a:rPr>
              <a:t>Leave with a mental framework to evaluate AI proposals, pilots, and vendor claims.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FF4E0"/>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600" b="1" dirty="0">
                <a:solidFill>
                  <a:srgbClr val="211B41"/>
                </a:solidFill>
                <a:latin typeface="Georgia" pitchFamily="34" charset="0"/>
                <a:ea typeface="Georgia" pitchFamily="34" charset="-122"/>
                <a:cs typeface="Georgia" pitchFamily="34" charset="-120"/>
              </a:rPr>
              <a:t>Today's Journey</a:t>
            </a:r>
            <a:endParaRPr lang="en-US" sz="2600" dirty="0"/>
          </a:p>
        </p:txBody>
      </p:sp>
      <p:sp>
        <p:nvSpPr>
          <p:cNvPr id="3" name="Shape 1"/>
          <p:cNvSpPr/>
          <p:nvPr/>
        </p:nvSpPr>
        <p:spPr>
          <a:xfrm>
            <a:off x="457200" y="822960"/>
            <a:ext cx="8229600" cy="27432"/>
          </a:xfrm>
          <a:prstGeom prst="rect">
            <a:avLst/>
          </a:prstGeom>
          <a:solidFill>
            <a:srgbClr val="BBCE8E"/>
          </a:solidFill>
          <a:ln w="12700">
            <a:solidFill>
              <a:srgbClr val="BBCE8E"/>
            </a:solidFill>
            <a:prstDash val="solid"/>
          </a:ln>
        </p:spPr>
        <p:txBody>
          <a:bodyPr/>
          <a:lstStyle/>
          <a:p>
            <a:endParaRPr lang="en-US"/>
          </a:p>
        </p:txBody>
      </p:sp>
      <p:sp>
        <p:nvSpPr>
          <p:cNvPr id="4" name="Shape 2"/>
          <p:cNvSpPr/>
          <p:nvPr/>
        </p:nvSpPr>
        <p:spPr>
          <a:xfrm>
            <a:off x="0" y="4919472"/>
            <a:ext cx="9144000" cy="224028"/>
          </a:xfrm>
          <a:prstGeom prst="rect">
            <a:avLst/>
          </a:prstGeom>
          <a:solidFill>
            <a:srgbClr val="BBCE8E"/>
          </a:solidFill>
          <a:ln w="12700">
            <a:solidFill>
              <a:srgbClr val="BBCE8E"/>
            </a:solidFill>
            <a:prstDash val="solid"/>
          </a:ln>
        </p:spPr>
        <p:txBody>
          <a:bodyPr/>
          <a:lstStyle/>
          <a:p>
            <a:endParaRPr lang="en-US"/>
          </a:p>
        </p:txBody>
      </p:sp>
      <p:sp>
        <p:nvSpPr>
          <p:cNvPr id="5" name="Text 3"/>
          <p:cNvSpPr/>
          <p:nvPr/>
        </p:nvSpPr>
        <p:spPr>
          <a:xfrm>
            <a:off x="274320" y="4928616"/>
            <a:ext cx="8595360" cy="201168"/>
          </a:xfrm>
          <a:prstGeom prst="rect">
            <a:avLst/>
          </a:prstGeom>
          <a:noFill/>
          <a:ln/>
        </p:spPr>
        <p:txBody>
          <a:bodyPr wrap="square" lIns="0" tIns="0" rIns="0" bIns="0" rtlCol="0" anchor="ctr"/>
          <a:lstStyle/>
          <a:p>
            <a:pPr marL="0" indent="0">
              <a:buNone/>
            </a:pPr>
            <a:r>
              <a:rPr lang="en-US" sz="900" dirty="0">
                <a:solidFill>
                  <a:srgbClr val="4A7A82"/>
                </a:solidFill>
                <a:latin typeface="Calibri" pitchFamily="34" charset="0"/>
                <a:ea typeface="Calibri" pitchFamily="34" charset="-122"/>
                <a:cs typeface="Calibri" pitchFamily="34" charset="-120"/>
              </a:rPr>
              <a:t>Blockstruct GmbH  ·  AI Demystified Workshop  ·  UniCredit  ·  April 2026</a:t>
            </a:r>
            <a:endParaRPr lang="en-US" sz="900" dirty="0"/>
          </a:p>
        </p:txBody>
      </p:sp>
      <p:sp>
        <p:nvSpPr>
          <p:cNvPr id="6" name="Shape 4"/>
          <p:cNvSpPr/>
          <p:nvPr/>
        </p:nvSpPr>
        <p:spPr>
          <a:xfrm>
            <a:off x="365760" y="914400"/>
            <a:ext cx="8412480" cy="411480"/>
          </a:xfrm>
          <a:prstGeom prst="rect">
            <a:avLst/>
          </a:prstGeom>
          <a:solidFill>
            <a:srgbClr val="FFFFFF"/>
          </a:solidFill>
          <a:ln w="12700">
            <a:solidFill>
              <a:srgbClr val="FFFFFF"/>
            </a:solidFill>
            <a:prstDash val="solid"/>
          </a:ln>
        </p:spPr>
        <p:txBody>
          <a:bodyPr/>
          <a:lstStyle/>
          <a:p>
            <a:endParaRPr lang="en-US"/>
          </a:p>
        </p:txBody>
      </p:sp>
      <p:sp>
        <p:nvSpPr>
          <p:cNvPr id="7" name="Shape 5"/>
          <p:cNvSpPr/>
          <p:nvPr/>
        </p:nvSpPr>
        <p:spPr>
          <a:xfrm>
            <a:off x="365760" y="914400"/>
            <a:ext cx="502920" cy="411480"/>
          </a:xfrm>
          <a:prstGeom prst="rect">
            <a:avLst/>
          </a:prstGeom>
          <a:solidFill>
            <a:srgbClr val="626EFF"/>
          </a:solidFill>
          <a:ln w="12700">
            <a:solidFill>
              <a:srgbClr val="626EFF"/>
            </a:solidFill>
            <a:prstDash val="solid"/>
          </a:ln>
        </p:spPr>
        <p:txBody>
          <a:bodyPr/>
          <a:lstStyle/>
          <a:p>
            <a:endParaRPr lang="en-US"/>
          </a:p>
        </p:txBody>
      </p:sp>
      <p:sp>
        <p:nvSpPr>
          <p:cNvPr id="8" name="Text 6"/>
          <p:cNvSpPr/>
          <p:nvPr/>
        </p:nvSpPr>
        <p:spPr>
          <a:xfrm>
            <a:off x="365760" y="914400"/>
            <a:ext cx="50292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960120" y="932688"/>
            <a:ext cx="5303520" cy="219456"/>
          </a:xfrm>
          <a:prstGeom prst="rect">
            <a:avLst/>
          </a:prstGeom>
          <a:noFill/>
          <a:ln/>
        </p:spPr>
        <p:txBody>
          <a:bodyPr wrap="square" lIns="0" tIns="0" rIns="0" bIns="0" rtlCol="0" anchor="ctr"/>
          <a:lstStyle/>
          <a:p>
            <a:pPr marL="0" indent="0">
              <a:buNone/>
            </a:pPr>
            <a:r>
              <a:rPr lang="en-US" sz="1200" b="1" dirty="0">
                <a:solidFill>
                  <a:srgbClr val="211B41"/>
                </a:solidFill>
                <a:latin typeface="Calibri" pitchFamily="34" charset="0"/>
                <a:ea typeface="Calibri" pitchFamily="34" charset="-122"/>
                <a:cs typeface="Calibri" pitchFamily="34" charset="-120"/>
              </a:rPr>
              <a:t>What IS This Thing?</a:t>
            </a:r>
            <a:endParaRPr lang="en-US" sz="1200" dirty="0"/>
          </a:p>
        </p:txBody>
      </p:sp>
      <p:sp>
        <p:nvSpPr>
          <p:cNvPr id="10" name="Text 8"/>
          <p:cNvSpPr/>
          <p:nvPr/>
        </p:nvSpPr>
        <p:spPr>
          <a:xfrm>
            <a:off x="960120" y="1124712"/>
            <a:ext cx="5303520" cy="182880"/>
          </a:xfrm>
          <a:prstGeom prst="rect">
            <a:avLst/>
          </a:prstGeom>
          <a:noFill/>
          <a:ln/>
        </p:spPr>
        <p:txBody>
          <a:bodyPr wrap="square" lIns="0" tIns="0" rIns="0" bIns="0" rtlCol="0" anchor="ctr"/>
          <a:lstStyle/>
          <a:p>
            <a:pPr marL="0" indent="0">
              <a:buNone/>
            </a:pPr>
            <a:r>
              <a:rPr lang="en-US" sz="950" i="1" dirty="0">
                <a:solidFill>
                  <a:srgbClr val="4A7A82"/>
                </a:solidFill>
                <a:latin typeface="Calibri" pitchFamily="34" charset="0"/>
                <a:ea typeface="Calibri" pitchFamily="34" charset="-122"/>
                <a:cs typeface="Calibri" pitchFamily="34" charset="-120"/>
              </a:rPr>
              <a:t>LLMs, the four intelligences, setting the mental model</a:t>
            </a:r>
            <a:endParaRPr lang="en-US" sz="950" dirty="0"/>
          </a:p>
        </p:txBody>
      </p:sp>
      <p:sp>
        <p:nvSpPr>
          <p:cNvPr id="11" name="Text 9"/>
          <p:cNvSpPr/>
          <p:nvPr/>
        </p:nvSpPr>
        <p:spPr>
          <a:xfrm>
            <a:off x="7772400" y="914400"/>
            <a:ext cx="1005840" cy="411480"/>
          </a:xfrm>
          <a:prstGeom prst="rect">
            <a:avLst/>
          </a:prstGeom>
          <a:noFill/>
          <a:ln/>
        </p:spPr>
        <p:txBody>
          <a:bodyPr wrap="square" lIns="0" tIns="0" rIns="0" bIns="0" rtlCol="0" anchor="ctr"/>
          <a:lstStyle/>
          <a:p>
            <a:pPr marL="0" indent="0" algn="r">
              <a:buNone/>
            </a:pPr>
            <a:r>
              <a:rPr lang="en-US" sz="1000" dirty="0">
                <a:solidFill>
                  <a:srgbClr val="4A7A82"/>
                </a:solidFill>
                <a:latin typeface="Calibri" pitchFamily="34" charset="0"/>
                <a:ea typeface="Calibri" pitchFamily="34" charset="-122"/>
                <a:cs typeface="Calibri" pitchFamily="34" charset="-120"/>
              </a:rPr>
              <a:t>15 min</a:t>
            </a:r>
            <a:endParaRPr lang="en-US" sz="1000" dirty="0"/>
          </a:p>
        </p:txBody>
      </p:sp>
      <p:sp>
        <p:nvSpPr>
          <p:cNvPr id="12" name="Shape 10"/>
          <p:cNvSpPr/>
          <p:nvPr/>
        </p:nvSpPr>
        <p:spPr>
          <a:xfrm>
            <a:off x="365760" y="1367028"/>
            <a:ext cx="8412480" cy="411480"/>
          </a:xfrm>
          <a:prstGeom prst="rect">
            <a:avLst/>
          </a:prstGeom>
          <a:solidFill>
            <a:srgbClr val="F8F9F4"/>
          </a:solidFill>
          <a:ln w="12700">
            <a:solidFill>
              <a:srgbClr val="F8F9F4"/>
            </a:solidFill>
            <a:prstDash val="solid"/>
          </a:ln>
        </p:spPr>
        <p:txBody>
          <a:bodyPr/>
          <a:lstStyle/>
          <a:p>
            <a:endParaRPr lang="en-US"/>
          </a:p>
        </p:txBody>
      </p:sp>
      <p:sp>
        <p:nvSpPr>
          <p:cNvPr id="13" name="Shape 11"/>
          <p:cNvSpPr/>
          <p:nvPr/>
        </p:nvSpPr>
        <p:spPr>
          <a:xfrm>
            <a:off x="365760" y="1367028"/>
            <a:ext cx="502920" cy="411480"/>
          </a:xfrm>
          <a:prstGeom prst="rect">
            <a:avLst/>
          </a:prstGeom>
          <a:solidFill>
            <a:srgbClr val="626EFF"/>
          </a:solidFill>
          <a:ln w="12700">
            <a:solidFill>
              <a:srgbClr val="626EFF"/>
            </a:solidFill>
            <a:prstDash val="solid"/>
          </a:ln>
        </p:spPr>
        <p:txBody>
          <a:bodyPr/>
          <a:lstStyle/>
          <a:p>
            <a:endParaRPr lang="en-US"/>
          </a:p>
        </p:txBody>
      </p:sp>
      <p:sp>
        <p:nvSpPr>
          <p:cNvPr id="14" name="Text 12"/>
          <p:cNvSpPr/>
          <p:nvPr/>
        </p:nvSpPr>
        <p:spPr>
          <a:xfrm>
            <a:off x="365760" y="1367028"/>
            <a:ext cx="50292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3"/>
          <p:cNvSpPr/>
          <p:nvPr/>
        </p:nvSpPr>
        <p:spPr>
          <a:xfrm>
            <a:off x="960120" y="1385316"/>
            <a:ext cx="5303520" cy="219456"/>
          </a:xfrm>
          <a:prstGeom prst="rect">
            <a:avLst/>
          </a:prstGeom>
          <a:noFill/>
          <a:ln/>
        </p:spPr>
        <p:txBody>
          <a:bodyPr wrap="square" lIns="0" tIns="0" rIns="0" bIns="0" rtlCol="0" anchor="ctr"/>
          <a:lstStyle/>
          <a:p>
            <a:pPr marL="0" indent="0">
              <a:buNone/>
            </a:pPr>
            <a:r>
              <a:rPr lang="en-US" sz="1200" b="1" dirty="0">
                <a:solidFill>
                  <a:srgbClr val="211B41"/>
                </a:solidFill>
                <a:latin typeface="Calibri" pitchFamily="34" charset="0"/>
                <a:ea typeface="Calibri" pitchFamily="34" charset="-122"/>
                <a:cs typeface="Calibri" pitchFamily="34" charset="-120"/>
              </a:rPr>
              <a:t>Excuse Me, What's a Vector?</a:t>
            </a:r>
            <a:endParaRPr lang="en-US" sz="1200" dirty="0"/>
          </a:p>
        </p:txBody>
      </p:sp>
      <p:sp>
        <p:nvSpPr>
          <p:cNvPr id="16" name="Text 14"/>
          <p:cNvSpPr/>
          <p:nvPr/>
        </p:nvSpPr>
        <p:spPr>
          <a:xfrm>
            <a:off x="960120" y="1577340"/>
            <a:ext cx="5303520" cy="182880"/>
          </a:xfrm>
          <a:prstGeom prst="rect">
            <a:avLst/>
          </a:prstGeom>
          <a:noFill/>
          <a:ln/>
        </p:spPr>
        <p:txBody>
          <a:bodyPr wrap="square" lIns="0" tIns="0" rIns="0" bIns="0" rtlCol="0" anchor="ctr"/>
          <a:lstStyle/>
          <a:p>
            <a:pPr marL="0" indent="0">
              <a:buNone/>
            </a:pPr>
            <a:r>
              <a:rPr lang="en-US" sz="950" i="1" dirty="0">
                <a:solidFill>
                  <a:srgbClr val="4A7A82"/>
                </a:solidFill>
                <a:latin typeface="Calibri" pitchFamily="34" charset="0"/>
                <a:ea typeface="Calibri" pitchFamily="34" charset="-122"/>
                <a:cs typeface="Calibri" pitchFamily="34" charset="-120"/>
              </a:rPr>
              <a:t>How AI encodes meaning — with a King, a Peasant, and a Horse</a:t>
            </a:r>
            <a:endParaRPr lang="en-US" sz="950" dirty="0"/>
          </a:p>
        </p:txBody>
      </p:sp>
      <p:sp>
        <p:nvSpPr>
          <p:cNvPr id="17" name="Text 15"/>
          <p:cNvSpPr/>
          <p:nvPr/>
        </p:nvSpPr>
        <p:spPr>
          <a:xfrm>
            <a:off x="7772400" y="1367028"/>
            <a:ext cx="1005840" cy="411480"/>
          </a:xfrm>
          <a:prstGeom prst="rect">
            <a:avLst/>
          </a:prstGeom>
          <a:noFill/>
          <a:ln/>
        </p:spPr>
        <p:txBody>
          <a:bodyPr wrap="square" lIns="0" tIns="0" rIns="0" bIns="0" rtlCol="0" anchor="ctr"/>
          <a:lstStyle/>
          <a:p>
            <a:pPr marL="0" indent="0" algn="r">
              <a:buNone/>
            </a:pPr>
            <a:r>
              <a:rPr lang="en-US" sz="1000" dirty="0">
                <a:solidFill>
                  <a:srgbClr val="4A7A82"/>
                </a:solidFill>
                <a:latin typeface="Calibri" pitchFamily="34" charset="0"/>
                <a:ea typeface="Calibri" pitchFamily="34" charset="-122"/>
                <a:cs typeface="Calibri" pitchFamily="34" charset="-120"/>
              </a:rPr>
              <a:t>20 min</a:t>
            </a:r>
            <a:endParaRPr lang="en-US" sz="1000" dirty="0"/>
          </a:p>
        </p:txBody>
      </p:sp>
      <p:sp>
        <p:nvSpPr>
          <p:cNvPr id="18" name="Shape 16"/>
          <p:cNvSpPr/>
          <p:nvPr/>
        </p:nvSpPr>
        <p:spPr>
          <a:xfrm>
            <a:off x="365760" y="1819656"/>
            <a:ext cx="8412480" cy="411480"/>
          </a:xfrm>
          <a:prstGeom prst="rect">
            <a:avLst/>
          </a:prstGeom>
          <a:solidFill>
            <a:srgbClr val="FFFFFF"/>
          </a:solidFill>
          <a:ln w="12700">
            <a:solidFill>
              <a:srgbClr val="FFFFFF"/>
            </a:solidFill>
            <a:prstDash val="solid"/>
          </a:ln>
        </p:spPr>
        <p:txBody>
          <a:bodyPr/>
          <a:lstStyle/>
          <a:p>
            <a:endParaRPr lang="en-US"/>
          </a:p>
        </p:txBody>
      </p:sp>
      <p:sp>
        <p:nvSpPr>
          <p:cNvPr id="19" name="Shape 17"/>
          <p:cNvSpPr/>
          <p:nvPr/>
        </p:nvSpPr>
        <p:spPr>
          <a:xfrm>
            <a:off x="365760" y="1819656"/>
            <a:ext cx="502920" cy="411480"/>
          </a:xfrm>
          <a:prstGeom prst="rect">
            <a:avLst/>
          </a:prstGeom>
          <a:solidFill>
            <a:srgbClr val="626EFF"/>
          </a:solidFill>
          <a:ln w="12700">
            <a:solidFill>
              <a:srgbClr val="626EFF"/>
            </a:solidFill>
            <a:prstDash val="solid"/>
          </a:ln>
        </p:spPr>
        <p:txBody>
          <a:bodyPr/>
          <a:lstStyle/>
          <a:p>
            <a:endParaRPr lang="en-US"/>
          </a:p>
        </p:txBody>
      </p:sp>
      <p:sp>
        <p:nvSpPr>
          <p:cNvPr id="20" name="Text 18"/>
          <p:cNvSpPr/>
          <p:nvPr/>
        </p:nvSpPr>
        <p:spPr>
          <a:xfrm>
            <a:off x="365760" y="1819656"/>
            <a:ext cx="50292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9"/>
          <p:cNvSpPr/>
          <p:nvPr/>
        </p:nvSpPr>
        <p:spPr>
          <a:xfrm>
            <a:off x="960120" y="1837944"/>
            <a:ext cx="5303520" cy="219456"/>
          </a:xfrm>
          <a:prstGeom prst="rect">
            <a:avLst/>
          </a:prstGeom>
          <a:noFill/>
          <a:ln/>
        </p:spPr>
        <p:txBody>
          <a:bodyPr wrap="square" lIns="0" tIns="0" rIns="0" bIns="0" rtlCol="0" anchor="ctr"/>
          <a:lstStyle/>
          <a:p>
            <a:pPr marL="0" indent="0">
              <a:buNone/>
            </a:pPr>
            <a:r>
              <a:rPr lang="en-US" sz="1200" b="1" dirty="0">
                <a:solidFill>
                  <a:srgbClr val="211B41"/>
                </a:solidFill>
                <a:latin typeface="Calibri" pitchFamily="34" charset="0"/>
                <a:ea typeface="Calibri" pitchFamily="34" charset="-122"/>
                <a:cs typeface="Calibri" pitchFamily="34" charset="-120"/>
              </a:rPr>
              <a:t>The Frozen Chef</a:t>
            </a:r>
            <a:endParaRPr lang="en-US" sz="1200" dirty="0"/>
          </a:p>
        </p:txBody>
      </p:sp>
      <p:sp>
        <p:nvSpPr>
          <p:cNvPr id="22" name="Text 20"/>
          <p:cNvSpPr/>
          <p:nvPr/>
        </p:nvSpPr>
        <p:spPr>
          <a:xfrm>
            <a:off x="960120" y="2029968"/>
            <a:ext cx="5303520" cy="182880"/>
          </a:xfrm>
          <a:prstGeom prst="rect">
            <a:avLst/>
          </a:prstGeom>
          <a:noFill/>
          <a:ln/>
        </p:spPr>
        <p:txBody>
          <a:bodyPr wrap="square" lIns="0" tIns="0" rIns="0" bIns="0" rtlCol="0" anchor="ctr"/>
          <a:lstStyle/>
          <a:p>
            <a:pPr marL="0" indent="0">
              <a:buNone/>
            </a:pPr>
            <a:r>
              <a:rPr lang="en-US" sz="950" i="1" dirty="0">
                <a:solidFill>
                  <a:srgbClr val="4A7A82"/>
                </a:solidFill>
                <a:latin typeface="Calibri" pitchFamily="34" charset="0"/>
                <a:ea typeface="Calibri" pitchFamily="34" charset="-122"/>
                <a:cs typeface="Calibri" pitchFamily="34" charset="-120"/>
              </a:rPr>
              <a:t>Training, parameters, labelling, and teaching AI your stuff</a:t>
            </a:r>
            <a:endParaRPr lang="en-US" sz="950" dirty="0"/>
          </a:p>
        </p:txBody>
      </p:sp>
      <p:sp>
        <p:nvSpPr>
          <p:cNvPr id="23" name="Text 21"/>
          <p:cNvSpPr/>
          <p:nvPr/>
        </p:nvSpPr>
        <p:spPr>
          <a:xfrm>
            <a:off x="7772400" y="1819656"/>
            <a:ext cx="1005840" cy="411480"/>
          </a:xfrm>
          <a:prstGeom prst="rect">
            <a:avLst/>
          </a:prstGeom>
          <a:noFill/>
          <a:ln/>
        </p:spPr>
        <p:txBody>
          <a:bodyPr wrap="square" lIns="0" tIns="0" rIns="0" bIns="0" rtlCol="0" anchor="ctr"/>
          <a:lstStyle/>
          <a:p>
            <a:pPr marL="0" indent="0" algn="r">
              <a:buNone/>
            </a:pPr>
            <a:r>
              <a:rPr lang="en-US" sz="1000" dirty="0">
                <a:solidFill>
                  <a:srgbClr val="4A7A82"/>
                </a:solidFill>
                <a:latin typeface="Calibri" pitchFamily="34" charset="0"/>
                <a:ea typeface="Calibri" pitchFamily="34" charset="-122"/>
                <a:cs typeface="Calibri" pitchFamily="34" charset="-120"/>
              </a:rPr>
              <a:t>20 min</a:t>
            </a:r>
            <a:endParaRPr lang="en-US" sz="1000" dirty="0"/>
          </a:p>
        </p:txBody>
      </p:sp>
      <p:sp>
        <p:nvSpPr>
          <p:cNvPr id="24" name="Shape 22"/>
          <p:cNvSpPr/>
          <p:nvPr/>
        </p:nvSpPr>
        <p:spPr>
          <a:xfrm>
            <a:off x="365760" y="2272284"/>
            <a:ext cx="8412480" cy="411480"/>
          </a:xfrm>
          <a:prstGeom prst="rect">
            <a:avLst/>
          </a:prstGeom>
          <a:solidFill>
            <a:srgbClr val="F0B20D"/>
          </a:solidFill>
          <a:ln w="12700">
            <a:solidFill>
              <a:srgbClr val="F0B20D"/>
            </a:solidFill>
            <a:prstDash val="solid"/>
          </a:ln>
        </p:spPr>
        <p:txBody>
          <a:bodyPr/>
          <a:lstStyle/>
          <a:p>
            <a:endParaRPr lang="en-US"/>
          </a:p>
        </p:txBody>
      </p:sp>
      <p:sp>
        <p:nvSpPr>
          <p:cNvPr id="25" name="Shape 23"/>
          <p:cNvSpPr/>
          <p:nvPr/>
        </p:nvSpPr>
        <p:spPr>
          <a:xfrm>
            <a:off x="365760" y="2272284"/>
            <a:ext cx="502920" cy="411480"/>
          </a:xfrm>
          <a:prstGeom prst="rect">
            <a:avLst/>
          </a:prstGeom>
          <a:solidFill>
            <a:srgbClr val="211B41"/>
          </a:solidFill>
          <a:ln w="12700">
            <a:solidFill>
              <a:srgbClr val="211B41"/>
            </a:solidFill>
            <a:prstDash val="solid"/>
          </a:ln>
        </p:spPr>
        <p:txBody>
          <a:bodyPr/>
          <a:lstStyle/>
          <a:p>
            <a:endParaRPr lang="en-US"/>
          </a:p>
        </p:txBody>
      </p:sp>
      <p:sp>
        <p:nvSpPr>
          <p:cNvPr id="26" name="Text 24"/>
          <p:cNvSpPr/>
          <p:nvPr/>
        </p:nvSpPr>
        <p:spPr>
          <a:xfrm>
            <a:off x="365760" y="2272284"/>
            <a:ext cx="50292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7" name="Text 25"/>
          <p:cNvSpPr/>
          <p:nvPr/>
        </p:nvSpPr>
        <p:spPr>
          <a:xfrm>
            <a:off x="960120" y="2290572"/>
            <a:ext cx="5303520" cy="219456"/>
          </a:xfrm>
          <a:prstGeom prst="rect">
            <a:avLst/>
          </a:prstGeom>
          <a:noFill/>
          <a:ln/>
        </p:spPr>
        <p:txBody>
          <a:bodyPr wrap="square" lIns="0" tIns="0" rIns="0" bIns="0" rtlCol="0" anchor="ctr"/>
          <a:lstStyle/>
          <a:p>
            <a:pPr marL="0" indent="0">
              <a:buNone/>
            </a:pPr>
            <a:r>
              <a:rPr lang="en-US" sz="1200" b="1" dirty="0">
                <a:solidFill>
                  <a:srgbClr val="211B41"/>
                </a:solidFill>
                <a:latin typeface="Calibri" pitchFamily="34" charset="0"/>
                <a:ea typeface="Calibri" pitchFamily="34" charset="-122"/>
                <a:cs typeface="Calibri" pitchFamily="34" charset="-120"/>
              </a:rPr>
              <a:t>Coffee Break</a:t>
            </a:r>
            <a:endParaRPr lang="en-US" sz="1200" dirty="0"/>
          </a:p>
        </p:txBody>
      </p:sp>
      <p:sp>
        <p:nvSpPr>
          <p:cNvPr id="28" name="Text 26"/>
          <p:cNvSpPr/>
          <p:nvPr/>
        </p:nvSpPr>
        <p:spPr>
          <a:xfrm>
            <a:off x="960120" y="2482596"/>
            <a:ext cx="5303520" cy="182880"/>
          </a:xfrm>
          <a:prstGeom prst="rect">
            <a:avLst/>
          </a:prstGeom>
          <a:noFill/>
          <a:ln/>
        </p:spPr>
        <p:txBody>
          <a:bodyPr wrap="square" lIns="0" tIns="0" rIns="0" bIns="0" rtlCol="0" anchor="ctr"/>
          <a:lstStyle/>
          <a:p>
            <a:pPr marL="0" indent="0">
              <a:buNone/>
            </a:pPr>
            <a:r>
              <a:rPr lang="en-US" sz="950" i="1" dirty="0">
                <a:solidFill>
                  <a:srgbClr val="211B41"/>
                </a:solidFill>
                <a:latin typeface="Calibri" pitchFamily="34" charset="0"/>
                <a:ea typeface="Calibri" pitchFamily="34" charset="-122"/>
                <a:cs typeface="Calibri" pitchFamily="34" charset="-120"/>
              </a:rPr>
              <a:t>The AI will not be taking a break. But you should.</a:t>
            </a:r>
            <a:endParaRPr lang="en-US" sz="950" dirty="0"/>
          </a:p>
        </p:txBody>
      </p:sp>
      <p:sp>
        <p:nvSpPr>
          <p:cNvPr id="29" name="Text 27"/>
          <p:cNvSpPr/>
          <p:nvPr/>
        </p:nvSpPr>
        <p:spPr>
          <a:xfrm>
            <a:off x="7772400" y="2272284"/>
            <a:ext cx="1005840" cy="411480"/>
          </a:xfrm>
          <a:prstGeom prst="rect">
            <a:avLst/>
          </a:prstGeom>
          <a:noFill/>
          <a:ln/>
        </p:spPr>
        <p:txBody>
          <a:bodyPr wrap="square" lIns="0" tIns="0" rIns="0" bIns="0" rtlCol="0" anchor="ctr"/>
          <a:lstStyle/>
          <a:p>
            <a:pPr marL="0" indent="0" algn="r">
              <a:buNone/>
            </a:pPr>
            <a:r>
              <a:rPr lang="en-US" sz="1000" dirty="0">
                <a:solidFill>
                  <a:srgbClr val="211B41"/>
                </a:solidFill>
                <a:latin typeface="Calibri" pitchFamily="34" charset="0"/>
                <a:ea typeface="Calibri" pitchFamily="34" charset="-122"/>
                <a:cs typeface="Calibri" pitchFamily="34" charset="-120"/>
              </a:rPr>
              <a:t>15 min</a:t>
            </a:r>
            <a:endParaRPr lang="en-US" sz="1000" dirty="0"/>
          </a:p>
        </p:txBody>
      </p:sp>
      <p:sp>
        <p:nvSpPr>
          <p:cNvPr id="30" name="Shape 28"/>
          <p:cNvSpPr/>
          <p:nvPr/>
        </p:nvSpPr>
        <p:spPr>
          <a:xfrm>
            <a:off x="365760" y="2724912"/>
            <a:ext cx="8412480" cy="411480"/>
          </a:xfrm>
          <a:prstGeom prst="rect">
            <a:avLst/>
          </a:prstGeom>
          <a:solidFill>
            <a:srgbClr val="FFFFFF"/>
          </a:solidFill>
          <a:ln w="12700">
            <a:solidFill>
              <a:srgbClr val="FFFFFF"/>
            </a:solidFill>
            <a:prstDash val="solid"/>
          </a:ln>
        </p:spPr>
        <p:txBody>
          <a:bodyPr/>
          <a:lstStyle/>
          <a:p>
            <a:endParaRPr lang="en-US"/>
          </a:p>
        </p:txBody>
      </p:sp>
      <p:sp>
        <p:nvSpPr>
          <p:cNvPr id="31" name="Shape 29"/>
          <p:cNvSpPr/>
          <p:nvPr/>
        </p:nvSpPr>
        <p:spPr>
          <a:xfrm>
            <a:off x="365760" y="2724912"/>
            <a:ext cx="502920" cy="411480"/>
          </a:xfrm>
          <a:prstGeom prst="rect">
            <a:avLst/>
          </a:prstGeom>
          <a:solidFill>
            <a:srgbClr val="626EFF"/>
          </a:solidFill>
          <a:ln w="12700">
            <a:solidFill>
              <a:srgbClr val="626EFF"/>
            </a:solidFill>
            <a:prstDash val="solid"/>
          </a:ln>
        </p:spPr>
        <p:txBody>
          <a:bodyPr/>
          <a:lstStyle/>
          <a:p>
            <a:endParaRPr lang="en-US"/>
          </a:p>
        </p:txBody>
      </p:sp>
      <p:sp>
        <p:nvSpPr>
          <p:cNvPr id="32" name="Text 30"/>
          <p:cNvSpPr/>
          <p:nvPr/>
        </p:nvSpPr>
        <p:spPr>
          <a:xfrm>
            <a:off x="365760" y="2724912"/>
            <a:ext cx="50292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3" name="Text 31"/>
          <p:cNvSpPr/>
          <p:nvPr/>
        </p:nvSpPr>
        <p:spPr>
          <a:xfrm>
            <a:off x="960120" y="2743200"/>
            <a:ext cx="5303520" cy="219456"/>
          </a:xfrm>
          <a:prstGeom prst="rect">
            <a:avLst/>
          </a:prstGeom>
          <a:noFill/>
          <a:ln/>
        </p:spPr>
        <p:txBody>
          <a:bodyPr wrap="square" lIns="0" tIns="0" rIns="0" bIns="0" rtlCol="0" anchor="ctr"/>
          <a:lstStyle/>
          <a:p>
            <a:pPr marL="0" indent="0">
              <a:buNone/>
            </a:pPr>
            <a:r>
              <a:rPr lang="en-US" sz="1200" b="1" dirty="0">
                <a:solidFill>
                  <a:srgbClr val="211B41"/>
                </a:solidFill>
                <a:latin typeface="Calibri" pitchFamily="34" charset="0"/>
                <a:ea typeface="Calibri" pitchFamily="34" charset="-122"/>
                <a:cs typeface="Calibri" pitchFamily="34" charset="-120"/>
              </a:rPr>
              <a:t>What AI Knows (&amp; How to Add More)</a:t>
            </a:r>
            <a:endParaRPr lang="en-US" sz="1200" dirty="0"/>
          </a:p>
        </p:txBody>
      </p:sp>
      <p:sp>
        <p:nvSpPr>
          <p:cNvPr id="34" name="Text 32"/>
          <p:cNvSpPr/>
          <p:nvPr/>
        </p:nvSpPr>
        <p:spPr>
          <a:xfrm>
            <a:off x="960120" y="2935224"/>
            <a:ext cx="5303520" cy="182880"/>
          </a:xfrm>
          <a:prstGeom prst="rect">
            <a:avLst/>
          </a:prstGeom>
          <a:noFill/>
          <a:ln/>
        </p:spPr>
        <p:txBody>
          <a:bodyPr wrap="square" lIns="0" tIns="0" rIns="0" bIns="0" rtlCol="0" anchor="ctr"/>
          <a:lstStyle/>
          <a:p>
            <a:pPr marL="0" indent="0">
              <a:buNone/>
            </a:pPr>
            <a:r>
              <a:rPr lang="en-US" sz="950" i="1" dirty="0">
                <a:solidFill>
                  <a:srgbClr val="4A7A82"/>
                </a:solidFill>
                <a:latin typeface="Calibri" pitchFamily="34" charset="0"/>
                <a:ea typeface="Calibri" pitchFamily="34" charset="-122"/>
                <a:cs typeface="Calibri" pitchFamily="34" charset="-120"/>
              </a:rPr>
              <a:t>RAG, tools, embeddings, fine-tuning</a:t>
            </a:r>
            <a:endParaRPr lang="en-US" sz="950" dirty="0"/>
          </a:p>
        </p:txBody>
      </p:sp>
      <p:sp>
        <p:nvSpPr>
          <p:cNvPr id="35" name="Text 33"/>
          <p:cNvSpPr/>
          <p:nvPr/>
        </p:nvSpPr>
        <p:spPr>
          <a:xfrm>
            <a:off x="7772400" y="2724912"/>
            <a:ext cx="1005840" cy="411480"/>
          </a:xfrm>
          <a:prstGeom prst="rect">
            <a:avLst/>
          </a:prstGeom>
          <a:noFill/>
          <a:ln/>
        </p:spPr>
        <p:txBody>
          <a:bodyPr wrap="square" lIns="0" tIns="0" rIns="0" bIns="0" rtlCol="0" anchor="ctr"/>
          <a:lstStyle/>
          <a:p>
            <a:pPr marL="0" indent="0" algn="r">
              <a:buNone/>
            </a:pPr>
            <a:r>
              <a:rPr lang="en-US" sz="1000" dirty="0">
                <a:solidFill>
                  <a:srgbClr val="4A7A82"/>
                </a:solidFill>
                <a:latin typeface="Calibri" pitchFamily="34" charset="0"/>
                <a:ea typeface="Calibri" pitchFamily="34" charset="-122"/>
                <a:cs typeface="Calibri" pitchFamily="34" charset="-120"/>
              </a:rPr>
              <a:t>25 min</a:t>
            </a:r>
            <a:endParaRPr lang="en-US" sz="1000" dirty="0"/>
          </a:p>
        </p:txBody>
      </p:sp>
      <p:sp>
        <p:nvSpPr>
          <p:cNvPr id="36" name="Shape 34"/>
          <p:cNvSpPr/>
          <p:nvPr/>
        </p:nvSpPr>
        <p:spPr>
          <a:xfrm>
            <a:off x="365760" y="3177540"/>
            <a:ext cx="8412480" cy="411480"/>
          </a:xfrm>
          <a:prstGeom prst="rect">
            <a:avLst/>
          </a:prstGeom>
          <a:solidFill>
            <a:srgbClr val="F8F9F4"/>
          </a:solidFill>
          <a:ln w="12700">
            <a:solidFill>
              <a:srgbClr val="F8F9F4"/>
            </a:solidFill>
            <a:prstDash val="solid"/>
          </a:ln>
        </p:spPr>
        <p:txBody>
          <a:bodyPr/>
          <a:lstStyle/>
          <a:p>
            <a:endParaRPr lang="en-US"/>
          </a:p>
        </p:txBody>
      </p:sp>
      <p:sp>
        <p:nvSpPr>
          <p:cNvPr id="37" name="Shape 35"/>
          <p:cNvSpPr/>
          <p:nvPr/>
        </p:nvSpPr>
        <p:spPr>
          <a:xfrm>
            <a:off x="365760" y="3177540"/>
            <a:ext cx="502920" cy="411480"/>
          </a:xfrm>
          <a:prstGeom prst="rect">
            <a:avLst/>
          </a:prstGeom>
          <a:solidFill>
            <a:srgbClr val="626EFF"/>
          </a:solidFill>
          <a:ln w="12700">
            <a:solidFill>
              <a:srgbClr val="626EFF"/>
            </a:solidFill>
            <a:prstDash val="solid"/>
          </a:ln>
        </p:spPr>
        <p:txBody>
          <a:bodyPr/>
          <a:lstStyle/>
          <a:p>
            <a:endParaRPr lang="en-US"/>
          </a:p>
        </p:txBody>
      </p:sp>
      <p:sp>
        <p:nvSpPr>
          <p:cNvPr id="38" name="Text 36"/>
          <p:cNvSpPr/>
          <p:nvPr/>
        </p:nvSpPr>
        <p:spPr>
          <a:xfrm>
            <a:off x="365760" y="3177540"/>
            <a:ext cx="50292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9" name="Text 37"/>
          <p:cNvSpPr/>
          <p:nvPr/>
        </p:nvSpPr>
        <p:spPr>
          <a:xfrm>
            <a:off x="960120" y="3195828"/>
            <a:ext cx="5303520" cy="219456"/>
          </a:xfrm>
          <a:prstGeom prst="rect">
            <a:avLst/>
          </a:prstGeom>
          <a:noFill/>
          <a:ln/>
        </p:spPr>
        <p:txBody>
          <a:bodyPr wrap="square" lIns="0" tIns="0" rIns="0" bIns="0" rtlCol="0" anchor="ctr"/>
          <a:lstStyle/>
          <a:p>
            <a:pPr marL="0" indent="0">
              <a:buNone/>
            </a:pPr>
            <a:r>
              <a:rPr lang="en-US" sz="1200" b="1" dirty="0">
                <a:solidFill>
                  <a:srgbClr val="211B41"/>
                </a:solidFill>
                <a:latin typeface="Calibri" pitchFamily="34" charset="0"/>
                <a:ea typeface="Calibri" pitchFamily="34" charset="-122"/>
                <a:cs typeface="Calibri" pitchFamily="34" charset="-120"/>
              </a:rPr>
              <a:t>Why AI Lies to Your Face</a:t>
            </a:r>
            <a:endParaRPr lang="en-US" sz="1200" dirty="0"/>
          </a:p>
        </p:txBody>
      </p:sp>
      <p:sp>
        <p:nvSpPr>
          <p:cNvPr id="40" name="Text 38"/>
          <p:cNvSpPr/>
          <p:nvPr/>
        </p:nvSpPr>
        <p:spPr>
          <a:xfrm>
            <a:off x="960120" y="3387852"/>
            <a:ext cx="5303520" cy="182880"/>
          </a:xfrm>
          <a:prstGeom prst="rect">
            <a:avLst/>
          </a:prstGeom>
          <a:noFill/>
          <a:ln/>
        </p:spPr>
        <p:txBody>
          <a:bodyPr wrap="square" lIns="0" tIns="0" rIns="0" bIns="0" rtlCol="0" anchor="ctr"/>
          <a:lstStyle/>
          <a:p>
            <a:pPr marL="0" indent="0">
              <a:buNone/>
            </a:pPr>
            <a:r>
              <a:rPr lang="en-US" sz="950" i="1" dirty="0">
                <a:solidFill>
                  <a:srgbClr val="4A7A82"/>
                </a:solidFill>
                <a:latin typeface="Calibri" pitchFamily="34" charset="0"/>
                <a:ea typeface="Calibri" pitchFamily="34" charset="-122"/>
                <a:cs typeface="Calibri" pitchFamily="34" charset="-120"/>
              </a:rPr>
              <a:t>Hallucinations, the split brain, and how to prevent it</a:t>
            </a:r>
            <a:endParaRPr lang="en-US" sz="950" dirty="0"/>
          </a:p>
        </p:txBody>
      </p:sp>
      <p:sp>
        <p:nvSpPr>
          <p:cNvPr id="41" name="Text 39"/>
          <p:cNvSpPr/>
          <p:nvPr/>
        </p:nvSpPr>
        <p:spPr>
          <a:xfrm>
            <a:off x="7772400" y="3177540"/>
            <a:ext cx="1005840" cy="411480"/>
          </a:xfrm>
          <a:prstGeom prst="rect">
            <a:avLst/>
          </a:prstGeom>
          <a:noFill/>
          <a:ln/>
        </p:spPr>
        <p:txBody>
          <a:bodyPr wrap="square" lIns="0" tIns="0" rIns="0" bIns="0" rtlCol="0" anchor="ctr"/>
          <a:lstStyle/>
          <a:p>
            <a:pPr marL="0" indent="0" algn="r">
              <a:buNone/>
            </a:pPr>
            <a:r>
              <a:rPr lang="en-US" sz="1000" dirty="0">
                <a:solidFill>
                  <a:srgbClr val="4A7A82"/>
                </a:solidFill>
                <a:latin typeface="Calibri" pitchFamily="34" charset="0"/>
                <a:ea typeface="Calibri" pitchFamily="34" charset="-122"/>
                <a:cs typeface="Calibri" pitchFamily="34" charset="-120"/>
              </a:rPr>
              <a:t>15 min</a:t>
            </a:r>
            <a:endParaRPr lang="en-US" sz="1000" dirty="0"/>
          </a:p>
        </p:txBody>
      </p:sp>
      <p:sp>
        <p:nvSpPr>
          <p:cNvPr id="42" name="Shape 40"/>
          <p:cNvSpPr/>
          <p:nvPr/>
        </p:nvSpPr>
        <p:spPr>
          <a:xfrm>
            <a:off x="365760" y="3630168"/>
            <a:ext cx="8412480" cy="411480"/>
          </a:xfrm>
          <a:prstGeom prst="rect">
            <a:avLst/>
          </a:prstGeom>
          <a:solidFill>
            <a:srgbClr val="FFFFFF"/>
          </a:solidFill>
          <a:ln w="12700">
            <a:solidFill>
              <a:srgbClr val="FFFFFF"/>
            </a:solidFill>
            <a:prstDash val="solid"/>
          </a:ln>
        </p:spPr>
        <p:txBody>
          <a:bodyPr/>
          <a:lstStyle/>
          <a:p>
            <a:endParaRPr lang="en-US"/>
          </a:p>
        </p:txBody>
      </p:sp>
      <p:sp>
        <p:nvSpPr>
          <p:cNvPr id="43" name="Shape 41"/>
          <p:cNvSpPr/>
          <p:nvPr/>
        </p:nvSpPr>
        <p:spPr>
          <a:xfrm>
            <a:off x="365760" y="3630168"/>
            <a:ext cx="502920" cy="411480"/>
          </a:xfrm>
          <a:prstGeom prst="rect">
            <a:avLst/>
          </a:prstGeom>
          <a:solidFill>
            <a:srgbClr val="626EFF"/>
          </a:solidFill>
          <a:ln w="12700">
            <a:solidFill>
              <a:srgbClr val="626EFF"/>
            </a:solidFill>
            <a:prstDash val="solid"/>
          </a:ln>
        </p:spPr>
        <p:txBody>
          <a:bodyPr/>
          <a:lstStyle/>
          <a:p>
            <a:endParaRPr lang="en-US"/>
          </a:p>
        </p:txBody>
      </p:sp>
      <p:sp>
        <p:nvSpPr>
          <p:cNvPr id="44" name="Text 42"/>
          <p:cNvSpPr/>
          <p:nvPr/>
        </p:nvSpPr>
        <p:spPr>
          <a:xfrm>
            <a:off x="365760" y="3630168"/>
            <a:ext cx="50292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5" name="Text 43"/>
          <p:cNvSpPr/>
          <p:nvPr/>
        </p:nvSpPr>
        <p:spPr>
          <a:xfrm>
            <a:off x="960120" y="3648456"/>
            <a:ext cx="5303520" cy="219456"/>
          </a:xfrm>
          <a:prstGeom prst="rect">
            <a:avLst/>
          </a:prstGeom>
          <a:noFill/>
          <a:ln/>
        </p:spPr>
        <p:txBody>
          <a:bodyPr wrap="square" lIns="0" tIns="0" rIns="0" bIns="0" rtlCol="0" anchor="ctr"/>
          <a:lstStyle/>
          <a:p>
            <a:pPr marL="0" indent="0">
              <a:buNone/>
            </a:pPr>
            <a:r>
              <a:rPr lang="en-US" sz="1200" b="1" dirty="0">
                <a:solidFill>
                  <a:srgbClr val="211B41"/>
                </a:solidFill>
                <a:latin typeface="Calibri" pitchFamily="34" charset="0"/>
                <a:ea typeface="Calibri" pitchFamily="34" charset="-122"/>
                <a:cs typeface="Calibri" pitchFamily="34" charset="-120"/>
              </a:rPr>
              <a:t>Talking to AI Like a Pro</a:t>
            </a:r>
            <a:endParaRPr lang="en-US" sz="1200" dirty="0"/>
          </a:p>
        </p:txBody>
      </p:sp>
      <p:sp>
        <p:nvSpPr>
          <p:cNvPr id="46" name="Text 44"/>
          <p:cNvSpPr/>
          <p:nvPr/>
        </p:nvSpPr>
        <p:spPr>
          <a:xfrm>
            <a:off x="960120" y="3840480"/>
            <a:ext cx="5303520" cy="182880"/>
          </a:xfrm>
          <a:prstGeom prst="rect">
            <a:avLst/>
          </a:prstGeom>
          <a:noFill/>
          <a:ln/>
        </p:spPr>
        <p:txBody>
          <a:bodyPr wrap="square" lIns="0" tIns="0" rIns="0" bIns="0" rtlCol="0" anchor="ctr"/>
          <a:lstStyle/>
          <a:p>
            <a:pPr marL="0" indent="0">
              <a:buNone/>
            </a:pPr>
            <a:r>
              <a:rPr lang="en-US" sz="950" i="1" dirty="0">
                <a:solidFill>
                  <a:srgbClr val="4A7A82"/>
                </a:solidFill>
                <a:latin typeface="Calibri" pitchFamily="34" charset="0"/>
                <a:ea typeface="Calibri" pitchFamily="34" charset="-122"/>
                <a:cs typeface="Calibri" pitchFamily="34" charset="-120"/>
              </a:rPr>
              <a:t>Prompt &amp; context engineering, iterative improvement</a:t>
            </a:r>
            <a:endParaRPr lang="en-US" sz="950" dirty="0"/>
          </a:p>
        </p:txBody>
      </p:sp>
      <p:sp>
        <p:nvSpPr>
          <p:cNvPr id="47" name="Text 45"/>
          <p:cNvSpPr/>
          <p:nvPr/>
        </p:nvSpPr>
        <p:spPr>
          <a:xfrm>
            <a:off x="7772400" y="3630168"/>
            <a:ext cx="1005840" cy="411480"/>
          </a:xfrm>
          <a:prstGeom prst="rect">
            <a:avLst/>
          </a:prstGeom>
          <a:noFill/>
          <a:ln/>
        </p:spPr>
        <p:txBody>
          <a:bodyPr wrap="square" lIns="0" tIns="0" rIns="0" bIns="0" rtlCol="0" anchor="ctr"/>
          <a:lstStyle/>
          <a:p>
            <a:pPr marL="0" indent="0" algn="r">
              <a:buNone/>
            </a:pPr>
            <a:r>
              <a:rPr lang="en-US" sz="1000" dirty="0">
                <a:solidFill>
                  <a:srgbClr val="4A7A82"/>
                </a:solidFill>
                <a:latin typeface="Calibri" pitchFamily="34" charset="0"/>
                <a:ea typeface="Calibri" pitchFamily="34" charset="-122"/>
                <a:cs typeface="Calibri" pitchFamily="34" charset="-120"/>
              </a:rPr>
              <a:t>25 min</a:t>
            </a:r>
            <a:endParaRPr lang="en-US" sz="1000" dirty="0"/>
          </a:p>
        </p:txBody>
      </p:sp>
      <p:sp>
        <p:nvSpPr>
          <p:cNvPr id="48" name="Shape 46"/>
          <p:cNvSpPr/>
          <p:nvPr/>
        </p:nvSpPr>
        <p:spPr>
          <a:xfrm>
            <a:off x="365760" y="4082796"/>
            <a:ext cx="8412480" cy="411480"/>
          </a:xfrm>
          <a:prstGeom prst="rect">
            <a:avLst/>
          </a:prstGeom>
          <a:solidFill>
            <a:srgbClr val="F8F9F4"/>
          </a:solidFill>
          <a:ln w="12700">
            <a:solidFill>
              <a:srgbClr val="F8F9F4"/>
            </a:solidFill>
            <a:prstDash val="solid"/>
          </a:ln>
        </p:spPr>
        <p:txBody>
          <a:bodyPr/>
          <a:lstStyle/>
          <a:p>
            <a:endParaRPr lang="en-US"/>
          </a:p>
        </p:txBody>
      </p:sp>
      <p:sp>
        <p:nvSpPr>
          <p:cNvPr id="49" name="Shape 47"/>
          <p:cNvSpPr/>
          <p:nvPr/>
        </p:nvSpPr>
        <p:spPr>
          <a:xfrm>
            <a:off x="365760" y="4082796"/>
            <a:ext cx="502920" cy="411480"/>
          </a:xfrm>
          <a:prstGeom prst="rect">
            <a:avLst/>
          </a:prstGeom>
          <a:solidFill>
            <a:srgbClr val="626EFF"/>
          </a:solidFill>
          <a:ln w="12700">
            <a:solidFill>
              <a:srgbClr val="626EFF"/>
            </a:solidFill>
            <a:prstDash val="solid"/>
          </a:ln>
        </p:spPr>
        <p:txBody>
          <a:bodyPr/>
          <a:lstStyle/>
          <a:p>
            <a:endParaRPr lang="en-US"/>
          </a:p>
        </p:txBody>
      </p:sp>
      <p:sp>
        <p:nvSpPr>
          <p:cNvPr id="50" name="Text 48"/>
          <p:cNvSpPr/>
          <p:nvPr/>
        </p:nvSpPr>
        <p:spPr>
          <a:xfrm>
            <a:off x="365760" y="4082796"/>
            <a:ext cx="50292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51" name="Text 49"/>
          <p:cNvSpPr/>
          <p:nvPr/>
        </p:nvSpPr>
        <p:spPr>
          <a:xfrm>
            <a:off x="960120" y="4101084"/>
            <a:ext cx="5303520" cy="219456"/>
          </a:xfrm>
          <a:prstGeom prst="rect">
            <a:avLst/>
          </a:prstGeom>
          <a:noFill/>
          <a:ln/>
        </p:spPr>
        <p:txBody>
          <a:bodyPr wrap="square" lIns="0" tIns="0" rIns="0" bIns="0" rtlCol="0" anchor="ctr"/>
          <a:lstStyle/>
          <a:p>
            <a:pPr marL="0" indent="0">
              <a:buNone/>
            </a:pPr>
            <a:r>
              <a:rPr lang="en-US" sz="1200" b="1" dirty="0">
                <a:solidFill>
                  <a:srgbClr val="211B41"/>
                </a:solidFill>
                <a:latin typeface="Calibri" pitchFamily="34" charset="0"/>
                <a:ea typeface="Calibri" pitchFamily="34" charset="-122"/>
                <a:cs typeface="Calibri" pitchFamily="34" charset="-120"/>
              </a:rPr>
              <a:t>AI That Does Things</a:t>
            </a:r>
            <a:endParaRPr lang="en-US" sz="1200" dirty="0"/>
          </a:p>
        </p:txBody>
      </p:sp>
      <p:sp>
        <p:nvSpPr>
          <p:cNvPr id="52" name="Text 50"/>
          <p:cNvSpPr/>
          <p:nvPr/>
        </p:nvSpPr>
        <p:spPr>
          <a:xfrm>
            <a:off x="960120" y="4293108"/>
            <a:ext cx="5303520" cy="182880"/>
          </a:xfrm>
          <a:prstGeom prst="rect">
            <a:avLst/>
          </a:prstGeom>
          <a:noFill/>
          <a:ln/>
        </p:spPr>
        <p:txBody>
          <a:bodyPr wrap="square" lIns="0" tIns="0" rIns="0" bIns="0" rtlCol="0" anchor="ctr"/>
          <a:lstStyle/>
          <a:p>
            <a:pPr marL="0" indent="0">
              <a:buNone/>
            </a:pPr>
            <a:r>
              <a:rPr lang="en-US" sz="950" i="1" dirty="0">
                <a:solidFill>
                  <a:srgbClr val="4A7A82"/>
                </a:solidFill>
                <a:latin typeface="Calibri" pitchFamily="34" charset="0"/>
                <a:ea typeface="Calibri" pitchFamily="34" charset="-122"/>
                <a:cs typeface="Calibri" pitchFamily="34" charset="-120"/>
              </a:rPr>
              <a:t>Agents, MCP, skills — AI that acts, not just answers</a:t>
            </a:r>
            <a:endParaRPr lang="en-US" sz="950" dirty="0"/>
          </a:p>
        </p:txBody>
      </p:sp>
      <p:sp>
        <p:nvSpPr>
          <p:cNvPr id="53" name="Text 51"/>
          <p:cNvSpPr/>
          <p:nvPr/>
        </p:nvSpPr>
        <p:spPr>
          <a:xfrm>
            <a:off x="7772400" y="4082796"/>
            <a:ext cx="1005840" cy="411480"/>
          </a:xfrm>
          <a:prstGeom prst="rect">
            <a:avLst/>
          </a:prstGeom>
          <a:noFill/>
          <a:ln/>
        </p:spPr>
        <p:txBody>
          <a:bodyPr wrap="square" lIns="0" tIns="0" rIns="0" bIns="0" rtlCol="0" anchor="ctr"/>
          <a:lstStyle/>
          <a:p>
            <a:pPr marL="0" indent="0" algn="r">
              <a:buNone/>
            </a:pPr>
            <a:r>
              <a:rPr lang="en-US" sz="1000" dirty="0">
                <a:solidFill>
                  <a:srgbClr val="4A7A82"/>
                </a:solidFill>
                <a:latin typeface="Calibri" pitchFamily="34" charset="0"/>
                <a:ea typeface="Calibri" pitchFamily="34" charset="-122"/>
                <a:cs typeface="Calibri" pitchFamily="34" charset="-120"/>
              </a:rPr>
              <a:t>20 min</a:t>
            </a:r>
            <a:endParaRPr lang="en-US" sz="1000" dirty="0"/>
          </a:p>
        </p:txBody>
      </p:sp>
      <p:sp>
        <p:nvSpPr>
          <p:cNvPr id="54" name="Shape 52"/>
          <p:cNvSpPr/>
          <p:nvPr/>
        </p:nvSpPr>
        <p:spPr>
          <a:xfrm>
            <a:off x="365760" y="4535424"/>
            <a:ext cx="8412480" cy="411480"/>
          </a:xfrm>
          <a:prstGeom prst="rect">
            <a:avLst/>
          </a:prstGeom>
          <a:solidFill>
            <a:srgbClr val="FFFFFF"/>
          </a:solidFill>
          <a:ln w="12700">
            <a:solidFill>
              <a:srgbClr val="FFFFFF"/>
            </a:solidFill>
            <a:prstDash val="solid"/>
          </a:ln>
        </p:spPr>
        <p:txBody>
          <a:bodyPr/>
          <a:lstStyle/>
          <a:p>
            <a:endParaRPr lang="en-US"/>
          </a:p>
        </p:txBody>
      </p:sp>
      <p:sp>
        <p:nvSpPr>
          <p:cNvPr id="55" name="Shape 53"/>
          <p:cNvSpPr/>
          <p:nvPr/>
        </p:nvSpPr>
        <p:spPr>
          <a:xfrm>
            <a:off x="365760" y="4535424"/>
            <a:ext cx="502920" cy="411480"/>
          </a:xfrm>
          <a:prstGeom prst="rect">
            <a:avLst/>
          </a:prstGeom>
          <a:solidFill>
            <a:srgbClr val="626EFF"/>
          </a:solidFill>
          <a:ln w="12700">
            <a:solidFill>
              <a:srgbClr val="626EFF"/>
            </a:solidFill>
            <a:prstDash val="solid"/>
          </a:ln>
        </p:spPr>
        <p:txBody>
          <a:bodyPr/>
          <a:lstStyle/>
          <a:p>
            <a:endParaRPr lang="en-US"/>
          </a:p>
        </p:txBody>
      </p:sp>
      <p:sp>
        <p:nvSpPr>
          <p:cNvPr id="56" name="Text 54"/>
          <p:cNvSpPr/>
          <p:nvPr/>
        </p:nvSpPr>
        <p:spPr>
          <a:xfrm>
            <a:off x="365760" y="4535424"/>
            <a:ext cx="50292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57" name="Text 55"/>
          <p:cNvSpPr/>
          <p:nvPr/>
        </p:nvSpPr>
        <p:spPr>
          <a:xfrm>
            <a:off x="960120" y="4553712"/>
            <a:ext cx="5303520" cy="219456"/>
          </a:xfrm>
          <a:prstGeom prst="rect">
            <a:avLst/>
          </a:prstGeom>
          <a:noFill/>
          <a:ln/>
        </p:spPr>
        <p:txBody>
          <a:bodyPr wrap="square" lIns="0" tIns="0" rIns="0" bIns="0" rtlCol="0" anchor="ctr"/>
          <a:lstStyle/>
          <a:p>
            <a:pPr marL="0" indent="0">
              <a:buNone/>
            </a:pPr>
            <a:r>
              <a:rPr lang="en-US" sz="1200" b="1" dirty="0">
                <a:solidFill>
                  <a:srgbClr val="211B41"/>
                </a:solidFill>
                <a:latin typeface="Calibri" pitchFamily="34" charset="0"/>
                <a:ea typeface="Calibri" pitchFamily="34" charset="-122"/>
                <a:cs typeface="Calibri" pitchFamily="34" charset="-120"/>
              </a:rPr>
              <a:t>The Big Picture</a:t>
            </a:r>
            <a:endParaRPr lang="en-US" sz="1200" dirty="0"/>
          </a:p>
        </p:txBody>
      </p:sp>
      <p:sp>
        <p:nvSpPr>
          <p:cNvPr id="58" name="Text 56"/>
          <p:cNvSpPr/>
          <p:nvPr/>
        </p:nvSpPr>
        <p:spPr>
          <a:xfrm>
            <a:off x="960120" y="4745736"/>
            <a:ext cx="5303520" cy="182880"/>
          </a:xfrm>
          <a:prstGeom prst="rect">
            <a:avLst/>
          </a:prstGeom>
          <a:noFill/>
          <a:ln/>
        </p:spPr>
        <p:txBody>
          <a:bodyPr wrap="square" lIns="0" tIns="0" rIns="0" bIns="0" rtlCol="0" anchor="ctr"/>
          <a:lstStyle/>
          <a:p>
            <a:pPr marL="0" indent="0">
              <a:buNone/>
            </a:pPr>
            <a:r>
              <a:rPr lang="en-US" sz="950" i="1" dirty="0">
                <a:solidFill>
                  <a:srgbClr val="4A7A82"/>
                </a:solidFill>
                <a:latin typeface="Calibri" pitchFamily="34" charset="0"/>
                <a:ea typeface="Calibri" pitchFamily="34" charset="-122"/>
                <a:cs typeface="Calibri" pitchFamily="34" charset="-120"/>
              </a:rPr>
              <a:t>Where we are, where we're going, and what stays human</a:t>
            </a:r>
            <a:endParaRPr lang="en-US" sz="950" dirty="0"/>
          </a:p>
        </p:txBody>
      </p:sp>
      <p:sp>
        <p:nvSpPr>
          <p:cNvPr id="59" name="Text 57"/>
          <p:cNvSpPr/>
          <p:nvPr/>
        </p:nvSpPr>
        <p:spPr>
          <a:xfrm>
            <a:off x="7772400" y="4535424"/>
            <a:ext cx="1005840" cy="411480"/>
          </a:xfrm>
          <a:prstGeom prst="rect">
            <a:avLst/>
          </a:prstGeom>
          <a:noFill/>
          <a:ln/>
        </p:spPr>
        <p:txBody>
          <a:bodyPr wrap="square" lIns="0" tIns="0" rIns="0" bIns="0" rtlCol="0" anchor="ctr"/>
          <a:lstStyle/>
          <a:p>
            <a:pPr marL="0" indent="0" algn="r">
              <a:buNone/>
            </a:pPr>
            <a:r>
              <a:rPr lang="en-US" sz="1000" dirty="0">
                <a:solidFill>
                  <a:srgbClr val="4A7A82"/>
                </a:solidFill>
                <a:latin typeface="Calibri" pitchFamily="34" charset="0"/>
                <a:ea typeface="Calibri" pitchFamily="34" charset="-122"/>
                <a:cs typeface="Calibri" pitchFamily="34" charset="-120"/>
              </a:rPr>
              <a:t>10 min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11B41"/>
        </a:solidFill>
        <a:effectLst/>
      </p:bgPr>
    </p:bg>
    <p:spTree>
      <p:nvGrpSpPr>
        <p:cNvPr id="1" name=""/>
        <p:cNvGrpSpPr/>
        <p:nvPr/>
      </p:nvGrpSpPr>
      <p:grpSpPr>
        <a:xfrm>
          <a:off x="0" y="0"/>
          <a:ext cx="0" cy="0"/>
          <a:chOff x="0" y="0"/>
          <a:chExt cx="0" cy="0"/>
        </a:xfrm>
      </p:grpSpPr>
      <p:sp>
        <p:nvSpPr>
          <p:cNvPr id="2" name="Text 0"/>
          <p:cNvSpPr/>
          <p:nvPr/>
        </p:nvSpPr>
        <p:spPr>
          <a:xfrm>
            <a:off x="5943600" y="-365760"/>
            <a:ext cx="3474720" cy="4572000"/>
          </a:xfrm>
          <a:prstGeom prst="rect">
            <a:avLst/>
          </a:prstGeom>
          <a:noFill/>
          <a:ln/>
        </p:spPr>
        <p:txBody>
          <a:bodyPr wrap="square" lIns="0" tIns="0" rIns="0" bIns="0" rtlCol="0" anchor="ctr"/>
          <a:lstStyle/>
          <a:p>
            <a:pPr marL="0" indent="0" algn="r">
              <a:buNone/>
            </a:pPr>
            <a:r>
              <a:rPr lang="en-US" sz="32000" b="1" dirty="0">
                <a:solidFill>
                  <a:srgbClr val="2E2458"/>
                </a:solidFill>
                <a:latin typeface="Georgia" pitchFamily="34" charset="0"/>
                <a:ea typeface="Georgia" pitchFamily="34" charset="-122"/>
                <a:cs typeface="Georgia" pitchFamily="34" charset="-120"/>
              </a:rPr>
              <a:t>1</a:t>
            </a:r>
            <a:endParaRPr lang="en-US" sz="32000" dirty="0"/>
          </a:p>
        </p:txBody>
      </p:sp>
      <p:sp>
        <p:nvSpPr>
          <p:cNvPr id="3" name="Shape 1"/>
          <p:cNvSpPr/>
          <p:nvPr/>
        </p:nvSpPr>
        <p:spPr>
          <a:xfrm>
            <a:off x="0" y="0"/>
            <a:ext cx="109728" cy="5143500"/>
          </a:xfrm>
          <a:prstGeom prst="rect">
            <a:avLst/>
          </a:prstGeom>
          <a:solidFill>
            <a:srgbClr val="626EFF"/>
          </a:solidFill>
          <a:ln w="12700">
            <a:solidFill>
              <a:srgbClr val="626EFF"/>
            </a:solidFill>
            <a:prstDash val="solid"/>
          </a:ln>
        </p:spPr>
        <p:txBody>
          <a:bodyPr/>
          <a:lstStyle/>
          <a:p>
            <a:endParaRPr lang="en-US"/>
          </a:p>
        </p:txBody>
      </p:sp>
      <p:sp>
        <p:nvSpPr>
          <p:cNvPr id="4" name="Text 2"/>
          <p:cNvSpPr/>
          <p:nvPr/>
        </p:nvSpPr>
        <p:spPr>
          <a:xfrm>
            <a:off x="320040" y="1280160"/>
            <a:ext cx="5486400" cy="411480"/>
          </a:xfrm>
          <a:prstGeom prst="rect">
            <a:avLst/>
          </a:prstGeom>
          <a:noFill/>
          <a:ln/>
        </p:spPr>
        <p:txBody>
          <a:bodyPr wrap="square" lIns="0" tIns="0" rIns="0" bIns="0" rtlCol="0" anchor="ctr"/>
          <a:lstStyle/>
          <a:p>
            <a:pPr marL="0" indent="0">
              <a:buNone/>
            </a:pPr>
            <a:r>
              <a:rPr lang="en-US" sz="1300" b="1" kern="0" spc="400" dirty="0">
                <a:solidFill>
                  <a:srgbClr val="F0B20D"/>
                </a:solidFill>
                <a:latin typeface="Calibri" pitchFamily="34" charset="0"/>
                <a:ea typeface="Calibri" pitchFamily="34" charset="-122"/>
                <a:cs typeface="Calibri" pitchFamily="34" charset="-120"/>
              </a:rPr>
              <a:t>MODULE 1</a:t>
            </a:r>
            <a:endParaRPr lang="en-US" sz="1300" dirty="0"/>
          </a:p>
        </p:txBody>
      </p:sp>
      <p:sp>
        <p:nvSpPr>
          <p:cNvPr id="5" name="Text 3"/>
          <p:cNvSpPr/>
          <p:nvPr/>
        </p:nvSpPr>
        <p:spPr>
          <a:xfrm>
            <a:off x="320040" y="1737360"/>
            <a:ext cx="6858000" cy="1645920"/>
          </a:xfrm>
          <a:prstGeom prst="rect">
            <a:avLst/>
          </a:prstGeom>
          <a:noFill/>
          <a:ln/>
        </p:spPr>
        <p:txBody>
          <a:bodyPr wrap="square" lIns="0" tIns="0" rIns="0" bIns="0" rtlCol="0" anchor="ctr"/>
          <a:lstStyle/>
          <a:p>
            <a:pPr marL="0" indent="0">
              <a:buNone/>
            </a:pPr>
            <a:r>
              <a:rPr lang="en-US" sz="4200" b="1" dirty="0">
                <a:solidFill>
                  <a:srgbClr val="FFFFFF"/>
                </a:solidFill>
                <a:latin typeface="Georgia" pitchFamily="34" charset="0"/>
                <a:ea typeface="Georgia" pitchFamily="34" charset="-122"/>
                <a:cs typeface="Georgia" pitchFamily="34" charset="-120"/>
              </a:rPr>
              <a:t>What IS This Thing?</a:t>
            </a:r>
            <a:endParaRPr lang="en-US" sz="4200" dirty="0"/>
          </a:p>
        </p:txBody>
      </p:sp>
      <p:sp>
        <p:nvSpPr>
          <p:cNvPr id="6" name="Text 4"/>
          <p:cNvSpPr/>
          <p:nvPr/>
        </p:nvSpPr>
        <p:spPr>
          <a:xfrm>
            <a:off x="320040" y="3429000"/>
            <a:ext cx="5943600" cy="640080"/>
          </a:xfrm>
          <a:prstGeom prst="rect">
            <a:avLst/>
          </a:prstGeom>
          <a:noFill/>
          <a:ln/>
        </p:spPr>
        <p:txBody>
          <a:bodyPr wrap="square" lIns="0" tIns="0" rIns="0" bIns="0" rtlCol="0" anchor="ctr"/>
          <a:lstStyle/>
          <a:p>
            <a:pPr marL="0" indent="0">
              <a:buNone/>
            </a:pPr>
            <a:r>
              <a:rPr lang="en-US" sz="1600" i="1" dirty="0">
                <a:solidFill>
                  <a:srgbClr val="8F96FF"/>
                </a:solidFill>
                <a:latin typeface="Calibri" pitchFamily="34" charset="0"/>
                <a:ea typeface="Calibri" pitchFamily="34" charset="-122"/>
                <a:cs typeface="Calibri" pitchFamily="34" charset="-120"/>
              </a:rPr>
              <a:t>Setting the mental model — and dispelling a few myths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FF4E0"/>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600" b="1" dirty="0">
                <a:solidFill>
                  <a:srgbClr val="211B41"/>
                </a:solidFill>
                <a:latin typeface="Georgia" pitchFamily="34" charset="0"/>
                <a:ea typeface="Georgia" pitchFamily="34" charset="-122"/>
                <a:cs typeface="Georgia" pitchFamily="34" charset="-120"/>
              </a:rPr>
              <a:t>The Four Types of Intelligence (Dr. Jill Bolte Taylor)</a:t>
            </a:r>
            <a:endParaRPr lang="en-US" sz="2600" dirty="0"/>
          </a:p>
        </p:txBody>
      </p:sp>
      <p:sp>
        <p:nvSpPr>
          <p:cNvPr id="3" name="Shape 1"/>
          <p:cNvSpPr/>
          <p:nvPr/>
        </p:nvSpPr>
        <p:spPr>
          <a:xfrm>
            <a:off x="457200" y="822960"/>
            <a:ext cx="8229600" cy="27432"/>
          </a:xfrm>
          <a:prstGeom prst="rect">
            <a:avLst/>
          </a:prstGeom>
          <a:solidFill>
            <a:srgbClr val="BBCE8E"/>
          </a:solidFill>
          <a:ln w="12700">
            <a:solidFill>
              <a:srgbClr val="BBCE8E"/>
            </a:solidFill>
            <a:prstDash val="solid"/>
          </a:ln>
        </p:spPr>
        <p:txBody>
          <a:bodyPr/>
          <a:lstStyle/>
          <a:p>
            <a:endParaRPr lang="en-US"/>
          </a:p>
        </p:txBody>
      </p:sp>
      <p:sp>
        <p:nvSpPr>
          <p:cNvPr id="4" name="Shape 2"/>
          <p:cNvSpPr/>
          <p:nvPr/>
        </p:nvSpPr>
        <p:spPr>
          <a:xfrm>
            <a:off x="0" y="4919472"/>
            <a:ext cx="9144000" cy="224028"/>
          </a:xfrm>
          <a:prstGeom prst="rect">
            <a:avLst/>
          </a:prstGeom>
          <a:solidFill>
            <a:srgbClr val="BBCE8E"/>
          </a:solidFill>
          <a:ln w="12700">
            <a:solidFill>
              <a:srgbClr val="BBCE8E"/>
            </a:solidFill>
            <a:prstDash val="solid"/>
          </a:ln>
        </p:spPr>
        <p:txBody>
          <a:bodyPr/>
          <a:lstStyle/>
          <a:p>
            <a:endParaRPr lang="en-US"/>
          </a:p>
        </p:txBody>
      </p:sp>
      <p:sp>
        <p:nvSpPr>
          <p:cNvPr id="5" name="Text 3"/>
          <p:cNvSpPr/>
          <p:nvPr/>
        </p:nvSpPr>
        <p:spPr>
          <a:xfrm>
            <a:off x="274320" y="4928616"/>
            <a:ext cx="8595360" cy="201168"/>
          </a:xfrm>
          <a:prstGeom prst="rect">
            <a:avLst/>
          </a:prstGeom>
          <a:noFill/>
          <a:ln/>
        </p:spPr>
        <p:txBody>
          <a:bodyPr wrap="square" lIns="0" tIns="0" rIns="0" bIns="0" rtlCol="0" anchor="ctr"/>
          <a:lstStyle/>
          <a:p>
            <a:pPr marL="0" indent="0">
              <a:buNone/>
            </a:pPr>
            <a:r>
              <a:rPr lang="en-US" sz="900" dirty="0">
                <a:solidFill>
                  <a:srgbClr val="4A7A82"/>
                </a:solidFill>
                <a:latin typeface="Calibri" pitchFamily="34" charset="0"/>
                <a:ea typeface="Calibri" pitchFamily="34" charset="-122"/>
                <a:cs typeface="Calibri" pitchFamily="34" charset="-120"/>
              </a:rPr>
              <a:t>Blockstruct GmbH  ·  AI Demystified Workshop  ·  UniCredit  ·  April 2026</a:t>
            </a:r>
            <a:endParaRPr lang="en-US" sz="900" dirty="0"/>
          </a:p>
        </p:txBody>
      </p:sp>
      <p:sp>
        <p:nvSpPr>
          <p:cNvPr id="6" name="Text 4"/>
          <p:cNvSpPr/>
          <p:nvPr/>
        </p:nvSpPr>
        <p:spPr>
          <a:xfrm>
            <a:off x="457200" y="932688"/>
            <a:ext cx="8229600" cy="411480"/>
          </a:xfrm>
          <a:prstGeom prst="rect">
            <a:avLst/>
          </a:prstGeom>
          <a:noFill/>
          <a:ln/>
        </p:spPr>
        <p:txBody>
          <a:bodyPr wrap="square" lIns="0" tIns="0" rIns="0" bIns="0" rtlCol="0" anchor="ctr"/>
          <a:lstStyle/>
          <a:p>
            <a:pPr marL="0" indent="0">
              <a:buNone/>
            </a:pPr>
            <a:r>
              <a:rPr lang="en-US" sz="1250" i="1" dirty="0">
                <a:solidFill>
                  <a:srgbClr val="4A7A82"/>
                </a:solidFill>
                <a:latin typeface="Calibri" pitchFamily="34" charset="0"/>
                <a:ea typeface="Calibri" pitchFamily="34" charset="-122"/>
                <a:cs typeface="Calibri" pitchFamily="34" charset="-120"/>
              </a:rPr>
              <a:t>Neuroscientist. TED Talk icon. Stroke survivor. And — unexpectedly — one of the best frameworks for understanding AI.</a:t>
            </a:r>
            <a:endParaRPr lang="en-US" sz="1250" dirty="0"/>
          </a:p>
        </p:txBody>
      </p:sp>
      <p:sp>
        <p:nvSpPr>
          <p:cNvPr id="7" name="Shape 5"/>
          <p:cNvSpPr/>
          <p:nvPr/>
        </p:nvSpPr>
        <p:spPr>
          <a:xfrm>
            <a:off x="457200" y="1417320"/>
            <a:ext cx="4206240" cy="1508760"/>
          </a:xfrm>
          <a:prstGeom prst="rect">
            <a:avLst/>
          </a:prstGeom>
          <a:solidFill>
            <a:srgbClr val="626EFF"/>
          </a:solidFill>
          <a:ln w="12700">
            <a:solidFill>
              <a:srgbClr val="626EFF"/>
            </a:solidFill>
            <a:prstDash val="solid"/>
          </a:ln>
          <a:effectLst>
            <a:outerShdw blurRad="63500" dist="25400" dir="8100000" algn="bl" rotWithShape="0">
              <a:srgbClr val="000000">
                <a:alpha val="8000"/>
              </a:srgbClr>
            </a:outerShdw>
          </a:effectLst>
        </p:spPr>
        <p:txBody>
          <a:bodyPr/>
          <a:lstStyle/>
          <a:p>
            <a:endParaRPr lang="en-US"/>
          </a:p>
        </p:txBody>
      </p:sp>
      <p:sp>
        <p:nvSpPr>
          <p:cNvPr id="8" name="Text 6"/>
          <p:cNvSpPr/>
          <p:nvPr/>
        </p:nvSpPr>
        <p:spPr>
          <a:xfrm>
            <a:off x="594360" y="1490472"/>
            <a:ext cx="3200400" cy="36576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Left Thinking</a:t>
            </a:r>
            <a:endParaRPr lang="en-US" sz="1400" dirty="0"/>
          </a:p>
        </p:txBody>
      </p:sp>
      <p:sp>
        <p:nvSpPr>
          <p:cNvPr id="9" name="Text 7"/>
          <p:cNvSpPr/>
          <p:nvPr/>
        </p:nvSpPr>
        <p:spPr>
          <a:xfrm>
            <a:off x="594360" y="1874520"/>
            <a:ext cx="3291840" cy="6858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Serial. Logical. Language. Pattern recognition.</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Categories, analysis, linear reasoning.</a:t>
            </a:r>
            <a:endParaRPr lang="en-US" sz="1100" dirty="0"/>
          </a:p>
        </p:txBody>
      </p:sp>
      <p:sp>
        <p:nvSpPr>
          <p:cNvPr id="10" name="Shape 8"/>
          <p:cNvSpPr/>
          <p:nvPr/>
        </p:nvSpPr>
        <p:spPr>
          <a:xfrm>
            <a:off x="566928" y="2560320"/>
            <a:ext cx="1737360" cy="256032"/>
          </a:xfrm>
          <a:prstGeom prst="rect">
            <a:avLst/>
          </a:prstGeom>
          <a:solidFill>
            <a:srgbClr val="F0B20D"/>
          </a:solidFill>
          <a:ln w="12700">
            <a:solidFill>
              <a:srgbClr val="F0B20D"/>
            </a:solidFill>
            <a:prstDash val="solid"/>
          </a:ln>
        </p:spPr>
        <p:txBody>
          <a:bodyPr/>
          <a:lstStyle/>
          <a:p>
            <a:endParaRPr lang="en-US"/>
          </a:p>
        </p:txBody>
      </p:sp>
      <p:sp>
        <p:nvSpPr>
          <p:cNvPr id="11" name="Text 9"/>
          <p:cNvSpPr/>
          <p:nvPr/>
        </p:nvSpPr>
        <p:spPr>
          <a:xfrm>
            <a:off x="566928" y="2560320"/>
            <a:ext cx="173736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 AI lives here</a:t>
            </a:r>
            <a:endParaRPr lang="en-US" sz="900" dirty="0"/>
          </a:p>
        </p:txBody>
      </p:sp>
      <p:sp>
        <p:nvSpPr>
          <p:cNvPr id="12" name="Shape 10"/>
          <p:cNvSpPr/>
          <p:nvPr/>
        </p:nvSpPr>
        <p:spPr>
          <a:xfrm>
            <a:off x="4800600" y="1417320"/>
            <a:ext cx="4206240" cy="1508760"/>
          </a:xfrm>
          <a:prstGeom prst="rect">
            <a:avLst/>
          </a:prstGeom>
          <a:solidFill>
            <a:srgbClr val="2E2458"/>
          </a:solidFill>
          <a:ln w="12700">
            <a:solidFill>
              <a:srgbClr val="2E2458"/>
            </a:solidFill>
            <a:prstDash val="solid"/>
          </a:ln>
          <a:effectLst>
            <a:outerShdw blurRad="63500" dist="25400" dir="8100000" algn="bl" rotWithShape="0">
              <a:srgbClr val="000000">
                <a:alpha val="8000"/>
              </a:srgbClr>
            </a:outerShdw>
          </a:effectLst>
        </p:spPr>
        <p:txBody>
          <a:bodyPr/>
          <a:lstStyle/>
          <a:p>
            <a:endParaRPr lang="en-US"/>
          </a:p>
        </p:txBody>
      </p:sp>
      <p:sp>
        <p:nvSpPr>
          <p:cNvPr id="13" name="Text 11"/>
          <p:cNvSpPr/>
          <p:nvPr/>
        </p:nvSpPr>
        <p:spPr>
          <a:xfrm>
            <a:off x="4937760" y="1490472"/>
            <a:ext cx="3200400" cy="36576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Left Emotional</a:t>
            </a:r>
            <a:endParaRPr lang="en-US" sz="1400" dirty="0"/>
          </a:p>
        </p:txBody>
      </p:sp>
      <p:sp>
        <p:nvSpPr>
          <p:cNvPr id="14" name="Text 12"/>
          <p:cNvSpPr/>
          <p:nvPr/>
        </p:nvSpPr>
        <p:spPr>
          <a:xfrm>
            <a:off x="4937760" y="1874520"/>
            <a:ext cx="3291840" cy="6858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Habit. Reward. Fear. Routine behaviour.</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The seat of reinforcement learning.</a:t>
            </a:r>
            <a:endParaRPr lang="en-US" sz="1100" dirty="0"/>
          </a:p>
        </p:txBody>
      </p:sp>
      <p:sp>
        <p:nvSpPr>
          <p:cNvPr id="15" name="Shape 13"/>
          <p:cNvSpPr/>
          <p:nvPr/>
        </p:nvSpPr>
        <p:spPr>
          <a:xfrm>
            <a:off x="4910328" y="2560320"/>
            <a:ext cx="1737360" cy="256032"/>
          </a:xfrm>
          <a:prstGeom prst="rect">
            <a:avLst/>
          </a:prstGeom>
          <a:solidFill>
            <a:srgbClr val="A7B360"/>
          </a:solidFill>
          <a:ln w="12700">
            <a:solidFill>
              <a:srgbClr val="A7B360"/>
            </a:solidFill>
            <a:prstDash val="solid"/>
          </a:ln>
        </p:spPr>
        <p:txBody>
          <a:bodyPr/>
          <a:lstStyle/>
          <a:p>
            <a:endParaRPr lang="en-US"/>
          </a:p>
        </p:txBody>
      </p:sp>
      <p:sp>
        <p:nvSpPr>
          <p:cNvPr id="16" name="Text 14"/>
          <p:cNvSpPr/>
          <p:nvPr/>
        </p:nvSpPr>
        <p:spPr>
          <a:xfrm>
            <a:off x="4910328" y="2560320"/>
            <a:ext cx="173736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 RL is learning this</a:t>
            </a:r>
            <a:endParaRPr lang="en-US" sz="900" dirty="0"/>
          </a:p>
        </p:txBody>
      </p:sp>
      <p:sp>
        <p:nvSpPr>
          <p:cNvPr id="17" name="Shape 15"/>
          <p:cNvSpPr/>
          <p:nvPr/>
        </p:nvSpPr>
        <p:spPr>
          <a:xfrm>
            <a:off x="457200" y="3017520"/>
            <a:ext cx="4206240" cy="1508760"/>
          </a:xfrm>
          <a:prstGeom prst="rect">
            <a:avLst/>
          </a:prstGeom>
          <a:solidFill>
            <a:srgbClr val="BBCE8E"/>
          </a:solidFill>
          <a:ln w="12700">
            <a:solidFill>
              <a:srgbClr val="BBCE8E"/>
            </a:solidFill>
            <a:prstDash val="solid"/>
          </a:ln>
          <a:effectLst>
            <a:outerShdw blurRad="63500" dist="25400" dir="8100000" algn="bl" rotWithShape="0">
              <a:srgbClr val="000000">
                <a:alpha val="8000"/>
              </a:srgbClr>
            </a:outerShdw>
          </a:effectLst>
        </p:spPr>
        <p:txBody>
          <a:bodyPr/>
          <a:lstStyle/>
          <a:p>
            <a:endParaRPr lang="en-US"/>
          </a:p>
        </p:txBody>
      </p:sp>
      <p:sp>
        <p:nvSpPr>
          <p:cNvPr id="18" name="Text 16"/>
          <p:cNvSpPr/>
          <p:nvPr/>
        </p:nvSpPr>
        <p:spPr>
          <a:xfrm>
            <a:off x="594360" y="3090672"/>
            <a:ext cx="3200400" cy="365760"/>
          </a:xfrm>
          <a:prstGeom prst="rect">
            <a:avLst/>
          </a:prstGeom>
          <a:noFill/>
          <a:ln/>
        </p:spPr>
        <p:txBody>
          <a:bodyPr wrap="square" lIns="0" tIns="0" rIns="0" bIns="0" rtlCol="0" anchor="ctr"/>
          <a:lstStyle/>
          <a:p>
            <a:pPr marL="0" indent="0">
              <a:buNone/>
            </a:pPr>
            <a:r>
              <a:rPr lang="en-US" sz="1400" b="1" dirty="0">
                <a:solidFill>
                  <a:srgbClr val="211B41"/>
                </a:solidFill>
                <a:latin typeface="Georgia" pitchFamily="34" charset="0"/>
                <a:ea typeface="Georgia" pitchFamily="34" charset="-122"/>
                <a:cs typeface="Georgia" pitchFamily="34" charset="-120"/>
              </a:rPr>
              <a:t>Right Thinking</a:t>
            </a:r>
            <a:endParaRPr lang="en-US" sz="1400" dirty="0"/>
          </a:p>
        </p:txBody>
      </p:sp>
      <p:sp>
        <p:nvSpPr>
          <p:cNvPr id="19" name="Text 17"/>
          <p:cNvSpPr/>
          <p:nvPr/>
        </p:nvSpPr>
        <p:spPr>
          <a:xfrm>
            <a:off x="594360" y="3474720"/>
            <a:ext cx="3291840" cy="685800"/>
          </a:xfrm>
          <a:prstGeom prst="rect">
            <a:avLst/>
          </a:prstGeom>
          <a:noFill/>
          <a:ln/>
        </p:spPr>
        <p:txBody>
          <a:bodyPr wrap="square" lIns="0" tIns="0" rIns="0" bIns="0" rtlCol="0" anchor="ctr"/>
          <a:lstStyle/>
          <a:p>
            <a:pPr marL="0" indent="0">
              <a:buNone/>
            </a:pPr>
            <a:r>
              <a:rPr lang="en-US" sz="1100" dirty="0">
                <a:solidFill>
                  <a:srgbClr val="211B41"/>
                </a:solidFill>
                <a:latin typeface="Calibri" pitchFamily="34" charset="0"/>
                <a:ea typeface="Calibri" pitchFamily="34" charset="-122"/>
                <a:cs typeface="Calibri" pitchFamily="34" charset="-120"/>
              </a:rPr>
              <a:t>Holistic. Contextual. Spatial.</a:t>
            </a:r>
            <a:endParaRPr lang="en-US" sz="1100" dirty="0"/>
          </a:p>
          <a:p>
            <a:pPr marL="0" indent="0">
              <a:buNone/>
            </a:pPr>
            <a:r>
              <a:rPr lang="en-US" sz="1100" dirty="0">
                <a:solidFill>
                  <a:srgbClr val="211B41"/>
                </a:solidFill>
                <a:latin typeface="Calibri" pitchFamily="34" charset="0"/>
                <a:ea typeface="Calibri" pitchFamily="34" charset="-122"/>
                <a:cs typeface="Calibri" pitchFamily="34" charset="-120"/>
              </a:rPr>
              <a:t>The 'big picture' perspective.</a:t>
            </a:r>
            <a:endParaRPr lang="en-US" sz="1100" dirty="0"/>
          </a:p>
        </p:txBody>
      </p:sp>
      <p:sp>
        <p:nvSpPr>
          <p:cNvPr id="20" name="Shape 18"/>
          <p:cNvSpPr/>
          <p:nvPr/>
        </p:nvSpPr>
        <p:spPr>
          <a:xfrm>
            <a:off x="566928" y="4160520"/>
            <a:ext cx="1737360" cy="256032"/>
          </a:xfrm>
          <a:prstGeom prst="rect">
            <a:avLst/>
          </a:prstGeom>
          <a:solidFill>
            <a:srgbClr val="4A7A82"/>
          </a:solidFill>
          <a:ln w="12700">
            <a:solidFill>
              <a:srgbClr val="4A7A82"/>
            </a:solidFill>
            <a:prstDash val="solid"/>
          </a:ln>
        </p:spPr>
        <p:txBody>
          <a:bodyPr/>
          <a:lstStyle/>
          <a:p>
            <a:endParaRPr lang="en-US"/>
          </a:p>
        </p:txBody>
      </p:sp>
      <p:sp>
        <p:nvSpPr>
          <p:cNvPr id="21" name="Text 19"/>
          <p:cNvSpPr/>
          <p:nvPr/>
        </p:nvSpPr>
        <p:spPr>
          <a:xfrm>
            <a:off x="566928" y="4160520"/>
            <a:ext cx="173736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Not yet touched</a:t>
            </a:r>
            <a:endParaRPr lang="en-US" sz="900" dirty="0"/>
          </a:p>
        </p:txBody>
      </p:sp>
      <p:sp>
        <p:nvSpPr>
          <p:cNvPr id="22" name="Shape 20"/>
          <p:cNvSpPr/>
          <p:nvPr/>
        </p:nvSpPr>
        <p:spPr>
          <a:xfrm>
            <a:off x="4800600" y="3017520"/>
            <a:ext cx="4206240" cy="1508760"/>
          </a:xfrm>
          <a:prstGeom prst="rect">
            <a:avLst/>
          </a:prstGeom>
          <a:solidFill>
            <a:srgbClr val="BBCE8E"/>
          </a:solidFill>
          <a:ln w="12700">
            <a:solidFill>
              <a:srgbClr val="BBCE8E"/>
            </a:solidFill>
            <a:prstDash val="solid"/>
          </a:ln>
          <a:effectLst>
            <a:outerShdw blurRad="63500" dist="25400" dir="8100000" algn="bl" rotWithShape="0">
              <a:srgbClr val="000000">
                <a:alpha val="8000"/>
              </a:srgbClr>
            </a:outerShdw>
          </a:effectLst>
        </p:spPr>
        <p:txBody>
          <a:bodyPr/>
          <a:lstStyle/>
          <a:p>
            <a:endParaRPr lang="en-US"/>
          </a:p>
        </p:txBody>
      </p:sp>
      <p:sp>
        <p:nvSpPr>
          <p:cNvPr id="23" name="Text 21"/>
          <p:cNvSpPr/>
          <p:nvPr/>
        </p:nvSpPr>
        <p:spPr>
          <a:xfrm>
            <a:off x="4937760" y="3090672"/>
            <a:ext cx="3200400" cy="365760"/>
          </a:xfrm>
          <a:prstGeom prst="rect">
            <a:avLst/>
          </a:prstGeom>
          <a:noFill/>
          <a:ln/>
        </p:spPr>
        <p:txBody>
          <a:bodyPr wrap="square" lIns="0" tIns="0" rIns="0" bIns="0" rtlCol="0" anchor="ctr"/>
          <a:lstStyle/>
          <a:p>
            <a:pPr marL="0" indent="0">
              <a:buNone/>
            </a:pPr>
            <a:r>
              <a:rPr lang="en-US" sz="1400" b="1" dirty="0">
                <a:solidFill>
                  <a:srgbClr val="211B41"/>
                </a:solidFill>
                <a:latin typeface="Georgia" pitchFamily="34" charset="0"/>
                <a:ea typeface="Georgia" pitchFamily="34" charset="-122"/>
                <a:cs typeface="Georgia" pitchFamily="34" charset="-120"/>
              </a:rPr>
              <a:t>Right Emotional</a:t>
            </a:r>
            <a:endParaRPr lang="en-US" sz="1400" dirty="0"/>
          </a:p>
        </p:txBody>
      </p:sp>
      <p:sp>
        <p:nvSpPr>
          <p:cNvPr id="24" name="Text 22"/>
          <p:cNvSpPr/>
          <p:nvPr/>
        </p:nvSpPr>
        <p:spPr>
          <a:xfrm>
            <a:off x="4937760" y="3474720"/>
            <a:ext cx="3291840" cy="685800"/>
          </a:xfrm>
          <a:prstGeom prst="rect">
            <a:avLst/>
          </a:prstGeom>
          <a:noFill/>
          <a:ln/>
        </p:spPr>
        <p:txBody>
          <a:bodyPr wrap="square" lIns="0" tIns="0" rIns="0" bIns="0" rtlCol="0" anchor="ctr"/>
          <a:lstStyle/>
          <a:p>
            <a:pPr marL="0" indent="0">
              <a:buNone/>
            </a:pPr>
            <a:r>
              <a:rPr lang="en-US" sz="1100" dirty="0">
                <a:solidFill>
                  <a:srgbClr val="211B41"/>
                </a:solidFill>
                <a:latin typeface="Calibri" pitchFamily="34" charset="0"/>
                <a:ea typeface="Calibri" pitchFamily="34" charset="-122"/>
                <a:cs typeface="Calibri" pitchFamily="34" charset="-120"/>
              </a:rPr>
              <a:t>Empathy. Intuition. Connection.</a:t>
            </a:r>
            <a:endParaRPr lang="en-US" sz="1100" dirty="0"/>
          </a:p>
          <a:p>
            <a:pPr marL="0" indent="0">
              <a:buNone/>
            </a:pPr>
            <a:r>
              <a:rPr lang="en-US" sz="1100" dirty="0">
                <a:solidFill>
                  <a:srgbClr val="211B41"/>
                </a:solidFill>
                <a:latin typeface="Calibri" pitchFamily="34" charset="0"/>
                <a:ea typeface="Calibri" pitchFamily="34" charset="-122"/>
                <a:cs typeface="Calibri" pitchFamily="34" charset="-120"/>
              </a:rPr>
              <a:t>Present-moment awareness.</a:t>
            </a:r>
            <a:endParaRPr lang="en-US" sz="1100" dirty="0"/>
          </a:p>
        </p:txBody>
      </p:sp>
      <p:sp>
        <p:nvSpPr>
          <p:cNvPr id="25" name="Shape 23"/>
          <p:cNvSpPr/>
          <p:nvPr/>
        </p:nvSpPr>
        <p:spPr>
          <a:xfrm>
            <a:off x="4910328" y="4160520"/>
            <a:ext cx="1737360" cy="256032"/>
          </a:xfrm>
          <a:prstGeom prst="rect">
            <a:avLst/>
          </a:prstGeom>
          <a:solidFill>
            <a:srgbClr val="4A7A82"/>
          </a:solidFill>
          <a:ln w="12700">
            <a:solidFill>
              <a:srgbClr val="4A7A82"/>
            </a:solidFill>
            <a:prstDash val="solid"/>
          </a:ln>
        </p:spPr>
        <p:txBody>
          <a:bodyPr/>
          <a:lstStyle/>
          <a:p>
            <a:endParaRPr lang="en-US"/>
          </a:p>
        </p:txBody>
      </p:sp>
      <p:sp>
        <p:nvSpPr>
          <p:cNvPr id="26" name="Text 24"/>
          <p:cNvSpPr/>
          <p:nvPr/>
        </p:nvSpPr>
        <p:spPr>
          <a:xfrm>
            <a:off x="4910328" y="4160520"/>
            <a:ext cx="1737360" cy="256032"/>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Not yet touched</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11B41"/>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LLMs Are Left-Brain Serial Processors — On Steroids</a:t>
            </a:r>
            <a:endParaRPr lang="en-US" sz="2600" dirty="0"/>
          </a:p>
        </p:txBody>
      </p:sp>
      <p:sp>
        <p:nvSpPr>
          <p:cNvPr id="3" name="Shape 1"/>
          <p:cNvSpPr/>
          <p:nvPr/>
        </p:nvSpPr>
        <p:spPr>
          <a:xfrm>
            <a:off x="457200" y="822960"/>
            <a:ext cx="8229600" cy="27432"/>
          </a:xfrm>
          <a:prstGeom prst="rect">
            <a:avLst/>
          </a:prstGeom>
          <a:solidFill>
            <a:srgbClr val="2E2458"/>
          </a:solidFill>
          <a:ln w="12700">
            <a:solidFill>
              <a:srgbClr val="2E2458"/>
            </a:solidFill>
            <a:prstDash val="solid"/>
          </a:ln>
        </p:spPr>
        <p:txBody>
          <a:bodyPr/>
          <a:lstStyle/>
          <a:p>
            <a:endParaRPr lang="en-US"/>
          </a:p>
        </p:txBody>
      </p:sp>
      <p:sp>
        <p:nvSpPr>
          <p:cNvPr id="4" name="Shape 2"/>
          <p:cNvSpPr/>
          <p:nvPr/>
        </p:nvSpPr>
        <p:spPr>
          <a:xfrm>
            <a:off x="0" y="4919472"/>
            <a:ext cx="9144000" cy="224028"/>
          </a:xfrm>
          <a:prstGeom prst="rect">
            <a:avLst/>
          </a:prstGeom>
          <a:solidFill>
            <a:srgbClr val="2E2458"/>
          </a:solidFill>
          <a:ln w="12700">
            <a:solidFill>
              <a:srgbClr val="2E2458"/>
            </a:solidFill>
            <a:prstDash val="solid"/>
          </a:ln>
        </p:spPr>
        <p:txBody>
          <a:bodyPr/>
          <a:lstStyle/>
          <a:p>
            <a:endParaRPr lang="en-US"/>
          </a:p>
        </p:txBody>
      </p:sp>
      <p:sp>
        <p:nvSpPr>
          <p:cNvPr id="5" name="Text 3"/>
          <p:cNvSpPr/>
          <p:nvPr/>
        </p:nvSpPr>
        <p:spPr>
          <a:xfrm>
            <a:off x="274320" y="4928616"/>
            <a:ext cx="8595360" cy="201168"/>
          </a:xfrm>
          <a:prstGeom prst="rect">
            <a:avLst/>
          </a:prstGeom>
          <a:noFill/>
          <a:ln/>
        </p:spPr>
        <p:txBody>
          <a:bodyPr wrap="square" lIns="0" tIns="0" rIns="0" bIns="0" rtlCol="0" anchor="ctr"/>
          <a:lstStyle/>
          <a:p>
            <a:pPr marL="0" indent="0">
              <a:buNone/>
            </a:pPr>
            <a:r>
              <a:rPr lang="en-US" sz="900" dirty="0">
                <a:solidFill>
                  <a:srgbClr val="4A7A82"/>
                </a:solidFill>
                <a:latin typeface="Calibri" pitchFamily="34" charset="0"/>
                <a:ea typeface="Calibri" pitchFamily="34" charset="-122"/>
                <a:cs typeface="Calibri" pitchFamily="34" charset="-120"/>
              </a:rPr>
              <a:t>Blockstruct GmbH  ·  AI Demystified Workshop  ·  UniCredit  ·  April 2026</a:t>
            </a:r>
            <a:endParaRPr lang="en-US" sz="900" dirty="0"/>
          </a:p>
        </p:txBody>
      </p:sp>
      <p:sp>
        <p:nvSpPr>
          <p:cNvPr id="6" name="Text 4"/>
          <p:cNvSpPr/>
          <p:nvPr/>
        </p:nvSpPr>
        <p:spPr>
          <a:xfrm>
            <a:off x="457200" y="960120"/>
            <a:ext cx="8229600" cy="365760"/>
          </a:xfrm>
          <a:prstGeom prst="rect">
            <a:avLst/>
          </a:prstGeom>
          <a:noFill/>
          <a:ln/>
        </p:spPr>
        <p:txBody>
          <a:bodyPr wrap="square" lIns="0" tIns="0" rIns="0" bIns="0" rtlCol="0" anchor="ctr"/>
          <a:lstStyle/>
          <a:p>
            <a:pPr marL="0" indent="0">
              <a:buNone/>
            </a:pPr>
            <a:r>
              <a:rPr lang="en-US" sz="1400" i="1" dirty="0">
                <a:solidFill>
                  <a:srgbClr val="8F96FF"/>
                </a:solidFill>
                <a:latin typeface="Calibri" pitchFamily="34" charset="0"/>
                <a:ea typeface="Calibri" pitchFamily="34" charset="-122"/>
                <a:cs typeface="Calibri" pitchFamily="34" charset="-120"/>
              </a:rPr>
              <a:t>They do one thing, and they do it extraordinarily well:</a:t>
            </a:r>
            <a:endParaRPr lang="en-US" sz="1400" dirty="0"/>
          </a:p>
        </p:txBody>
      </p:sp>
      <p:sp>
        <p:nvSpPr>
          <p:cNvPr id="7" name="Shape 5"/>
          <p:cNvSpPr/>
          <p:nvPr/>
        </p:nvSpPr>
        <p:spPr>
          <a:xfrm>
            <a:off x="457200" y="1417320"/>
            <a:ext cx="8229600" cy="914400"/>
          </a:xfrm>
          <a:prstGeom prst="rect">
            <a:avLst/>
          </a:prstGeom>
          <a:solidFill>
            <a:srgbClr val="626EFF"/>
          </a:solidFill>
          <a:ln w="12700">
            <a:solidFill>
              <a:srgbClr val="626EFF"/>
            </a:solidFill>
            <a:prstDash val="solid"/>
          </a:ln>
          <a:effectLst>
            <a:outerShdw blurRad="127000" dist="38100" dir="8100000" algn="bl" rotWithShape="0">
              <a:srgbClr val="000000">
                <a:alpha val="13000"/>
              </a:srgbClr>
            </a:outerShdw>
          </a:effectLst>
        </p:spPr>
        <p:txBody>
          <a:bodyPr/>
          <a:lstStyle/>
          <a:p>
            <a:endParaRPr lang="en-US"/>
          </a:p>
        </p:txBody>
      </p:sp>
      <p:sp>
        <p:nvSpPr>
          <p:cNvPr id="8" name="Text 6"/>
          <p:cNvSpPr/>
          <p:nvPr/>
        </p:nvSpPr>
        <p:spPr>
          <a:xfrm>
            <a:off x="548640" y="1444752"/>
            <a:ext cx="7955280" cy="868680"/>
          </a:xfrm>
          <a:prstGeom prst="rect">
            <a:avLst/>
          </a:prstGeom>
          <a:noFill/>
          <a:ln/>
        </p:spPr>
        <p:txBody>
          <a:bodyPr wrap="square" rtlCol="0" anchor="ctr"/>
          <a:lstStyle/>
          <a:p>
            <a:pPr marL="0" indent="0">
              <a:buNone/>
            </a:pPr>
            <a:r>
              <a:rPr lang="en-US" sz="2200" b="1" i="1" dirty="0">
                <a:solidFill>
                  <a:srgbClr val="FFFFFF"/>
                </a:solidFill>
                <a:latin typeface="Georgia" pitchFamily="34" charset="0"/>
                <a:ea typeface="Georgia" pitchFamily="34" charset="-122"/>
                <a:cs typeface="Georgia" pitchFamily="34" charset="-120"/>
              </a:rPr>
              <a:t>Predict the most useful next token, given everything they've seen.</a:t>
            </a:r>
            <a:endParaRPr lang="en-US" sz="2200" dirty="0"/>
          </a:p>
        </p:txBody>
      </p:sp>
      <p:sp>
        <p:nvSpPr>
          <p:cNvPr id="9" name="Text 7"/>
          <p:cNvSpPr/>
          <p:nvPr/>
        </p:nvSpPr>
        <p:spPr>
          <a:xfrm>
            <a:off x="457200" y="2487168"/>
            <a:ext cx="8229600" cy="68580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"Token" ≈ word (or part of a word). That's literally it. The rest — writing poetry, explaining a contract, drafting a sales pitch — emerges from doing that one thing at massive scale, with billions of examples.</a:t>
            </a:r>
            <a:endParaRPr lang="en-US" sz="1300" dirty="0"/>
          </a:p>
        </p:txBody>
      </p:sp>
      <p:sp>
        <p:nvSpPr>
          <p:cNvPr id="10" name="Shape 8"/>
          <p:cNvSpPr/>
          <p:nvPr/>
        </p:nvSpPr>
        <p:spPr>
          <a:xfrm>
            <a:off x="457200" y="3264408"/>
            <a:ext cx="8229600" cy="27432"/>
          </a:xfrm>
          <a:prstGeom prst="rect">
            <a:avLst/>
          </a:prstGeom>
          <a:solidFill>
            <a:srgbClr val="2E2458"/>
          </a:solidFill>
          <a:ln w="12700">
            <a:solidFill>
              <a:srgbClr val="2E2458"/>
            </a:solidFill>
            <a:prstDash val="solid"/>
          </a:ln>
        </p:spPr>
        <p:txBody>
          <a:bodyPr/>
          <a:lstStyle/>
          <a:p>
            <a:endParaRPr lang="en-US"/>
          </a:p>
        </p:txBody>
      </p:sp>
      <p:sp>
        <p:nvSpPr>
          <p:cNvPr id="11" name="Text 9"/>
          <p:cNvSpPr/>
          <p:nvPr/>
        </p:nvSpPr>
        <p:spPr>
          <a:xfrm>
            <a:off x="457200" y="3364992"/>
            <a:ext cx="8229600" cy="594360"/>
          </a:xfrm>
          <a:prstGeom prst="rect">
            <a:avLst/>
          </a:prstGeom>
          <a:noFill/>
          <a:ln/>
        </p:spPr>
        <p:txBody>
          <a:bodyPr wrap="square" lIns="0" tIns="0" rIns="0" bIns="0" rtlCol="0" anchor="ctr"/>
          <a:lstStyle/>
          <a:p>
            <a:pPr marL="0" indent="0">
              <a:buNone/>
            </a:pPr>
            <a:r>
              <a:rPr lang="en-US" sz="1300" i="1" dirty="0">
                <a:solidFill>
                  <a:srgbClr val="8F96FF"/>
                </a:solidFill>
                <a:latin typeface="Calibri" pitchFamily="34" charset="0"/>
                <a:ea typeface="Calibri" pitchFamily="34" charset="-122"/>
                <a:cs typeface="Calibri" pitchFamily="34" charset="-120"/>
              </a:rPr>
              <a:t>Think of it as the world's most sophisticated autocomplete —</a:t>
            </a:r>
            <a:endParaRPr lang="en-US" sz="1300" dirty="0"/>
          </a:p>
          <a:p>
            <a:pPr marL="0" indent="0">
              <a:buNone/>
            </a:pPr>
            <a:r>
              <a:rPr lang="en-US" sz="1300" i="1" dirty="0">
                <a:solidFill>
                  <a:srgbClr val="8F96FF"/>
                </a:solidFill>
                <a:latin typeface="Calibri" pitchFamily="34" charset="0"/>
                <a:ea typeface="Calibri" pitchFamily="34" charset="-122"/>
                <a:cs typeface="Calibri" pitchFamily="34" charset="-120"/>
              </a:rPr>
              <a:t>one that has read every book, research paper, forum, and contract ever published.</a:t>
            </a:r>
            <a:endParaRPr lang="en-US" sz="1300" dirty="0"/>
          </a:p>
        </p:txBody>
      </p:sp>
      <p:pic>
        <p:nvPicPr>
          <p:cNvPr id="12" name="Image 0" descr="preencoded.png"/>
          <p:cNvPicPr>
            <a:picLocks noChangeAspect="1"/>
          </p:cNvPicPr>
          <p:nvPr/>
        </p:nvPicPr>
        <p:blipFill>
          <a:blip r:embed="rId3"/>
          <a:stretch>
            <a:fillRect/>
          </a:stretch>
        </p:blipFill>
        <p:spPr>
          <a:xfrm>
            <a:off x="7863840" y="1508760"/>
            <a:ext cx="822960" cy="822960"/>
          </a:xfrm>
          <a:prstGeom prst="rect">
            <a:avLst/>
          </a:prstGeom>
        </p:spPr>
      </p:pic>
      <p:sp>
        <p:nvSpPr>
          <p:cNvPr id="13" name="Text 10"/>
          <p:cNvSpPr/>
          <p:nvPr/>
        </p:nvSpPr>
        <p:spPr>
          <a:xfrm>
            <a:off x="457200" y="4069080"/>
            <a:ext cx="8229600" cy="365760"/>
          </a:xfrm>
          <a:prstGeom prst="rect">
            <a:avLst/>
          </a:prstGeom>
          <a:noFill/>
          <a:ln/>
        </p:spPr>
        <p:txBody>
          <a:bodyPr wrap="square" lIns="0" tIns="0" rIns="0" bIns="0" rtlCol="0" anchor="ctr"/>
          <a:lstStyle/>
          <a:p>
            <a:pPr marL="0" indent="0">
              <a:buNone/>
            </a:pPr>
            <a:r>
              <a:rPr lang="en-US" sz="1600" b="1" dirty="0">
                <a:solidFill>
                  <a:srgbClr val="F0B20D"/>
                </a:solidFill>
                <a:latin typeface="Georgia" pitchFamily="34" charset="0"/>
                <a:ea typeface="Georgia" pitchFamily="34" charset="-122"/>
                <a:cs typeface="Georgia" pitchFamily="34" charset="-120"/>
              </a:rPr>
              <a:t>Not magic. Not human. But genuinely remarkable.</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11B41"/>
        </a:solidFill>
        <a:effectLst/>
      </p:bgPr>
    </p:bg>
    <p:spTree>
      <p:nvGrpSpPr>
        <p:cNvPr id="1" name=""/>
        <p:cNvGrpSpPr/>
        <p:nvPr/>
      </p:nvGrpSpPr>
      <p:grpSpPr>
        <a:xfrm>
          <a:off x="0" y="0"/>
          <a:ext cx="0" cy="0"/>
          <a:chOff x="0" y="0"/>
          <a:chExt cx="0" cy="0"/>
        </a:xfrm>
      </p:grpSpPr>
      <p:sp>
        <p:nvSpPr>
          <p:cNvPr id="2" name="Text 0"/>
          <p:cNvSpPr/>
          <p:nvPr/>
        </p:nvSpPr>
        <p:spPr>
          <a:xfrm>
            <a:off x="5943600" y="-365760"/>
            <a:ext cx="3474720" cy="4572000"/>
          </a:xfrm>
          <a:prstGeom prst="rect">
            <a:avLst/>
          </a:prstGeom>
          <a:noFill/>
          <a:ln/>
        </p:spPr>
        <p:txBody>
          <a:bodyPr wrap="square" lIns="0" tIns="0" rIns="0" bIns="0" rtlCol="0" anchor="ctr"/>
          <a:lstStyle/>
          <a:p>
            <a:pPr marL="0" indent="0" algn="r">
              <a:buNone/>
            </a:pPr>
            <a:r>
              <a:rPr lang="en-US" sz="32000" b="1" dirty="0">
                <a:solidFill>
                  <a:srgbClr val="2E2458"/>
                </a:solidFill>
                <a:latin typeface="Georgia" pitchFamily="34" charset="0"/>
                <a:ea typeface="Georgia" pitchFamily="34" charset="-122"/>
                <a:cs typeface="Georgia" pitchFamily="34" charset="-120"/>
              </a:rPr>
              <a:t>2</a:t>
            </a:r>
            <a:endParaRPr lang="en-US" sz="32000" dirty="0"/>
          </a:p>
        </p:txBody>
      </p:sp>
      <p:sp>
        <p:nvSpPr>
          <p:cNvPr id="3" name="Shape 1"/>
          <p:cNvSpPr/>
          <p:nvPr/>
        </p:nvSpPr>
        <p:spPr>
          <a:xfrm>
            <a:off x="0" y="0"/>
            <a:ext cx="109728" cy="5143500"/>
          </a:xfrm>
          <a:prstGeom prst="rect">
            <a:avLst/>
          </a:prstGeom>
          <a:solidFill>
            <a:srgbClr val="626EFF"/>
          </a:solidFill>
          <a:ln w="12700">
            <a:solidFill>
              <a:srgbClr val="626EFF"/>
            </a:solidFill>
            <a:prstDash val="solid"/>
          </a:ln>
        </p:spPr>
        <p:txBody>
          <a:bodyPr/>
          <a:lstStyle/>
          <a:p>
            <a:endParaRPr lang="en-US"/>
          </a:p>
        </p:txBody>
      </p:sp>
      <p:sp>
        <p:nvSpPr>
          <p:cNvPr id="4" name="Text 2"/>
          <p:cNvSpPr/>
          <p:nvPr/>
        </p:nvSpPr>
        <p:spPr>
          <a:xfrm>
            <a:off x="320040" y="1280160"/>
            <a:ext cx="5486400" cy="411480"/>
          </a:xfrm>
          <a:prstGeom prst="rect">
            <a:avLst/>
          </a:prstGeom>
          <a:noFill/>
          <a:ln/>
        </p:spPr>
        <p:txBody>
          <a:bodyPr wrap="square" lIns="0" tIns="0" rIns="0" bIns="0" rtlCol="0" anchor="ctr"/>
          <a:lstStyle/>
          <a:p>
            <a:pPr marL="0" indent="0">
              <a:buNone/>
            </a:pPr>
            <a:r>
              <a:rPr lang="en-US" sz="1300" b="1" kern="0" spc="400" dirty="0">
                <a:solidFill>
                  <a:srgbClr val="F0B20D"/>
                </a:solidFill>
                <a:latin typeface="Calibri" pitchFamily="34" charset="0"/>
                <a:ea typeface="Calibri" pitchFamily="34" charset="-122"/>
                <a:cs typeface="Calibri" pitchFamily="34" charset="-120"/>
              </a:rPr>
              <a:t>MODULE 2</a:t>
            </a:r>
            <a:endParaRPr lang="en-US" sz="1300" dirty="0"/>
          </a:p>
        </p:txBody>
      </p:sp>
      <p:sp>
        <p:nvSpPr>
          <p:cNvPr id="5" name="Text 3"/>
          <p:cNvSpPr/>
          <p:nvPr/>
        </p:nvSpPr>
        <p:spPr>
          <a:xfrm>
            <a:off x="320040" y="1737360"/>
            <a:ext cx="6858000" cy="1645920"/>
          </a:xfrm>
          <a:prstGeom prst="rect">
            <a:avLst/>
          </a:prstGeom>
          <a:noFill/>
          <a:ln/>
        </p:spPr>
        <p:txBody>
          <a:bodyPr wrap="square" lIns="0" tIns="0" rIns="0" bIns="0" rtlCol="0" anchor="ctr"/>
          <a:lstStyle/>
          <a:p>
            <a:pPr marL="0" indent="0">
              <a:buNone/>
            </a:pPr>
            <a:r>
              <a:rPr lang="en-US" sz="4200" b="1" dirty="0">
                <a:solidFill>
                  <a:srgbClr val="FFFFFF"/>
                </a:solidFill>
                <a:latin typeface="Georgia" pitchFamily="34" charset="0"/>
                <a:ea typeface="Georgia" pitchFamily="34" charset="-122"/>
                <a:cs typeface="Georgia" pitchFamily="34" charset="-120"/>
              </a:rPr>
              <a:t>Excuse Me,</a:t>
            </a:r>
            <a:endParaRPr lang="en-US" sz="4200" dirty="0"/>
          </a:p>
          <a:p>
            <a:pPr marL="0" indent="0">
              <a:buNone/>
            </a:pPr>
            <a:r>
              <a:rPr lang="en-US" sz="4200" b="1" dirty="0">
                <a:solidFill>
                  <a:srgbClr val="FFFFFF"/>
                </a:solidFill>
                <a:latin typeface="Georgia" pitchFamily="34" charset="0"/>
                <a:ea typeface="Georgia" pitchFamily="34" charset="-122"/>
                <a:cs typeface="Georgia" pitchFamily="34" charset="-120"/>
              </a:rPr>
              <a:t>What's a Vector?</a:t>
            </a:r>
            <a:endParaRPr lang="en-US" sz="4200" dirty="0"/>
          </a:p>
        </p:txBody>
      </p:sp>
      <p:sp>
        <p:nvSpPr>
          <p:cNvPr id="6" name="Text 4"/>
          <p:cNvSpPr/>
          <p:nvPr/>
        </p:nvSpPr>
        <p:spPr>
          <a:xfrm>
            <a:off x="320040" y="3429000"/>
            <a:ext cx="5943600" cy="640080"/>
          </a:xfrm>
          <a:prstGeom prst="rect">
            <a:avLst/>
          </a:prstGeom>
          <a:noFill/>
          <a:ln/>
        </p:spPr>
        <p:txBody>
          <a:bodyPr wrap="square" lIns="0" tIns="0" rIns="0" bIns="0" rtlCol="0" anchor="ctr"/>
          <a:lstStyle/>
          <a:p>
            <a:pPr marL="0" indent="0">
              <a:buNone/>
            </a:pPr>
            <a:r>
              <a:rPr lang="en-US" sz="1600" i="1" dirty="0">
                <a:solidFill>
                  <a:srgbClr val="8F96FF"/>
                </a:solidFill>
                <a:latin typeface="Calibri" pitchFamily="34" charset="0"/>
                <a:ea typeface="Calibri" pitchFamily="34" charset="-122"/>
                <a:cs typeface="Calibri" pitchFamily="34" charset="-120"/>
              </a:rPr>
              <a:t>How AI encodes meaning — illustrated with medieval hierarchy</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FF4E0"/>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600" b="1" dirty="0">
                <a:solidFill>
                  <a:srgbClr val="211B41"/>
                </a:solidFill>
                <a:latin typeface="Georgia" pitchFamily="34" charset="0"/>
                <a:ea typeface="Georgia" pitchFamily="34" charset="-122"/>
                <a:cs typeface="Georgia" pitchFamily="34" charset="-120"/>
              </a:rPr>
              <a:t>A Kingdom-Sized Question: Who Has the Most Power?</a:t>
            </a:r>
            <a:endParaRPr lang="en-US" sz="2600" dirty="0"/>
          </a:p>
        </p:txBody>
      </p:sp>
      <p:sp>
        <p:nvSpPr>
          <p:cNvPr id="3" name="Shape 1"/>
          <p:cNvSpPr/>
          <p:nvPr/>
        </p:nvSpPr>
        <p:spPr>
          <a:xfrm>
            <a:off x="457200" y="822960"/>
            <a:ext cx="8229600" cy="27432"/>
          </a:xfrm>
          <a:prstGeom prst="rect">
            <a:avLst/>
          </a:prstGeom>
          <a:solidFill>
            <a:srgbClr val="BBCE8E"/>
          </a:solidFill>
          <a:ln w="12700">
            <a:solidFill>
              <a:srgbClr val="BBCE8E"/>
            </a:solidFill>
            <a:prstDash val="solid"/>
          </a:ln>
        </p:spPr>
        <p:txBody>
          <a:bodyPr/>
          <a:lstStyle/>
          <a:p>
            <a:endParaRPr lang="en-US"/>
          </a:p>
        </p:txBody>
      </p:sp>
      <p:sp>
        <p:nvSpPr>
          <p:cNvPr id="4" name="Shape 2"/>
          <p:cNvSpPr/>
          <p:nvPr/>
        </p:nvSpPr>
        <p:spPr>
          <a:xfrm>
            <a:off x="0" y="4919472"/>
            <a:ext cx="9144000" cy="224028"/>
          </a:xfrm>
          <a:prstGeom prst="rect">
            <a:avLst/>
          </a:prstGeom>
          <a:solidFill>
            <a:srgbClr val="BBCE8E"/>
          </a:solidFill>
          <a:ln w="12700">
            <a:solidFill>
              <a:srgbClr val="BBCE8E"/>
            </a:solidFill>
            <a:prstDash val="solid"/>
          </a:ln>
        </p:spPr>
        <p:txBody>
          <a:bodyPr/>
          <a:lstStyle/>
          <a:p>
            <a:endParaRPr lang="en-US"/>
          </a:p>
        </p:txBody>
      </p:sp>
      <p:sp>
        <p:nvSpPr>
          <p:cNvPr id="5" name="Text 3"/>
          <p:cNvSpPr/>
          <p:nvPr/>
        </p:nvSpPr>
        <p:spPr>
          <a:xfrm>
            <a:off x="274320" y="4928616"/>
            <a:ext cx="8595360" cy="201168"/>
          </a:xfrm>
          <a:prstGeom prst="rect">
            <a:avLst/>
          </a:prstGeom>
          <a:noFill/>
          <a:ln/>
        </p:spPr>
        <p:txBody>
          <a:bodyPr wrap="square" lIns="0" tIns="0" rIns="0" bIns="0" rtlCol="0" anchor="ctr"/>
          <a:lstStyle/>
          <a:p>
            <a:pPr marL="0" indent="0">
              <a:buNone/>
            </a:pPr>
            <a:r>
              <a:rPr lang="en-US" sz="900" dirty="0">
                <a:solidFill>
                  <a:srgbClr val="4A7A82"/>
                </a:solidFill>
                <a:latin typeface="Calibri" pitchFamily="34" charset="0"/>
                <a:ea typeface="Calibri" pitchFamily="34" charset="-122"/>
                <a:cs typeface="Calibri" pitchFamily="34" charset="-120"/>
              </a:rPr>
              <a:t>Blockstruct GmbH  ·  AI Demystified Workshop  ·  UniCredit  ·  April 2026</a:t>
            </a:r>
            <a:endParaRPr lang="en-US" sz="900" dirty="0"/>
          </a:p>
        </p:txBody>
      </p:sp>
      <p:sp>
        <p:nvSpPr>
          <p:cNvPr id="6" name="Text 4"/>
          <p:cNvSpPr/>
          <p:nvPr/>
        </p:nvSpPr>
        <p:spPr>
          <a:xfrm>
            <a:off x="457200" y="914400"/>
            <a:ext cx="8229600" cy="347472"/>
          </a:xfrm>
          <a:prstGeom prst="rect">
            <a:avLst/>
          </a:prstGeom>
          <a:noFill/>
          <a:ln/>
        </p:spPr>
        <p:txBody>
          <a:bodyPr wrap="square" lIns="0" tIns="0" rIns="0" bIns="0" rtlCol="0" anchor="ctr"/>
          <a:lstStyle/>
          <a:p>
            <a:pPr marL="0" indent="0">
              <a:buNone/>
            </a:pPr>
            <a:r>
              <a:rPr lang="en-US" sz="1300" i="1" dirty="0">
                <a:solidFill>
                  <a:srgbClr val="4A7A82"/>
                </a:solidFill>
                <a:latin typeface="Calibri" pitchFamily="34" charset="0"/>
                <a:ea typeface="Calibri" pitchFamily="34" charset="-122"/>
                <a:cs typeface="Calibri" pitchFamily="34" charset="-120"/>
              </a:rPr>
              <a:t>Three characters. One question. No easy answer.</a:t>
            </a:r>
            <a:endParaRPr lang="en-US" sz="1300" dirty="0"/>
          </a:p>
        </p:txBody>
      </p:sp>
      <p:sp>
        <p:nvSpPr>
          <p:cNvPr id="7" name="Shape 5"/>
          <p:cNvSpPr/>
          <p:nvPr/>
        </p:nvSpPr>
        <p:spPr>
          <a:xfrm>
            <a:off x="457200" y="1371600"/>
            <a:ext cx="2651760" cy="2651760"/>
          </a:xfrm>
          <a:prstGeom prst="rect">
            <a:avLst/>
          </a:prstGeom>
          <a:solidFill>
            <a:srgbClr val="FFFFFF"/>
          </a:solidFill>
          <a:ln w="12700">
            <a:solidFill>
              <a:srgbClr val="FFFFFF"/>
            </a:solidFill>
            <a:prstDash val="solid"/>
          </a:ln>
          <a:effectLst>
            <a:outerShdw blurRad="63500" dist="25400" dir="8100000" algn="bl" rotWithShape="0">
              <a:srgbClr val="000000">
                <a:alpha val="8000"/>
              </a:srgbClr>
            </a:outerShdw>
          </a:effectLst>
        </p:spPr>
        <p:txBody>
          <a:bodyPr/>
          <a:lstStyle/>
          <a:p>
            <a:endParaRPr lang="en-US"/>
          </a:p>
        </p:txBody>
      </p:sp>
      <p:sp>
        <p:nvSpPr>
          <p:cNvPr id="8" name="Text 6"/>
          <p:cNvSpPr/>
          <p:nvPr/>
        </p:nvSpPr>
        <p:spPr>
          <a:xfrm>
            <a:off x="566928" y="1444752"/>
            <a:ext cx="2468880" cy="475488"/>
          </a:xfrm>
          <a:prstGeom prst="rect">
            <a:avLst/>
          </a:prstGeom>
          <a:noFill/>
          <a:ln/>
        </p:spPr>
        <p:txBody>
          <a:bodyPr wrap="square" lIns="0" tIns="0" rIns="0" bIns="0" rtlCol="0" anchor="ctr"/>
          <a:lstStyle/>
          <a:p>
            <a:pPr marL="0" indent="0">
              <a:buNone/>
            </a:pPr>
            <a:r>
              <a:rPr lang="en-US" sz="1500" b="1" dirty="0">
                <a:solidFill>
                  <a:srgbClr val="211B41"/>
                </a:solidFill>
                <a:latin typeface="Georgia" pitchFamily="34" charset="0"/>
                <a:ea typeface="Georgia" pitchFamily="34" charset="-122"/>
                <a:cs typeface="Georgia" pitchFamily="34" charset="-120"/>
              </a:rPr>
              <a:t>The King</a:t>
            </a:r>
            <a:endParaRPr lang="en-US" sz="1500" dirty="0"/>
          </a:p>
        </p:txBody>
      </p:sp>
      <p:sp>
        <p:nvSpPr>
          <p:cNvPr id="9" name="Shape 7"/>
          <p:cNvSpPr/>
          <p:nvPr/>
        </p:nvSpPr>
        <p:spPr>
          <a:xfrm>
            <a:off x="566928" y="1938528"/>
            <a:ext cx="2432304" cy="27432"/>
          </a:xfrm>
          <a:prstGeom prst="rect">
            <a:avLst/>
          </a:prstGeom>
          <a:solidFill>
            <a:srgbClr val="BBCE8E"/>
          </a:solidFill>
          <a:ln w="12700">
            <a:solidFill>
              <a:srgbClr val="BBCE8E"/>
            </a:solidFill>
            <a:prstDash val="solid"/>
          </a:ln>
        </p:spPr>
        <p:txBody>
          <a:bodyPr/>
          <a:lstStyle/>
          <a:p>
            <a:endParaRPr lang="en-US"/>
          </a:p>
        </p:txBody>
      </p:sp>
      <p:sp>
        <p:nvSpPr>
          <p:cNvPr id="10" name="Text 8"/>
          <p:cNvSpPr/>
          <p:nvPr/>
        </p:nvSpPr>
        <p:spPr>
          <a:xfrm>
            <a:off x="566928" y="2011680"/>
            <a:ext cx="2432304" cy="402336"/>
          </a:xfrm>
          <a:prstGeom prst="rect">
            <a:avLst/>
          </a:prstGeom>
          <a:noFill/>
          <a:ln/>
        </p:spPr>
        <p:txBody>
          <a:bodyPr wrap="square" lIns="0" tIns="0" rIns="0" bIns="0" rtlCol="0" anchor="ctr"/>
          <a:lstStyle/>
          <a:p>
            <a:pPr marL="342900" indent="-342900">
              <a:buSzPct val="100000"/>
              <a:buChar char="•"/>
            </a:pPr>
            <a:r>
              <a:rPr lang="en-US" sz="1150" dirty="0">
                <a:solidFill>
                  <a:srgbClr val="211B41"/>
                </a:solidFill>
                <a:latin typeface="Calibri" pitchFamily="34" charset="0"/>
                <a:ea typeface="Calibri" pitchFamily="34" charset="-122"/>
                <a:cs typeface="Calibri" pitchFamily="34" charset="-120"/>
              </a:rPr>
              <a:t>Highest political power</a:t>
            </a:r>
            <a:endParaRPr lang="en-US" sz="1150" dirty="0"/>
          </a:p>
        </p:txBody>
      </p:sp>
      <p:sp>
        <p:nvSpPr>
          <p:cNvPr id="11" name="Text 9"/>
          <p:cNvSpPr/>
          <p:nvPr/>
        </p:nvSpPr>
        <p:spPr>
          <a:xfrm>
            <a:off x="566928" y="2441448"/>
            <a:ext cx="2432304" cy="402336"/>
          </a:xfrm>
          <a:prstGeom prst="rect">
            <a:avLst/>
          </a:prstGeom>
          <a:noFill/>
          <a:ln/>
        </p:spPr>
        <p:txBody>
          <a:bodyPr wrap="square" lIns="0" tIns="0" rIns="0" bIns="0" rtlCol="0" anchor="ctr"/>
          <a:lstStyle/>
          <a:p>
            <a:pPr marL="342900" indent="-342900">
              <a:buSzPct val="100000"/>
              <a:buChar char="•"/>
            </a:pPr>
            <a:r>
              <a:rPr lang="en-US" sz="1150" dirty="0">
                <a:solidFill>
                  <a:srgbClr val="211B41"/>
                </a:solidFill>
                <a:latin typeface="Calibri" pitchFamily="34" charset="0"/>
                <a:ea typeface="Calibri" pitchFamily="34" charset="-122"/>
                <a:cs typeface="Calibri" pitchFamily="34" charset="-120"/>
              </a:rPr>
              <a:t>Controls the treasury</a:t>
            </a:r>
            <a:endParaRPr lang="en-US" sz="1150" dirty="0"/>
          </a:p>
        </p:txBody>
      </p:sp>
      <p:sp>
        <p:nvSpPr>
          <p:cNvPr id="12" name="Text 10"/>
          <p:cNvSpPr/>
          <p:nvPr/>
        </p:nvSpPr>
        <p:spPr>
          <a:xfrm>
            <a:off x="566928" y="2871216"/>
            <a:ext cx="2432304" cy="402336"/>
          </a:xfrm>
          <a:prstGeom prst="rect">
            <a:avLst/>
          </a:prstGeom>
          <a:noFill/>
          <a:ln/>
        </p:spPr>
        <p:txBody>
          <a:bodyPr wrap="square" lIns="0" tIns="0" rIns="0" bIns="0" rtlCol="0" anchor="ctr"/>
          <a:lstStyle/>
          <a:p>
            <a:pPr marL="342900" indent="-342900">
              <a:buSzPct val="100000"/>
              <a:buChar char="•"/>
            </a:pPr>
            <a:r>
              <a:rPr lang="en-US" sz="1150" dirty="0">
                <a:solidFill>
                  <a:srgbClr val="211B41"/>
                </a:solidFill>
                <a:latin typeface="Calibri" pitchFamily="34" charset="0"/>
                <a:ea typeface="Calibri" pitchFamily="34" charset="-122"/>
                <a:cs typeface="Calibri" pitchFamily="34" charset="-120"/>
              </a:rPr>
              <a:t>Commands armies</a:t>
            </a:r>
            <a:endParaRPr lang="en-US" sz="1150" dirty="0"/>
          </a:p>
        </p:txBody>
      </p:sp>
      <p:sp>
        <p:nvSpPr>
          <p:cNvPr id="13" name="Text 11"/>
          <p:cNvSpPr/>
          <p:nvPr/>
        </p:nvSpPr>
        <p:spPr>
          <a:xfrm>
            <a:off x="566928" y="3300984"/>
            <a:ext cx="2432304" cy="402336"/>
          </a:xfrm>
          <a:prstGeom prst="rect">
            <a:avLst/>
          </a:prstGeom>
          <a:noFill/>
          <a:ln/>
        </p:spPr>
        <p:txBody>
          <a:bodyPr wrap="square" lIns="0" tIns="0" rIns="0" bIns="0" rtlCol="0" anchor="ctr"/>
          <a:lstStyle/>
          <a:p>
            <a:pPr marL="342900" indent="-342900">
              <a:buSzPct val="100000"/>
              <a:buChar char="•"/>
            </a:pPr>
            <a:r>
              <a:rPr lang="en-US" sz="1150" dirty="0">
                <a:solidFill>
                  <a:srgbClr val="211B41"/>
                </a:solidFill>
                <a:latin typeface="Calibri" pitchFamily="34" charset="0"/>
                <a:ea typeface="Calibri" pitchFamily="34" charset="-122"/>
                <a:cs typeface="Calibri" pitchFamily="34" charset="-120"/>
              </a:rPr>
              <a:t>Physically: rather unimpressive</a:t>
            </a:r>
            <a:endParaRPr lang="en-US" sz="1150" dirty="0"/>
          </a:p>
        </p:txBody>
      </p:sp>
      <p:sp>
        <p:nvSpPr>
          <p:cNvPr id="14" name="Shape 12"/>
          <p:cNvSpPr/>
          <p:nvPr/>
        </p:nvSpPr>
        <p:spPr>
          <a:xfrm>
            <a:off x="3246120" y="1371600"/>
            <a:ext cx="2651760" cy="2651760"/>
          </a:xfrm>
          <a:prstGeom prst="rect">
            <a:avLst/>
          </a:prstGeom>
          <a:solidFill>
            <a:srgbClr val="FFFFFF"/>
          </a:solidFill>
          <a:ln w="12700">
            <a:solidFill>
              <a:srgbClr val="FFFFFF"/>
            </a:solidFill>
            <a:prstDash val="solid"/>
          </a:ln>
          <a:effectLst>
            <a:outerShdw blurRad="63500" dist="25400" dir="8100000" algn="bl" rotWithShape="0">
              <a:srgbClr val="000000">
                <a:alpha val="8000"/>
              </a:srgbClr>
            </a:outerShdw>
          </a:effectLst>
        </p:spPr>
        <p:txBody>
          <a:bodyPr/>
          <a:lstStyle/>
          <a:p>
            <a:endParaRPr lang="en-US"/>
          </a:p>
        </p:txBody>
      </p:sp>
      <p:sp>
        <p:nvSpPr>
          <p:cNvPr id="15" name="Text 13"/>
          <p:cNvSpPr/>
          <p:nvPr/>
        </p:nvSpPr>
        <p:spPr>
          <a:xfrm>
            <a:off x="3355848" y="1444752"/>
            <a:ext cx="2468880" cy="475488"/>
          </a:xfrm>
          <a:prstGeom prst="rect">
            <a:avLst/>
          </a:prstGeom>
          <a:noFill/>
          <a:ln/>
        </p:spPr>
        <p:txBody>
          <a:bodyPr wrap="square" lIns="0" tIns="0" rIns="0" bIns="0" rtlCol="0" anchor="ctr"/>
          <a:lstStyle/>
          <a:p>
            <a:pPr marL="0" indent="0">
              <a:buNone/>
            </a:pPr>
            <a:r>
              <a:rPr lang="en-US" sz="1500" b="1" dirty="0">
                <a:solidFill>
                  <a:srgbClr val="211B41"/>
                </a:solidFill>
                <a:latin typeface="Georgia" pitchFamily="34" charset="0"/>
                <a:ea typeface="Georgia" pitchFamily="34" charset="-122"/>
                <a:cs typeface="Georgia" pitchFamily="34" charset="-120"/>
              </a:rPr>
              <a:t>The Peasant</a:t>
            </a:r>
            <a:endParaRPr lang="en-US" sz="1500" dirty="0"/>
          </a:p>
        </p:txBody>
      </p:sp>
      <p:sp>
        <p:nvSpPr>
          <p:cNvPr id="16" name="Shape 14"/>
          <p:cNvSpPr/>
          <p:nvPr/>
        </p:nvSpPr>
        <p:spPr>
          <a:xfrm>
            <a:off x="3355848" y="1938528"/>
            <a:ext cx="2432304" cy="27432"/>
          </a:xfrm>
          <a:prstGeom prst="rect">
            <a:avLst/>
          </a:prstGeom>
          <a:solidFill>
            <a:srgbClr val="BBCE8E"/>
          </a:solidFill>
          <a:ln w="12700">
            <a:solidFill>
              <a:srgbClr val="BBCE8E"/>
            </a:solidFill>
            <a:prstDash val="solid"/>
          </a:ln>
        </p:spPr>
        <p:txBody>
          <a:bodyPr/>
          <a:lstStyle/>
          <a:p>
            <a:endParaRPr lang="en-US"/>
          </a:p>
        </p:txBody>
      </p:sp>
      <p:sp>
        <p:nvSpPr>
          <p:cNvPr id="17" name="Text 15"/>
          <p:cNvSpPr/>
          <p:nvPr/>
        </p:nvSpPr>
        <p:spPr>
          <a:xfrm>
            <a:off x="3355848" y="2011680"/>
            <a:ext cx="2432304" cy="402336"/>
          </a:xfrm>
          <a:prstGeom prst="rect">
            <a:avLst/>
          </a:prstGeom>
          <a:noFill/>
          <a:ln/>
        </p:spPr>
        <p:txBody>
          <a:bodyPr wrap="square" lIns="0" tIns="0" rIns="0" bIns="0" rtlCol="0" anchor="ctr"/>
          <a:lstStyle/>
          <a:p>
            <a:pPr marL="342900" indent="-342900">
              <a:buSzPct val="100000"/>
              <a:buChar char="•"/>
            </a:pPr>
            <a:r>
              <a:rPr lang="en-US" sz="1150" dirty="0">
                <a:solidFill>
                  <a:srgbClr val="211B41"/>
                </a:solidFill>
                <a:latin typeface="Calibri" pitchFamily="34" charset="0"/>
                <a:ea typeface="Calibri" pitchFamily="34" charset="-122"/>
                <a:cs typeface="Calibri" pitchFamily="34" charset="-120"/>
              </a:rPr>
              <a:t>Lowest political power</a:t>
            </a:r>
            <a:endParaRPr lang="en-US" sz="1150" dirty="0"/>
          </a:p>
        </p:txBody>
      </p:sp>
      <p:sp>
        <p:nvSpPr>
          <p:cNvPr id="18" name="Text 16"/>
          <p:cNvSpPr/>
          <p:nvPr/>
        </p:nvSpPr>
        <p:spPr>
          <a:xfrm>
            <a:off x="3355848" y="2441448"/>
            <a:ext cx="2432304" cy="402336"/>
          </a:xfrm>
          <a:prstGeom prst="rect">
            <a:avLst/>
          </a:prstGeom>
          <a:noFill/>
          <a:ln/>
        </p:spPr>
        <p:txBody>
          <a:bodyPr wrap="square" lIns="0" tIns="0" rIns="0" bIns="0" rtlCol="0" anchor="ctr"/>
          <a:lstStyle/>
          <a:p>
            <a:pPr marL="342900" indent="-342900">
              <a:buSzPct val="100000"/>
              <a:buChar char="•"/>
            </a:pPr>
            <a:r>
              <a:rPr lang="en-US" sz="1150" dirty="0">
                <a:solidFill>
                  <a:srgbClr val="211B41"/>
                </a:solidFill>
                <a:latin typeface="Calibri" pitchFamily="34" charset="0"/>
                <a:ea typeface="Calibri" pitchFamily="34" charset="-122"/>
                <a:cs typeface="Calibri" pitchFamily="34" charset="-120"/>
              </a:rPr>
              <a:t>No wealth to speak of</a:t>
            </a:r>
            <a:endParaRPr lang="en-US" sz="1150" dirty="0"/>
          </a:p>
        </p:txBody>
      </p:sp>
      <p:sp>
        <p:nvSpPr>
          <p:cNvPr id="19" name="Text 17"/>
          <p:cNvSpPr/>
          <p:nvPr/>
        </p:nvSpPr>
        <p:spPr>
          <a:xfrm>
            <a:off x="3355848" y="2871216"/>
            <a:ext cx="2432304" cy="402336"/>
          </a:xfrm>
          <a:prstGeom prst="rect">
            <a:avLst/>
          </a:prstGeom>
          <a:noFill/>
          <a:ln/>
        </p:spPr>
        <p:txBody>
          <a:bodyPr wrap="square" lIns="0" tIns="0" rIns="0" bIns="0" rtlCol="0" anchor="ctr"/>
          <a:lstStyle/>
          <a:p>
            <a:pPr marL="342900" indent="-342900">
              <a:buSzPct val="100000"/>
              <a:buChar char="•"/>
            </a:pPr>
            <a:r>
              <a:rPr lang="en-US" sz="1150" dirty="0">
                <a:solidFill>
                  <a:srgbClr val="211B41"/>
                </a:solidFill>
                <a:latin typeface="Calibri" pitchFamily="34" charset="0"/>
                <a:ea typeface="Calibri" pitchFamily="34" charset="-122"/>
                <a:cs typeface="Calibri" pitchFamily="34" charset="-120"/>
              </a:rPr>
              <a:t>Can carry a harvest</a:t>
            </a:r>
            <a:endParaRPr lang="en-US" sz="1150" dirty="0"/>
          </a:p>
        </p:txBody>
      </p:sp>
      <p:sp>
        <p:nvSpPr>
          <p:cNvPr id="20" name="Text 18"/>
          <p:cNvSpPr/>
          <p:nvPr/>
        </p:nvSpPr>
        <p:spPr>
          <a:xfrm>
            <a:off x="3355848" y="3300984"/>
            <a:ext cx="2432304" cy="402336"/>
          </a:xfrm>
          <a:prstGeom prst="rect">
            <a:avLst/>
          </a:prstGeom>
          <a:noFill/>
          <a:ln/>
        </p:spPr>
        <p:txBody>
          <a:bodyPr wrap="square" lIns="0" tIns="0" rIns="0" bIns="0" rtlCol="0" anchor="ctr"/>
          <a:lstStyle/>
          <a:p>
            <a:pPr marL="342900" indent="-342900">
              <a:buSzPct val="100000"/>
              <a:buChar char="•"/>
            </a:pPr>
            <a:r>
              <a:rPr lang="en-US" sz="1150" dirty="0">
                <a:solidFill>
                  <a:srgbClr val="211B41"/>
                </a:solidFill>
                <a:latin typeface="Calibri" pitchFamily="34" charset="0"/>
                <a:ea typeface="Calibri" pitchFamily="34" charset="-122"/>
                <a:cs typeface="Calibri" pitchFamily="34" charset="-120"/>
              </a:rPr>
              <a:t>Surprisingly sturdy, actually</a:t>
            </a:r>
            <a:endParaRPr lang="en-US" sz="1150" dirty="0"/>
          </a:p>
        </p:txBody>
      </p:sp>
      <p:sp>
        <p:nvSpPr>
          <p:cNvPr id="21" name="Shape 19"/>
          <p:cNvSpPr/>
          <p:nvPr/>
        </p:nvSpPr>
        <p:spPr>
          <a:xfrm>
            <a:off x="6035040" y="1371600"/>
            <a:ext cx="2651760" cy="2651760"/>
          </a:xfrm>
          <a:prstGeom prst="rect">
            <a:avLst/>
          </a:prstGeom>
          <a:solidFill>
            <a:srgbClr val="FFFFFF"/>
          </a:solidFill>
          <a:ln w="12700">
            <a:solidFill>
              <a:srgbClr val="FFFFFF"/>
            </a:solidFill>
            <a:prstDash val="solid"/>
          </a:ln>
          <a:effectLst>
            <a:outerShdw blurRad="63500" dist="25400" dir="8100000" algn="bl" rotWithShape="0">
              <a:srgbClr val="000000">
                <a:alpha val="8000"/>
              </a:srgbClr>
            </a:outerShdw>
          </a:effectLst>
        </p:spPr>
        <p:txBody>
          <a:bodyPr/>
          <a:lstStyle/>
          <a:p>
            <a:endParaRPr lang="en-US"/>
          </a:p>
        </p:txBody>
      </p:sp>
      <p:sp>
        <p:nvSpPr>
          <p:cNvPr id="22" name="Text 20"/>
          <p:cNvSpPr/>
          <p:nvPr/>
        </p:nvSpPr>
        <p:spPr>
          <a:xfrm>
            <a:off x="6144768" y="1444752"/>
            <a:ext cx="2468880" cy="475488"/>
          </a:xfrm>
          <a:prstGeom prst="rect">
            <a:avLst/>
          </a:prstGeom>
          <a:noFill/>
          <a:ln/>
        </p:spPr>
        <p:txBody>
          <a:bodyPr wrap="square" lIns="0" tIns="0" rIns="0" bIns="0" rtlCol="0" anchor="ctr"/>
          <a:lstStyle/>
          <a:p>
            <a:pPr marL="0" indent="0">
              <a:buNone/>
            </a:pPr>
            <a:r>
              <a:rPr lang="en-US" sz="1500" b="1" dirty="0">
                <a:solidFill>
                  <a:srgbClr val="211B41"/>
                </a:solidFill>
                <a:latin typeface="Georgia" pitchFamily="34" charset="0"/>
                <a:ea typeface="Georgia" pitchFamily="34" charset="-122"/>
                <a:cs typeface="Georgia" pitchFamily="34" charset="-120"/>
              </a:rPr>
              <a:t>The Horse</a:t>
            </a:r>
            <a:endParaRPr lang="en-US" sz="1500" dirty="0"/>
          </a:p>
        </p:txBody>
      </p:sp>
      <p:sp>
        <p:nvSpPr>
          <p:cNvPr id="23" name="Shape 21"/>
          <p:cNvSpPr/>
          <p:nvPr/>
        </p:nvSpPr>
        <p:spPr>
          <a:xfrm>
            <a:off x="6144768" y="1938528"/>
            <a:ext cx="2432304" cy="27432"/>
          </a:xfrm>
          <a:prstGeom prst="rect">
            <a:avLst/>
          </a:prstGeom>
          <a:solidFill>
            <a:srgbClr val="BBCE8E"/>
          </a:solidFill>
          <a:ln w="12700">
            <a:solidFill>
              <a:srgbClr val="BBCE8E"/>
            </a:solidFill>
            <a:prstDash val="solid"/>
          </a:ln>
        </p:spPr>
        <p:txBody>
          <a:bodyPr/>
          <a:lstStyle/>
          <a:p>
            <a:endParaRPr lang="en-US"/>
          </a:p>
        </p:txBody>
      </p:sp>
      <p:sp>
        <p:nvSpPr>
          <p:cNvPr id="24" name="Text 22"/>
          <p:cNvSpPr/>
          <p:nvPr/>
        </p:nvSpPr>
        <p:spPr>
          <a:xfrm>
            <a:off x="6144768" y="2011680"/>
            <a:ext cx="2432304" cy="402336"/>
          </a:xfrm>
          <a:prstGeom prst="rect">
            <a:avLst/>
          </a:prstGeom>
          <a:noFill/>
          <a:ln/>
        </p:spPr>
        <p:txBody>
          <a:bodyPr wrap="square" lIns="0" tIns="0" rIns="0" bIns="0" rtlCol="0" anchor="ctr"/>
          <a:lstStyle/>
          <a:p>
            <a:pPr marL="342900" indent="-342900">
              <a:buSzPct val="100000"/>
              <a:buChar char="•"/>
            </a:pPr>
            <a:r>
              <a:rPr lang="en-US" sz="1150" dirty="0">
                <a:solidFill>
                  <a:srgbClr val="211B41"/>
                </a:solidFill>
                <a:latin typeface="Calibri" pitchFamily="34" charset="0"/>
                <a:ea typeface="Calibri" pitchFamily="34" charset="-122"/>
                <a:cs typeface="Calibri" pitchFamily="34" charset="-120"/>
              </a:rPr>
              <a:t>Zero political power</a:t>
            </a:r>
            <a:endParaRPr lang="en-US" sz="1150" dirty="0"/>
          </a:p>
        </p:txBody>
      </p:sp>
      <p:sp>
        <p:nvSpPr>
          <p:cNvPr id="25" name="Text 23"/>
          <p:cNvSpPr/>
          <p:nvPr/>
        </p:nvSpPr>
        <p:spPr>
          <a:xfrm>
            <a:off x="6144768" y="2441448"/>
            <a:ext cx="2432304" cy="402336"/>
          </a:xfrm>
          <a:prstGeom prst="rect">
            <a:avLst/>
          </a:prstGeom>
          <a:noFill/>
          <a:ln/>
        </p:spPr>
        <p:txBody>
          <a:bodyPr wrap="square" lIns="0" tIns="0" rIns="0" bIns="0" rtlCol="0" anchor="ctr"/>
          <a:lstStyle/>
          <a:p>
            <a:pPr marL="342900" indent="-342900">
              <a:buSzPct val="100000"/>
              <a:buChar char="•"/>
            </a:pPr>
            <a:r>
              <a:rPr lang="en-US" sz="1150" dirty="0">
                <a:solidFill>
                  <a:srgbClr val="211B41"/>
                </a:solidFill>
                <a:latin typeface="Calibri" pitchFamily="34" charset="0"/>
                <a:ea typeface="Calibri" pitchFamily="34" charset="-122"/>
                <a:cs typeface="Calibri" pitchFamily="34" charset="-120"/>
              </a:rPr>
              <a:t>Owns nothing (obviously)</a:t>
            </a:r>
            <a:endParaRPr lang="en-US" sz="1150" dirty="0"/>
          </a:p>
        </p:txBody>
      </p:sp>
      <p:sp>
        <p:nvSpPr>
          <p:cNvPr id="26" name="Text 24"/>
          <p:cNvSpPr/>
          <p:nvPr/>
        </p:nvSpPr>
        <p:spPr>
          <a:xfrm>
            <a:off x="6144768" y="2871216"/>
            <a:ext cx="2432304" cy="402336"/>
          </a:xfrm>
          <a:prstGeom prst="rect">
            <a:avLst/>
          </a:prstGeom>
          <a:noFill/>
          <a:ln/>
        </p:spPr>
        <p:txBody>
          <a:bodyPr wrap="square" lIns="0" tIns="0" rIns="0" bIns="0" rtlCol="0" anchor="ctr"/>
          <a:lstStyle/>
          <a:p>
            <a:pPr marL="342900" indent="-342900">
              <a:buSzPct val="100000"/>
              <a:buChar char="•"/>
            </a:pPr>
            <a:r>
              <a:rPr lang="en-US" sz="1150" dirty="0">
                <a:solidFill>
                  <a:srgbClr val="211B41"/>
                </a:solidFill>
                <a:latin typeface="Calibri" pitchFamily="34" charset="0"/>
                <a:ea typeface="Calibri" pitchFamily="34" charset="-122"/>
                <a:cs typeface="Calibri" pitchFamily="34" charset="-120"/>
              </a:rPr>
              <a:t>Can carry the king AND the harvest</a:t>
            </a:r>
            <a:endParaRPr lang="en-US" sz="1150" dirty="0"/>
          </a:p>
        </p:txBody>
      </p:sp>
      <p:sp>
        <p:nvSpPr>
          <p:cNvPr id="27" name="Text 25"/>
          <p:cNvSpPr/>
          <p:nvPr/>
        </p:nvSpPr>
        <p:spPr>
          <a:xfrm>
            <a:off x="6144768" y="3300984"/>
            <a:ext cx="2432304" cy="402336"/>
          </a:xfrm>
          <a:prstGeom prst="rect">
            <a:avLst/>
          </a:prstGeom>
          <a:noFill/>
          <a:ln/>
        </p:spPr>
        <p:txBody>
          <a:bodyPr wrap="square" lIns="0" tIns="0" rIns="0" bIns="0" rtlCol="0" anchor="ctr"/>
          <a:lstStyle/>
          <a:p>
            <a:pPr marL="342900" indent="-342900">
              <a:buSzPct val="100000"/>
              <a:buChar char="•"/>
            </a:pPr>
            <a:r>
              <a:rPr lang="en-US" sz="1150" dirty="0">
                <a:solidFill>
                  <a:srgbClr val="211B41"/>
                </a:solidFill>
                <a:latin typeface="Calibri" pitchFamily="34" charset="0"/>
                <a:ea typeface="Calibri" pitchFamily="34" charset="-122"/>
                <a:cs typeface="Calibri" pitchFamily="34" charset="-120"/>
              </a:rPr>
              <a:t>Fastest of the three</a:t>
            </a:r>
            <a:endParaRPr lang="en-US" sz="1150" dirty="0"/>
          </a:p>
        </p:txBody>
      </p:sp>
      <p:sp>
        <p:nvSpPr>
          <p:cNvPr id="28" name="Shape 26"/>
          <p:cNvSpPr/>
          <p:nvPr/>
        </p:nvSpPr>
        <p:spPr>
          <a:xfrm>
            <a:off x="457200" y="4160520"/>
            <a:ext cx="8229600" cy="594360"/>
          </a:xfrm>
          <a:prstGeom prst="rect">
            <a:avLst/>
          </a:prstGeom>
          <a:solidFill>
            <a:srgbClr val="F0B20D"/>
          </a:solidFill>
          <a:ln w="12700">
            <a:solidFill>
              <a:srgbClr val="F0B20D"/>
            </a:solidFill>
            <a:prstDash val="solid"/>
          </a:ln>
        </p:spPr>
        <p:txBody>
          <a:bodyPr/>
          <a:lstStyle/>
          <a:p>
            <a:endParaRPr lang="en-US"/>
          </a:p>
        </p:txBody>
      </p:sp>
      <p:sp>
        <p:nvSpPr>
          <p:cNvPr id="29" name="Text 27"/>
          <p:cNvSpPr/>
          <p:nvPr/>
        </p:nvSpPr>
        <p:spPr>
          <a:xfrm>
            <a:off x="548640" y="4178808"/>
            <a:ext cx="8046720" cy="566928"/>
          </a:xfrm>
          <a:prstGeom prst="rect">
            <a:avLst/>
          </a:prstGeom>
          <a:noFill/>
          <a:ln/>
        </p:spPr>
        <p:txBody>
          <a:bodyPr wrap="square" rtlCol="0" anchor="ctr"/>
          <a:lstStyle/>
          <a:p>
            <a:pPr marL="0" indent="0">
              <a:buNone/>
            </a:pPr>
            <a:r>
              <a:rPr lang="en-US" sz="1300" b="1" dirty="0">
                <a:solidFill>
                  <a:srgbClr val="211B41"/>
                </a:solidFill>
                <a:latin typeface="Calibri" pitchFamily="34" charset="0"/>
                <a:ea typeface="Calibri" pitchFamily="34" charset="-122"/>
                <a:cs typeface="Calibri" pitchFamily="34" charset="-120"/>
              </a:rPr>
              <a:t>So — who has the most power? The answer is: it depends entirely on which dimension of power you're measuring.</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FF4E0"/>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600" b="1" dirty="0">
                <a:solidFill>
                  <a:srgbClr val="211B41"/>
                </a:solidFill>
                <a:latin typeface="Georgia" pitchFamily="34" charset="0"/>
                <a:ea typeface="Georgia" pitchFamily="34" charset="-122"/>
                <a:cs typeface="Georgia" pitchFamily="34" charset="-120"/>
              </a:rPr>
              <a:t>Enter the Vector: Nuance, Encoded as Numbers</a:t>
            </a:r>
            <a:endParaRPr lang="en-US" sz="2600" dirty="0"/>
          </a:p>
        </p:txBody>
      </p:sp>
      <p:sp>
        <p:nvSpPr>
          <p:cNvPr id="3" name="Shape 1"/>
          <p:cNvSpPr/>
          <p:nvPr/>
        </p:nvSpPr>
        <p:spPr>
          <a:xfrm>
            <a:off x="457200" y="822960"/>
            <a:ext cx="8229600" cy="27432"/>
          </a:xfrm>
          <a:prstGeom prst="rect">
            <a:avLst/>
          </a:prstGeom>
          <a:solidFill>
            <a:srgbClr val="BBCE8E"/>
          </a:solidFill>
          <a:ln w="12700">
            <a:solidFill>
              <a:srgbClr val="BBCE8E"/>
            </a:solidFill>
            <a:prstDash val="solid"/>
          </a:ln>
        </p:spPr>
        <p:txBody>
          <a:bodyPr/>
          <a:lstStyle/>
          <a:p>
            <a:endParaRPr lang="en-US"/>
          </a:p>
        </p:txBody>
      </p:sp>
      <p:sp>
        <p:nvSpPr>
          <p:cNvPr id="4" name="Shape 2"/>
          <p:cNvSpPr/>
          <p:nvPr/>
        </p:nvSpPr>
        <p:spPr>
          <a:xfrm>
            <a:off x="0" y="4919472"/>
            <a:ext cx="9144000" cy="224028"/>
          </a:xfrm>
          <a:prstGeom prst="rect">
            <a:avLst/>
          </a:prstGeom>
          <a:solidFill>
            <a:srgbClr val="BBCE8E"/>
          </a:solidFill>
          <a:ln w="12700">
            <a:solidFill>
              <a:srgbClr val="BBCE8E"/>
            </a:solidFill>
            <a:prstDash val="solid"/>
          </a:ln>
        </p:spPr>
        <p:txBody>
          <a:bodyPr/>
          <a:lstStyle/>
          <a:p>
            <a:endParaRPr lang="en-US"/>
          </a:p>
        </p:txBody>
      </p:sp>
      <p:sp>
        <p:nvSpPr>
          <p:cNvPr id="5" name="Text 3"/>
          <p:cNvSpPr/>
          <p:nvPr/>
        </p:nvSpPr>
        <p:spPr>
          <a:xfrm>
            <a:off x="274320" y="4928616"/>
            <a:ext cx="8595360" cy="201168"/>
          </a:xfrm>
          <a:prstGeom prst="rect">
            <a:avLst/>
          </a:prstGeom>
          <a:noFill/>
          <a:ln/>
        </p:spPr>
        <p:txBody>
          <a:bodyPr wrap="square" lIns="0" tIns="0" rIns="0" bIns="0" rtlCol="0" anchor="ctr"/>
          <a:lstStyle/>
          <a:p>
            <a:pPr marL="0" indent="0">
              <a:buNone/>
            </a:pPr>
            <a:r>
              <a:rPr lang="en-US" sz="900" dirty="0">
                <a:solidFill>
                  <a:srgbClr val="4A7A82"/>
                </a:solidFill>
                <a:latin typeface="Calibri" pitchFamily="34" charset="0"/>
                <a:ea typeface="Calibri" pitchFamily="34" charset="-122"/>
                <a:cs typeface="Calibri" pitchFamily="34" charset="-120"/>
              </a:rPr>
              <a:t>Blockstruct GmbH  ·  AI Demystified Workshop  ·  UniCredit  ·  April 2026</a:t>
            </a:r>
            <a:endParaRPr lang="en-US" sz="900" dirty="0"/>
          </a:p>
        </p:txBody>
      </p:sp>
      <p:sp>
        <p:nvSpPr>
          <p:cNvPr id="6" name="Text 4"/>
          <p:cNvSpPr/>
          <p:nvPr/>
        </p:nvSpPr>
        <p:spPr>
          <a:xfrm>
            <a:off x="457200" y="914400"/>
            <a:ext cx="8229600" cy="457200"/>
          </a:xfrm>
          <a:prstGeom prst="rect">
            <a:avLst/>
          </a:prstGeom>
          <a:noFill/>
          <a:ln/>
        </p:spPr>
        <p:txBody>
          <a:bodyPr wrap="square" lIns="0" tIns="0" rIns="0" bIns="0" rtlCol="0" anchor="ctr"/>
          <a:lstStyle/>
          <a:p>
            <a:pPr marL="0" indent="0">
              <a:buNone/>
            </a:pPr>
            <a:r>
              <a:rPr lang="en-US" sz="1300" dirty="0">
                <a:solidFill>
                  <a:srgbClr val="211B41"/>
                </a:solidFill>
                <a:latin typeface="Calibri" pitchFamily="34" charset="0"/>
                <a:ea typeface="Calibri" pitchFamily="34" charset="-122"/>
                <a:cs typeface="Calibri" pitchFamily="34" charset="-120"/>
              </a:rPr>
              <a:t>A vector is simply a list of numbers that locates something in a multi-dimensional space. Each dimension captures one aspect of meaning.</a:t>
            </a:r>
            <a:endParaRPr lang="en-US" sz="1300" dirty="0"/>
          </a:p>
        </p:txBody>
      </p:sp>
      <p:sp>
        <p:nvSpPr>
          <p:cNvPr id="7" name="Shape 5"/>
          <p:cNvSpPr/>
          <p:nvPr/>
        </p:nvSpPr>
        <p:spPr>
          <a:xfrm>
            <a:off x="457200" y="1463040"/>
            <a:ext cx="1371600" cy="411480"/>
          </a:xfrm>
          <a:prstGeom prst="rect">
            <a:avLst/>
          </a:prstGeom>
          <a:solidFill>
            <a:srgbClr val="626EFF"/>
          </a:solidFill>
          <a:ln w="12700">
            <a:solidFill>
              <a:srgbClr val="626EFF"/>
            </a:solidFill>
            <a:prstDash val="solid"/>
          </a:ln>
        </p:spPr>
        <p:txBody>
          <a:bodyPr/>
          <a:lstStyle/>
          <a:p>
            <a:endParaRPr lang="en-US"/>
          </a:p>
        </p:txBody>
      </p:sp>
      <p:sp>
        <p:nvSpPr>
          <p:cNvPr id="8" name="Text 6"/>
          <p:cNvSpPr/>
          <p:nvPr/>
        </p:nvSpPr>
        <p:spPr>
          <a:xfrm>
            <a:off x="457200" y="1463040"/>
            <a:ext cx="1371600" cy="411480"/>
          </a:xfrm>
          <a:prstGeom prst="rect">
            <a:avLst/>
          </a:prstGeom>
          <a:noFill/>
          <a:ln/>
        </p:spPr>
        <p:txBody>
          <a:bodyPr wrap="square" lIns="0" tIns="0" rIns="0" bIns="0" rtlCol="0" anchor="ctr"/>
          <a:lstStyle/>
          <a:p>
            <a:pPr marL="0" indent="0" algn="ctr">
              <a:buNone/>
            </a:pPr>
            <a:endParaRPr lang="en-US" sz="1100" dirty="0"/>
          </a:p>
        </p:txBody>
      </p:sp>
      <p:sp>
        <p:nvSpPr>
          <p:cNvPr id="9" name="Shape 7"/>
          <p:cNvSpPr/>
          <p:nvPr/>
        </p:nvSpPr>
        <p:spPr>
          <a:xfrm>
            <a:off x="1828800" y="1463040"/>
            <a:ext cx="1828800" cy="411480"/>
          </a:xfrm>
          <a:prstGeom prst="rect">
            <a:avLst/>
          </a:prstGeom>
          <a:solidFill>
            <a:srgbClr val="626EFF"/>
          </a:solidFill>
          <a:ln w="12700">
            <a:solidFill>
              <a:srgbClr val="626EFF"/>
            </a:solidFill>
            <a:prstDash val="solid"/>
          </a:ln>
        </p:spPr>
        <p:txBody>
          <a:bodyPr/>
          <a:lstStyle/>
          <a:p>
            <a:endParaRPr lang="en-US"/>
          </a:p>
        </p:txBody>
      </p:sp>
      <p:sp>
        <p:nvSpPr>
          <p:cNvPr id="10" name="Text 8"/>
          <p:cNvSpPr/>
          <p:nvPr/>
        </p:nvSpPr>
        <p:spPr>
          <a:xfrm>
            <a:off x="1828800" y="1463040"/>
            <a:ext cx="18288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Political power</a:t>
            </a:r>
            <a:endParaRPr lang="en-US" sz="1100" dirty="0"/>
          </a:p>
        </p:txBody>
      </p:sp>
      <p:sp>
        <p:nvSpPr>
          <p:cNvPr id="11" name="Shape 9"/>
          <p:cNvSpPr/>
          <p:nvPr/>
        </p:nvSpPr>
        <p:spPr>
          <a:xfrm>
            <a:off x="3657600" y="1463040"/>
            <a:ext cx="1828800" cy="411480"/>
          </a:xfrm>
          <a:prstGeom prst="rect">
            <a:avLst/>
          </a:prstGeom>
          <a:solidFill>
            <a:srgbClr val="626EFF"/>
          </a:solidFill>
          <a:ln w="12700">
            <a:solidFill>
              <a:srgbClr val="626EFF"/>
            </a:solidFill>
            <a:prstDash val="solid"/>
          </a:ln>
        </p:spPr>
        <p:txBody>
          <a:bodyPr/>
          <a:lstStyle/>
          <a:p>
            <a:endParaRPr lang="en-US"/>
          </a:p>
        </p:txBody>
      </p:sp>
      <p:sp>
        <p:nvSpPr>
          <p:cNvPr id="12" name="Text 10"/>
          <p:cNvSpPr/>
          <p:nvPr/>
        </p:nvSpPr>
        <p:spPr>
          <a:xfrm>
            <a:off x="3657600" y="1463040"/>
            <a:ext cx="18288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Physical power</a:t>
            </a:r>
            <a:endParaRPr lang="en-US" sz="1100" dirty="0"/>
          </a:p>
        </p:txBody>
      </p:sp>
      <p:sp>
        <p:nvSpPr>
          <p:cNvPr id="13" name="Shape 11"/>
          <p:cNvSpPr/>
          <p:nvPr/>
        </p:nvSpPr>
        <p:spPr>
          <a:xfrm>
            <a:off x="5486400" y="1463040"/>
            <a:ext cx="1828800" cy="411480"/>
          </a:xfrm>
          <a:prstGeom prst="rect">
            <a:avLst/>
          </a:prstGeom>
          <a:solidFill>
            <a:srgbClr val="626EFF"/>
          </a:solidFill>
          <a:ln w="12700">
            <a:solidFill>
              <a:srgbClr val="626EFF"/>
            </a:solidFill>
            <a:prstDash val="solid"/>
          </a:ln>
        </p:spPr>
        <p:txBody>
          <a:bodyPr/>
          <a:lstStyle/>
          <a:p>
            <a:endParaRPr lang="en-US"/>
          </a:p>
        </p:txBody>
      </p:sp>
      <p:sp>
        <p:nvSpPr>
          <p:cNvPr id="14" name="Text 12"/>
          <p:cNvSpPr/>
          <p:nvPr/>
        </p:nvSpPr>
        <p:spPr>
          <a:xfrm>
            <a:off x="5486400" y="1463040"/>
            <a:ext cx="18288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Economic power</a:t>
            </a:r>
            <a:endParaRPr lang="en-US" sz="1100" dirty="0"/>
          </a:p>
        </p:txBody>
      </p:sp>
      <p:sp>
        <p:nvSpPr>
          <p:cNvPr id="15" name="Shape 13"/>
          <p:cNvSpPr/>
          <p:nvPr/>
        </p:nvSpPr>
        <p:spPr>
          <a:xfrm>
            <a:off x="7315200" y="1463040"/>
            <a:ext cx="1828800" cy="411480"/>
          </a:xfrm>
          <a:prstGeom prst="rect">
            <a:avLst/>
          </a:prstGeom>
          <a:solidFill>
            <a:srgbClr val="626EFF"/>
          </a:solidFill>
          <a:ln w="12700">
            <a:solidFill>
              <a:srgbClr val="626EFF"/>
            </a:solidFill>
            <a:prstDash val="solid"/>
          </a:ln>
        </p:spPr>
        <p:txBody>
          <a:bodyPr/>
          <a:lstStyle/>
          <a:p>
            <a:endParaRPr lang="en-US"/>
          </a:p>
        </p:txBody>
      </p:sp>
      <p:sp>
        <p:nvSpPr>
          <p:cNvPr id="16" name="Text 14"/>
          <p:cNvSpPr/>
          <p:nvPr/>
        </p:nvSpPr>
        <p:spPr>
          <a:xfrm>
            <a:off x="7315200" y="1463040"/>
            <a:ext cx="182880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Social status</a:t>
            </a:r>
            <a:endParaRPr lang="en-US" sz="1100" dirty="0"/>
          </a:p>
        </p:txBody>
      </p:sp>
      <p:sp>
        <p:nvSpPr>
          <p:cNvPr id="17" name="Shape 15"/>
          <p:cNvSpPr/>
          <p:nvPr/>
        </p:nvSpPr>
        <p:spPr>
          <a:xfrm>
            <a:off x="457200" y="1874520"/>
            <a:ext cx="1371600" cy="457200"/>
          </a:xfrm>
          <a:prstGeom prst="rect">
            <a:avLst/>
          </a:prstGeom>
          <a:solidFill>
            <a:srgbClr val="EFF4E0"/>
          </a:solidFill>
          <a:ln w="12700">
            <a:solidFill>
              <a:srgbClr val="BBCE8E"/>
            </a:solidFill>
            <a:prstDash val="solid"/>
          </a:ln>
        </p:spPr>
        <p:txBody>
          <a:bodyPr/>
          <a:lstStyle/>
          <a:p>
            <a:endParaRPr lang="en-US"/>
          </a:p>
        </p:txBody>
      </p:sp>
      <p:sp>
        <p:nvSpPr>
          <p:cNvPr id="18" name="Text 16"/>
          <p:cNvSpPr/>
          <p:nvPr/>
        </p:nvSpPr>
        <p:spPr>
          <a:xfrm>
            <a:off x="502920" y="1874520"/>
            <a:ext cx="1325880" cy="457200"/>
          </a:xfrm>
          <a:prstGeom prst="rect">
            <a:avLst/>
          </a:prstGeom>
          <a:noFill/>
          <a:ln/>
        </p:spPr>
        <p:txBody>
          <a:bodyPr wrap="square" lIns="0" tIns="0" rIns="0" bIns="0" rtlCol="0" anchor="ctr"/>
          <a:lstStyle/>
          <a:p>
            <a:pPr marL="0" indent="0" algn="l">
              <a:buNone/>
            </a:pPr>
            <a:r>
              <a:rPr lang="en-US" sz="1200" b="1" dirty="0">
                <a:solidFill>
                  <a:srgbClr val="211B41"/>
                </a:solidFill>
                <a:latin typeface="Calibri" pitchFamily="34" charset="0"/>
                <a:ea typeface="Calibri" pitchFamily="34" charset="-122"/>
                <a:cs typeface="Calibri" pitchFamily="34" charset="-120"/>
              </a:rPr>
              <a:t>King</a:t>
            </a:r>
            <a:endParaRPr lang="en-US" sz="1200" dirty="0"/>
          </a:p>
        </p:txBody>
      </p:sp>
      <p:sp>
        <p:nvSpPr>
          <p:cNvPr id="19" name="Shape 17"/>
          <p:cNvSpPr/>
          <p:nvPr/>
        </p:nvSpPr>
        <p:spPr>
          <a:xfrm>
            <a:off x="1828800" y="1874520"/>
            <a:ext cx="1828800" cy="457200"/>
          </a:xfrm>
          <a:prstGeom prst="rect">
            <a:avLst/>
          </a:prstGeom>
          <a:solidFill>
            <a:srgbClr val="FFFFFF"/>
          </a:solidFill>
          <a:ln w="12700">
            <a:solidFill>
              <a:srgbClr val="BBCE8E"/>
            </a:solidFill>
            <a:prstDash val="solid"/>
          </a:ln>
        </p:spPr>
        <p:txBody>
          <a:bodyPr/>
          <a:lstStyle/>
          <a:p>
            <a:endParaRPr lang="en-US"/>
          </a:p>
        </p:txBody>
      </p:sp>
      <p:sp>
        <p:nvSpPr>
          <p:cNvPr id="20" name="Text 18"/>
          <p:cNvSpPr/>
          <p:nvPr/>
        </p:nvSpPr>
        <p:spPr>
          <a:xfrm>
            <a:off x="1874520" y="1874520"/>
            <a:ext cx="1783080" cy="457200"/>
          </a:xfrm>
          <a:prstGeom prst="rect">
            <a:avLst/>
          </a:prstGeom>
          <a:noFill/>
          <a:ln/>
        </p:spPr>
        <p:txBody>
          <a:bodyPr wrap="square" lIns="0" tIns="0" rIns="0" bIns="0" rtlCol="0" anchor="ctr"/>
          <a:lstStyle/>
          <a:p>
            <a:pPr marL="0" indent="0" algn="ctr">
              <a:buNone/>
            </a:pPr>
            <a:r>
              <a:rPr lang="en-US" sz="1200" dirty="0">
                <a:solidFill>
                  <a:srgbClr val="211B41"/>
                </a:solidFill>
                <a:latin typeface="Calibri" pitchFamily="34" charset="0"/>
                <a:ea typeface="Calibri" pitchFamily="34" charset="-122"/>
                <a:cs typeface="Calibri" pitchFamily="34" charset="-120"/>
              </a:rPr>
              <a:t>10 / 10</a:t>
            </a:r>
            <a:endParaRPr lang="en-US" sz="1200" dirty="0"/>
          </a:p>
        </p:txBody>
      </p:sp>
      <p:sp>
        <p:nvSpPr>
          <p:cNvPr id="21" name="Shape 19"/>
          <p:cNvSpPr/>
          <p:nvPr/>
        </p:nvSpPr>
        <p:spPr>
          <a:xfrm>
            <a:off x="3657600" y="1874520"/>
            <a:ext cx="1828800" cy="457200"/>
          </a:xfrm>
          <a:prstGeom prst="rect">
            <a:avLst/>
          </a:prstGeom>
          <a:solidFill>
            <a:srgbClr val="FFFFFF"/>
          </a:solidFill>
          <a:ln w="12700">
            <a:solidFill>
              <a:srgbClr val="BBCE8E"/>
            </a:solidFill>
            <a:prstDash val="solid"/>
          </a:ln>
        </p:spPr>
        <p:txBody>
          <a:bodyPr/>
          <a:lstStyle/>
          <a:p>
            <a:endParaRPr lang="en-US"/>
          </a:p>
        </p:txBody>
      </p:sp>
      <p:sp>
        <p:nvSpPr>
          <p:cNvPr id="22" name="Text 20"/>
          <p:cNvSpPr/>
          <p:nvPr/>
        </p:nvSpPr>
        <p:spPr>
          <a:xfrm>
            <a:off x="3703320" y="1874520"/>
            <a:ext cx="1783080" cy="457200"/>
          </a:xfrm>
          <a:prstGeom prst="rect">
            <a:avLst/>
          </a:prstGeom>
          <a:noFill/>
          <a:ln/>
        </p:spPr>
        <p:txBody>
          <a:bodyPr wrap="square" lIns="0" tIns="0" rIns="0" bIns="0" rtlCol="0" anchor="ctr"/>
          <a:lstStyle/>
          <a:p>
            <a:pPr marL="0" indent="0" algn="ctr">
              <a:buNone/>
            </a:pPr>
            <a:r>
              <a:rPr lang="en-US" sz="1200" dirty="0">
                <a:solidFill>
                  <a:srgbClr val="211B41"/>
                </a:solidFill>
                <a:latin typeface="Calibri" pitchFamily="34" charset="0"/>
                <a:ea typeface="Calibri" pitchFamily="34" charset="-122"/>
                <a:cs typeface="Calibri" pitchFamily="34" charset="-120"/>
              </a:rPr>
              <a:t>3 / 10</a:t>
            </a:r>
            <a:endParaRPr lang="en-US" sz="1200" dirty="0"/>
          </a:p>
        </p:txBody>
      </p:sp>
      <p:sp>
        <p:nvSpPr>
          <p:cNvPr id="23" name="Shape 21"/>
          <p:cNvSpPr/>
          <p:nvPr/>
        </p:nvSpPr>
        <p:spPr>
          <a:xfrm>
            <a:off x="5486400" y="1874520"/>
            <a:ext cx="1828800" cy="457200"/>
          </a:xfrm>
          <a:prstGeom prst="rect">
            <a:avLst/>
          </a:prstGeom>
          <a:solidFill>
            <a:srgbClr val="FFFFFF"/>
          </a:solidFill>
          <a:ln w="12700">
            <a:solidFill>
              <a:srgbClr val="BBCE8E"/>
            </a:solidFill>
            <a:prstDash val="solid"/>
          </a:ln>
        </p:spPr>
        <p:txBody>
          <a:bodyPr/>
          <a:lstStyle/>
          <a:p>
            <a:endParaRPr lang="en-US"/>
          </a:p>
        </p:txBody>
      </p:sp>
      <p:sp>
        <p:nvSpPr>
          <p:cNvPr id="24" name="Text 22"/>
          <p:cNvSpPr/>
          <p:nvPr/>
        </p:nvSpPr>
        <p:spPr>
          <a:xfrm>
            <a:off x="5532120" y="1874520"/>
            <a:ext cx="1783080" cy="457200"/>
          </a:xfrm>
          <a:prstGeom prst="rect">
            <a:avLst/>
          </a:prstGeom>
          <a:noFill/>
          <a:ln/>
        </p:spPr>
        <p:txBody>
          <a:bodyPr wrap="square" lIns="0" tIns="0" rIns="0" bIns="0" rtlCol="0" anchor="ctr"/>
          <a:lstStyle/>
          <a:p>
            <a:pPr marL="0" indent="0" algn="ctr">
              <a:buNone/>
            </a:pPr>
            <a:r>
              <a:rPr lang="en-US" sz="1200" dirty="0">
                <a:solidFill>
                  <a:srgbClr val="211B41"/>
                </a:solidFill>
                <a:latin typeface="Calibri" pitchFamily="34" charset="0"/>
                <a:ea typeface="Calibri" pitchFamily="34" charset="-122"/>
                <a:cs typeface="Calibri" pitchFamily="34" charset="-120"/>
              </a:rPr>
              <a:t>9 / 10</a:t>
            </a:r>
            <a:endParaRPr lang="en-US" sz="1200" dirty="0"/>
          </a:p>
        </p:txBody>
      </p:sp>
      <p:sp>
        <p:nvSpPr>
          <p:cNvPr id="25" name="Shape 23"/>
          <p:cNvSpPr/>
          <p:nvPr/>
        </p:nvSpPr>
        <p:spPr>
          <a:xfrm>
            <a:off x="7315200" y="1874520"/>
            <a:ext cx="1828800" cy="457200"/>
          </a:xfrm>
          <a:prstGeom prst="rect">
            <a:avLst/>
          </a:prstGeom>
          <a:solidFill>
            <a:srgbClr val="FFFFFF"/>
          </a:solidFill>
          <a:ln w="12700">
            <a:solidFill>
              <a:srgbClr val="BBCE8E"/>
            </a:solidFill>
            <a:prstDash val="solid"/>
          </a:ln>
        </p:spPr>
        <p:txBody>
          <a:bodyPr/>
          <a:lstStyle/>
          <a:p>
            <a:endParaRPr lang="en-US"/>
          </a:p>
        </p:txBody>
      </p:sp>
      <p:sp>
        <p:nvSpPr>
          <p:cNvPr id="26" name="Text 24"/>
          <p:cNvSpPr/>
          <p:nvPr/>
        </p:nvSpPr>
        <p:spPr>
          <a:xfrm>
            <a:off x="7360920" y="1874520"/>
            <a:ext cx="1783080" cy="457200"/>
          </a:xfrm>
          <a:prstGeom prst="rect">
            <a:avLst/>
          </a:prstGeom>
          <a:noFill/>
          <a:ln/>
        </p:spPr>
        <p:txBody>
          <a:bodyPr wrap="square" lIns="0" tIns="0" rIns="0" bIns="0" rtlCol="0" anchor="ctr"/>
          <a:lstStyle/>
          <a:p>
            <a:pPr marL="0" indent="0" algn="ctr">
              <a:buNone/>
            </a:pPr>
            <a:r>
              <a:rPr lang="en-US" sz="1200" dirty="0">
                <a:solidFill>
                  <a:srgbClr val="211B41"/>
                </a:solidFill>
                <a:latin typeface="Calibri" pitchFamily="34" charset="0"/>
                <a:ea typeface="Calibri" pitchFamily="34" charset="-122"/>
                <a:cs typeface="Calibri" pitchFamily="34" charset="-120"/>
              </a:rPr>
              <a:t>10 / 10</a:t>
            </a:r>
            <a:endParaRPr lang="en-US" sz="1200" dirty="0"/>
          </a:p>
        </p:txBody>
      </p:sp>
      <p:sp>
        <p:nvSpPr>
          <p:cNvPr id="27" name="Shape 25"/>
          <p:cNvSpPr/>
          <p:nvPr/>
        </p:nvSpPr>
        <p:spPr>
          <a:xfrm>
            <a:off x="457200" y="2331720"/>
            <a:ext cx="1371600" cy="457200"/>
          </a:xfrm>
          <a:prstGeom prst="rect">
            <a:avLst/>
          </a:prstGeom>
          <a:solidFill>
            <a:srgbClr val="EFF4E0"/>
          </a:solidFill>
          <a:ln w="12700">
            <a:solidFill>
              <a:srgbClr val="BBCE8E"/>
            </a:solidFill>
            <a:prstDash val="solid"/>
          </a:ln>
        </p:spPr>
        <p:txBody>
          <a:bodyPr/>
          <a:lstStyle/>
          <a:p>
            <a:endParaRPr lang="en-US"/>
          </a:p>
        </p:txBody>
      </p:sp>
      <p:sp>
        <p:nvSpPr>
          <p:cNvPr id="28" name="Text 26"/>
          <p:cNvSpPr/>
          <p:nvPr/>
        </p:nvSpPr>
        <p:spPr>
          <a:xfrm>
            <a:off x="502920" y="2331720"/>
            <a:ext cx="1325880" cy="457200"/>
          </a:xfrm>
          <a:prstGeom prst="rect">
            <a:avLst/>
          </a:prstGeom>
          <a:noFill/>
          <a:ln/>
        </p:spPr>
        <p:txBody>
          <a:bodyPr wrap="square" lIns="0" tIns="0" rIns="0" bIns="0" rtlCol="0" anchor="ctr"/>
          <a:lstStyle/>
          <a:p>
            <a:pPr marL="0" indent="0" algn="l">
              <a:buNone/>
            </a:pPr>
            <a:r>
              <a:rPr lang="en-US" sz="1200" b="1" dirty="0">
                <a:solidFill>
                  <a:srgbClr val="211B41"/>
                </a:solidFill>
                <a:latin typeface="Calibri" pitchFamily="34" charset="0"/>
                <a:ea typeface="Calibri" pitchFamily="34" charset="-122"/>
                <a:cs typeface="Calibri" pitchFamily="34" charset="-120"/>
              </a:rPr>
              <a:t>Peasant</a:t>
            </a:r>
            <a:endParaRPr lang="en-US" sz="1200" dirty="0"/>
          </a:p>
        </p:txBody>
      </p:sp>
      <p:sp>
        <p:nvSpPr>
          <p:cNvPr id="29" name="Shape 27"/>
          <p:cNvSpPr/>
          <p:nvPr/>
        </p:nvSpPr>
        <p:spPr>
          <a:xfrm>
            <a:off x="1828800" y="2331720"/>
            <a:ext cx="1828800" cy="457200"/>
          </a:xfrm>
          <a:prstGeom prst="rect">
            <a:avLst/>
          </a:prstGeom>
          <a:solidFill>
            <a:srgbClr val="F8F9F4"/>
          </a:solidFill>
          <a:ln w="12700">
            <a:solidFill>
              <a:srgbClr val="BBCE8E"/>
            </a:solidFill>
            <a:prstDash val="solid"/>
          </a:ln>
        </p:spPr>
        <p:txBody>
          <a:bodyPr/>
          <a:lstStyle/>
          <a:p>
            <a:endParaRPr lang="en-US"/>
          </a:p>
        </p:txBody>
      </p:sp>
      <p:sp>
        <p:nvSpPr>
          <p:cNvPr id="30" name="Text 28"/>
          <p:cNvSpPr/>
          <p:nvPr/>
        </p:nvSpPr>
        <p:spPr>
          <a:xfrm>
            <a:off x="1874520" y="2331720"/>
            <a:ext cx="1783080" cy="457200"/>
          </a:xfrm>
          <a:prstGeom prst="rect">
            <a:avLst/>
          </a:prstGeom>
          <a:noFill/>
          <a:ln/>
        </p:spPr>
        <p:txBody>
          <a:bodyPr wrap="square" lIns="0" tIns="0" rIns="0" bIns="0" rtlCol="0" anchor="ctr"/>
          <a:lstStyle/>
          <a:p>
            <a:pPr marL="0" indent="0" algn="ctr">
              <a:buNone/>
            </a:pPr>
            <a:r>
              <a:rPr lang="en-US" sz="1200" dirty="0">
                <a:solidFill>
                  <a:srgbClr val="211B41"/>
                </a:solidFill>
                <a:latin typeface="Calibri" pitchFamily="34" charset="0"/>
                <a:ea typeface="Calibri" pitchFamily="34" charset="-122"/>
                <a:cs typeface="Calibri" pitchFamily="34" charset="-120"/>
              </a:rPr>
              <a:t>1 / 10</a:t>
            </a:r>
            <a:endParaRPr lang="en-US" sz="1200" dirty="0"/>
          </a:p>
        </p:txBody>
      </p:sp>
      <p:sp>
        <p:nvSpPr>
          <p:cNvPr id="31" name="Shape 29"/>
          <p:cNvSpPr/>
          <p:nvPr/>
        </p:nvSpPr>
        <p:spPr>
          <a:xfrm>
            <a:off x="3657600" y="2331720"/>
            <a:ext cx="1828800" cy="457200"/>
          </a:xfrm>
          <a:prstGeom prst="rect">
            <a:avLst/>
          </a:prstGeom>
          <a:solidFill>
            <a:srgbClr val="F8F9F4"/>
          </a:solidFill>
          <a:ln w="12700">
            <a:solidFill>
              <a:srgbClr val="BBCE8E"/>
            </a:solidFill>
            <a:prstDash val="solid"/>
          </a:ln>
        </p:spPr>
        <p:txBody>
          <a:bodyPr/>
          <a:lstStyle/>
          <a:p>
            <a:endParaRPr lang="en-US"/>
          </a:p>
        </p:txBody>
      </p:sp>
      <p:sp>
        <p:nvSpPr>
          <p:cNvPr id="32" name="Text 30"/>
          <p:cNvSpPr/>
          <p:nvPr/>
        </p:nvSpPr>
        <p:spPr>
          <a:xfrm>
            <a:off x="3703320" y="2331720"/>
            <a:ext cx="1783080" cy="457200"/>
          </a:xfrm>
          <a:prstGeom prst="rect">
            <a:avLst/>
          </a:prstGeom>
          <a:noFill/>
          <a:ln/>
        </p:spPr>
        <p:txBody>
          <a:bodyPr wrap="square" lIns="0" tIns="0" rIns="0" bIns="0" rtlCol="0" anchor="ctr"/>
          <a:lstStyle/>
          <a:p>
            <a:pPr marL="0" indent="0" algn="ctr">
              <a:buNone/>
            </a:pPr>
            <a:r>
              <a:rPr lang="en-US" sz="1200" dirty="0">
                <a:solidFill>
                  <a:srgbClr val="211B41"/>
                </a:solidFill>
                <a:latin typeface="Calibri" pitchFamily="34" charset="0"/>
                <a:ea typeface="Calibri" pitchFamily="34" charset="-122"/>
                <a:cs typeface="Calibri" pitchFamily="34" charset="-120"/>
              </a:rPr>
              <a:t>6 / 10</a:t>
            </a:r>
            <a:endParaRPr lang="en-US" sz="1200" dirty="0"/>
          </a:p>
        </p:txBody>
      </p:sp>
      <p:sp>
        <p:nvSpPr>
          <p:cNvPr id="33" name="Shape 31"/>
          <p:cNvSpPr/>
          <p:nvPr/>
        </p:nvSpPr>
        <p:spPr>
          <a:xfrm>
            <a:off x="5486400" y="2331720"/>
            <a:ext cx="1828800" cy="457200"/>
          </a:xfrm>
          <a:prstGeom prst="rect">
            <a:avLst/>
          </a:prstGeom>
          <a:solidFill>
            <a:srgbClr val="F8F9F4"/>
          </a:solidFill>
          <a:ln w="12700">
            <a:solidFill>
              <a:srgbClr val="BBCE8E"/>
            </a:solidFill>
            <a:prstDash val="solid"/>
          </a:ln>
        </p:spPr>
        <p:txBody>
          <a:bodyPr/>
          <a:lstStyle/>
          <a:p>
            <a:endParaRPr lang="en-US"/>
          </a:p>
        </p:txBody>
      </p:sp>
      <p:sp>
        <p:nvSpPr>
          <p:cNvPr id="34" name="Text 32"/>
          <p:cNvSpPr/>
          <p:nvPr/>
        </p:nvSpPr>
        <p:spPr>
          <a:xfrm>
            <a:off x="5532120" y="2331720"/>
            <a:ext cx="1783080" cy="457200"/>
          </a:xfrm>
          <a:prstGeom prst="rect">
            <a:avLst/>
          </a:prstGeom>
          <a:noFill/>
          <a:ln/>
        </p:spPr>
        <p:txBody>
          <a:bodyPr wrap="square" lIns="0" tIns="0" rIns="0" bIns="0" rtlCol="0" anchor="ctr"/>
          <a:lstStyle/>
          <a:p>
            <a:pPr marL="0" indent="0" algn="ctr">
              <a:buNone/>
            </a:pPr>
            <a:r>
              <a:rPr lang="en-US" sz="1200" dirty="0">
                <a:solidFill>
                  <a:srgbClr val="211B41"/>
                </a:solidFill>
                <a:latin typeface="Calibri" pitchFamily="34" charset="0"/>
                <a:ea typeface="Calibri" pitchFamily="34" charset="-122"/>
                <a:cs typeface="Calibri" pitchFamily="34" charset="-120"/>
              </a:rPr>
              <a:t>1 / 10</a:t>
            </a:r>
            <a:endParaRPr lang="en-US" sz="1200" dirty="0"/>
          </a:p>
        </p:txBody>
      </p:sp>
      <p:sp>
        <p:nvSpPr>
          <p:cNvPr id="35" name="Shape 33"/>
          <p:cNvSpPr/>
          <p:nvPr/>
        </p:nvSpPr>
        <p:spPr>
          <a:xfrm>
            <a:off x="7315200" y="2331720"/>
            <a:ext cx="1828800" cy="457200"/>
          </a:xfrm>
          <a:prstGeom prst="rect">
            <a:avLst/>
          </a:prstGeom>
          <a:solidFill>
            <a:srgbClr val="F8F9F4"/>
          </a:solidFill>
          <a:ln w="12700">
            <a:solidFill>
              <a:srgbClr val="BBCE8E"/>
            </a:solidFill>
            <a:prstDash val="solid"/>
          </a:ln>
        </p:spPr>
        <p:txBody>
          <a:bodyPr/>
          <a:lstStyle/>
          <a:p>
            <a:endParaRPr lang="en-US"/>
          </a:p>
        </p:txBody>
      </p:sp>
      <p:sp>
        <p:nvSpPr>
          <p:cNvPr id="36" name="Text 34"/>
          <p:cNvSpPr/>
          <p:nvPr/>
        </p:nvSpPr>
        <p:spPr>
          <a:xfrm>
            <a:off x="7360920" y="2331720"/>
            <a:ext cx="1783080" cy="457200"/>
          </a:xfrm>
          <a:prstGeom prst="rect">
            <a:avLst/>
          </a:prstGeom>
          <a:noFill/>
          <a:ln/>
        </p:spPr>
        <p:txBody>
          <a:bodyPr wrap="square" lIns="0" tIns="0" rIns="0" bIns="0" rtlCol="0" anchor="ctr"/>
          <a:lstStyle/>
          <a:p>
            <a:pPr marL="0" indent="0" algn="ctr">
              <a:buNone/>
            </a:pPr>
            <a:r>
              <a:rPr lang="en-US" sz="1200" dirty="0">
                <a:solidFill>
                  <a:srgbClr val="211B41"/>
                </a:solidFill>
                <a:latin typeface="Calibri" pitchFamily="34" charset="0"/>
                <a:ea typeface="Calibri" pitchFamily="34" charset="-122"/>
                <a:cs typeface="Calibri" pitchFamily="34" charset="-120"/>
              </a:rPr>
              <a:t>2 / 10</a:t>
            </a:r>
            <a:endParaRPr lang="en-US" sz="1200" dirty="0"/>
          </a:p>
        </p:txBody>
      </p:sp>
      <p:sp>
        <p:nvSpPr>
          <p:cNvPr id="37" name="Shape 35"/>
          <p:cNvSpPr/>
          <p:nvPr/>
        </p:nvSpPr>
        <p:spPr>
          <a:xfrm>
            <a:off x="457200" y="2788920"/>
            <a:ext cx="1371600" cy="457200"/>
          </a:xfrm>
          <a:prstGeom prst="rect">
            <a:avLst/>
          </a:prstGeom>
          <a:solidFill>
            <a:srgbClr val="EFF4E0"/>
          </a:solidFill>
          <a:ln w="12700">
            <a:solidFill>
              <a:srgbClr val="BBCE8E"/>
            </a:solidFill>
            <a:prstDash val="solid"/>
          </a:ln>
        </p:spPr>
        <p:txBody>
          <a:bodyPr/>
          <a:lstStyle/>
          <a:p>
            <a:endParaRPr lang="en-US"/>
          </a:p>
        </p:txBody>
      </p:sp>
      <p:sp>
        <p:nvSpPr>
          <p:cNvPr id="38" name="Text 36"/>
          <p:cNvSpPr/>
          <p:nvPr/>
        </p:nvSpPr>
        <p:spPr>
          <a:xfrm>
            <a:off x="502920" y="2788920"/>
            <a:ext cx="1325880" cy="457200"/>
          </a:xfrm>
          <a:prstGeom prst="rect">
            <a:avLst/>
          </a:prstGeom>
          <a:noFill/>
          <a:ln/>
        </p:spPr>
        <p:txBody>
          <a:bodyPr wrap="square" lIns="0" tIns="0" rIns="0" bIns="0" rtlCol="0" anchor="ctr"/>
          <a:lstStyle/>
          <a:p>
            <a:pPr marL="0" indent="0" algn="l">
              <a:buNone/>
            </a:pPr>
            <a:r>
              <a:rPr lang="en-US" sz="1200" b="1" dirty="0">
                <a:solidFill>
                  <a:srgbClr val="211B41"/>
                </a:solidFill>
                <a:latin typeface="Calibri" pitchFamily="34" charset="0"/>
                <a:ea typeface="Calibri" pitchFamily="34" charset="-122"/>
                <a:cs typeface="Calibri" pitchFamily="34" charset="-120"/>
              </a:rPr>
              <a:t>Horse</a:t>
            </a:r>
            <a:endParaRPr lang="en-US" sz="1200" dirty="0"/>
          </a:p>
        </p:txBody>
      </p:sp>
      <p:sp>
        <p:nvSpPr>
          <p:cNvPr id="39" name="Shape 37"/>
          <p:cNvSpPr/>
          <p:nvPr/>
        </p:nvSpPr>
        <p:spPr>
          <a:xfrm>
            <a:off x="1828800" y="2788920"/>
            <a:ext cx="1828800" cy="457200"/>
          </a:xfrm>
          <a:prstGeom prst="rect">
            <a:avLst/>
          </a:prstGeom>
          <a:solidFill>
            <a:srgbClr val="FFFFFF"/>
          </a:solidFill>
          <a:ln w="12700">
            <a:solidFill>
              <a:srgbClr val="BBCE8E"/>
            </a:solidFill>
            <a:prstDash val="solid"/>
          </a:ln>
        </p:spPr>
        <p:txBody>
          <a:bodyPr/>
          <a:lstStyle/>
          <a:p>
            <a:endParaRPr lang="en-US"/>
          </a:p>
        </p:txBody>
      </p:sp>
      <p:sp>
        <p:nvSpPr>
          <p:cNvPr id="40" name="Text 38"/>
          <p:cNvSpPr/>
          <p:nvPr/>
        </p:nvSpPr>
        <p:spPr>
          <a:xfrm>
            <a:off x="1874520" y="2788920"/>
            <a:ext cx="1783080" cy="457200"/>
          </a:xfrm>
          <a:prstGeom prst="rect">
            <a:avLst/>
          </a:prstGeom>
          <a:noFill/>
          <a:ln/>
        </p:spPr>
        <p:txBody>
          <a:bodyPr wrap="square" lIns="0" tIns="0" rIns="0" bIns="0" rtlCol="0" anchor="ctr"/>
          <a:lstStyle/>
          <a:p>
            <a:pPr marL="0" indent="0" algn="ctr">
              <a:buNone/>
            </a:pPr>
            <a:r>
              <a:rPr lang="en-US" sz="1200" dirty="0">
                <a:solidFill>
                  <a:srgbClr val="211B41"/>
                </a:solidFill>
                <a:latin typeface="Calibri" pitchFamily="34" charset="0"/>
                <a:ea typeface="Calibri" pitchFamily="34" charset="-122"/>
                <a:cs typeface="Calibri" pitchFamily="34" charset="-120"/>
              </a:rPr>
              <a:t>0 / 10</a:t>
            </a:r>
            <a:endParaRPr lang="en-US" sz="1200" dirty="0"/>
          </a:p>
        </p:txBody>
      </p:sp>
      <p:sp>
        <p:nvSpPr>
          <p:cNvPr id="41" name="Shape 39"/>
          <p:cNvSpPr/>
          <p:nvPr/>
        </p:nvSpPr>
        <p:spPr>
          <a:xfrm>
            <a:off x="3657600" y="2788920"/>
            <a:ext cx="1828800" cy="457200"/>
          </a:xfrm>
          <a:prstGeom prst="rect">
            <a:avLst/>
          </a:prstGeom>
          <a:solidFill>
            <a:srgbClr val="FFFFFF"/>
          </a:solidFill>
          <a:ln w="12700">
            <a:solidFill>
              <a:srgbClr val="BBCE8E"/>
            </a:solidFill>
            <a:prstDash val="solid"/>
          </a:ln>
        </p:spPr>
        <p:txBody>
          <a:bodyPr/>
          <a:lstStyle/>
          <a:p>
            <a:endParaRPr lang="en-US"/>
          </a:p>
        </p:txBody>
      </p:sp>
      <p:sp>
        <p:nvSpPr>
          <p:cNvPr id="42" name="Text 40"/>
          <p:cNvSpPr/>
          <p:nvPr/>
        </p:nvSpPr>
        <p:spPr>
          <a:xfrm>
            <a:off x="3703320" y="2788920"/>
            <a:ext cx="1783080" cy="457200"/>
          </a:xfrm>
          <a:prstGeom prst="rect">
            <a:avLst/>
          </a:prstGeom>
          <a:noFill/>
          <a:ln/>
        </p:spPr>
        <p:txBody>
          <a:bodyPr wrap="square" lIns="0" tIns="0" rIns="0" bIns="0" rtlCol="0" anchor="ctr"/>
          <a:lstStyle/>
          <a:p>
            <a:pPr marL="0" indent="0" algn="ctr">
              <a:buNone/>
            </a:pPr>
            <a:r>
              <a:rPr lang="en-US" sz="1200" dirty="0">
                <a:solidFill>
                  <a:srgbClr val="211B41"/>
                </a:solidFill>
                <a:latin typeface="Calibri" pitchFamily="34" charset="0"/>
                <a:ea typeface="Calibri" pitchFamily="34" charset="-122"/>
                <a:cs typeface="Calibri" pitchFamily="34" charset="-120"/>
              </a:rPr>
              <a:t>9 / 10</a:t>
            </a:r>
            <a:endParaRPr lang="en-US" sz="1200" dirty="0"/>
          </a:p>
        </p:txBody>
      </p:sp>
      <p:sp>
        <p:nvSpPr>
          <p:cNvPr id="43" name="Shape 41"/>
          <p:cNvSpPr/>
          <p:nvPr/>
        </p:nvSpPr>
        <p:spPr>
          <a:xfrm>
            <a:off x="5486400" y="2788920"/>
            <a:ext cx="1828800" cy="457200"/>
          </a:xfrm>
          <a:prstGeom prst="rect">
            <a:avLst/>
          </a:prstGeom>
          <a:solidFill>
            <a:srgbClr val="FFFFFF"/>
          </a:solidFill>
          <a:ln w="12700">
            <a:solidFill>
              <a:srgbClr val="BBCE8E"/>
            </a:solidFill>
            <a:prstDash val="solid"/>
          </a:ln>
        </p:spPr>
        <p:txBody>
          <a:bodyPr/>
          <a:lstStyle/>
          <a:p>
            <a:endParaRPr lang="en-US"/>
          </a:p>
        </p:txBody>
      </p:sp>
      <p:sp>
        <p:nvSpPr>
          <p:cNvPr id="44" name="Text 42"/>
          <p:cNvSpPr/>
          <p:nvPr/>
        </p:nvSpPr>
        <p:spPr>
          <a:xfrm>
            <a:off x="5532120" y="2788920"/>
            <a:ext cx="1783080" cy="457200"/>
          </a:xfrm>
          <a:prstGeom prst="rect">
            <a:avLst/>
          </a:prstGeom>
          <a:noFill/>
          <a:ln/>
        </p:spPr>
        <p:txBody>
          <a:bodyPr wrap="square" lIns="0" tIns="0" rIns="0" bIns="0" rtlCol="0" anchor="ctr"/>
          <a:lstStyle/>
          <a:p>
            <a:pPr marL="0" indent="0" algn="ctr">
              <a:buNone/>
            </a:pPr>
            <a:r>
              <a:rPr lang="en-US" sz="1200" dirty="0">
                <a:solidFill>
                  <a:srgbClr val="211B41"/>
                </a:solidFill>
                <a:latin typeface="Calibri" pitchFamily="34" charset="0"/>
                <a:ea typeface="Calibri" pitchFamily="34" charset="-122"/>
                <a:cs typeface="Calibri" pitchFamily="34" charset="-120"/>
              </a:rPr>
              <a:t>0 / 10</a:t>
            </a:r>
            <a:endParaRPr lang="en-US" sz="1200" dirty="0"/>
          </a:p>
        </p:txBody>
      </p:sp>
      <p:sp>
        <p:nvSpPr>
          <p:cNvPr id="45" name="Shape 43"/>
          <p:cNvSpPr/>
          <p:nvPr/>
        </p:nvSpPr>
        <p:spPr>
          <a:xfrm>
            <a:off x="7315200" y="2788920"/>
            <a:ext cx="1828800" cy="457200"/>
          </a:xfrm>
          <a:prstGeom prst="rect">
            <a:avLst/>
          </a:prstGeom>
          <a:solidFill>
            <a:srgbClr val="FFFFFF"/>
          </a:solidFill>
          <a:ln w="12700">
            <a:solidFill>
              <a:srgbClr val="BBCE8E"/>
            </a:solidFill>
            <a:prstDash val="solid"/>
          </a:ln>
        </p:spPr>
        <p:txBody>
          <a:bodyPr/>
          <a:lstStyle/>
          <a:p>
            <a:endParaRPr lang="en-US"/>
          </a:p>
        </p:txBody>
      </p:sp>
      <p:sp>
        <p:nvSpPr>
          <p:cNvPr id="46" name="Text 44"/>
          <p:cNvSpPr/>
          <p:nvPr/>
        </p:nvSpPr>
        <p:spPr>
          <a:xfrm>
            <a:off x="7360920" y="2788920"/>
            <a:ext cx="1783080" cy="457200"/>
          </a:xfrm>
          <a:prstGeom prst="rect">
            <a:avLst/>
          </a:prstGeom>
          <a:noFill/>
          <a:ln/>
        </p:spPr>
        <p:txBody>
          <a:bodyPr wrap="square" lIns="0" tIns="0" rIns="0" bIns="0" rtlCol="0" anchor="ctr"/>
          <a:lstStyle/>
          <a:p>
            <a:pPr marL="0" indent="0" algn="ctr">
              <a:buNone/>
            </a:pPr>
            <a:r>
              <a:rPr lang="en-US" sz="1200" dirty="0">
                <a:solidFill>
                  <a:srgbClr val="211B41"/>
                </a:solidFill>
                <a:latin typeface="Calibri" pitchFamily="34" charset="0"/>
                <a:ea typeface="Calibri" pitchFamily="34" charset="-122"/>
                <a:cs typeface="Calibri" pitchFamily="34" charset="-120"/>
              </a:rPr>
              <a:t>1 / 10</a:t>
            </a:r>
            <a:endParaRPr lang="en-US" sz="1200" dirty="0"/>
          </a:p>
        </p:txBody>
      </p:sp>
      <p:sp>
        <p:nvSpPr>
          <p:cNvPr id="47" name="Shape 45"/>
          <p:cNvSpPr/>
          <p:nvPr/>
        </p:nvSpPr>
        <p:spPr>
          <a:xfrm>
            <a:off x="457200" y="3310128"/>
            <a:ext cx="8229600" cy="658368"/>
          </a:xfrm>
          <a:prstGeom prst="rect">
            <a:avLst/>
          </a:prstGeom>
          <a:solidFill>
            <a:srgbClr val="211B41"/>
          </a:solidFill>
          <a:ln w="12700">
            <a:solidFill>
              <a:srgbClr val="211B41"/>
            </a:solidFill>
            <a:prstDash val="solid"/>
          </a:ln>
        </p:spPr>
        <p:txBody>
          <a:bodyPr/>
          <a:lstStyle/>
          <a:p>
            <a:endParaRPr lang="en-US"/>
          </a:p>
        </p:txBody>
      </p:sp>
      <p:sp>
        <p:nvSpPr>
          <p:cNvPr id="48" name="Text 46"/>
          <p:cNvSpPr/>
          <p:nvPr/>
        </p:nvSpPr>
        <p:spPr>
          <a:xfrm>
            <a:off x="548640" y="3328416"/>
            <a:ext cx="8046720" cy="621792"/>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AI does exactly this — but with 1,536 dimensions instead of 4. Words, sentences, documents all become vectors. "Client complaint" and "customer dissatisfaction" end up very close together. "Basel III" and "Beyonce" do not.</a:t>
            </a:r>
            <a:endParaRPr lang="en-US" sz="1200" dirty="0"/>
          </a:p>
        </p:txBody>
      </p:sp>
      <p:sp>
        <p:nvSpPr>
          <p:cNvPr id="49" name="Text 47"/>
          <p:cNvSpPr/>
          <p:nvPr/>
        </p:nvSpPr>
        <p:spPr>
          <a:xfrm>
            <a:off x="457200" y="4041648"/>
            <a:ext cx="8229600" cy="347472"/>
          </a:xfrm>
          <a:prstGeom prst="rect">
            <a:avLst/>
          </a:prstGeom>
          <a:noFill/>
          <a:ln/>
        </p:spPr>
        <p:txBody>
          <a:bodyPr wrap="square" lIns="0" tIns="0" rIns="0" bIns="0" rtlCol="0" anchor="ctr"/>
          <a:lstStyle/>
          <a:p>
            <a:pPr marL="0" indent="0">
              <a:buNone/>
            </a:pPr>
            <a:r>
              <a:rPr lang="en-US" sz="1200" i="1" dirty="0">
                <a:solidFill>
                  <a:srgbClr val="4A7A82"/>
                </a:solidFill>
                <a:latin typeface="Calibri" pitchFamily="34" charset="0"/>
                <a:ea typeface="Calibri" pitchFamily="34" charset="-122"/>
                <a:cs typeface="Calibri" pitchFamily="34" charset="-120"/>
              </a:rPr>
              <a:t>This is how AI understands nuance, finds similar documents, and connects ideas across your entire knowledge base.</a:t>
            </a:r>
            <a:endParaRPr lang="en-US" sz="1200" dirty="0"/>
          </a:p>
        </p:txBody>
      </p:sp>
      <p:sp>
        <p:nvSpPr>
          <p:cNvPr id="50" name="Text 48"/>
          <p:cNvSpPr/>
          <p:nvPr/>
        </p:nvSpPr>
        <p:spPr>
          <a:xfrm>
            <a:off x="457200" y="4462272"/>
            <a:ext cx="8229600" cy="347472"/>
          </a:xfrm>
          <a:prstGeom prst="rect">
            <a:avLst/>
          </a:prstGeom>
          <a:noFill/>
          <a:ln/>
        </p:spPr>
        <p:txBody>
          <a:bodyPr wrap="square" lIns="0" tIns="0" rIns="0" bIns="0" rtlCol="0" anchor="ctr"/>
          <a:lstStyle/>
          <a:p>
            <a:pPr marL="0" indent="0">
              <a:buNone/>
            </a:pPr>
            <a:r>
              <a:rPr lang="en-US" sz="1600" b="1" dirty="0">
                <a:solidFill>
                  <a:srgbClr val="626EFF"/>
                </a:solidFill>
                <a:latin typeface="Georgia" pitchFamily="34" charset="0"/>
                <a:ea typeface="Georgia" pitchFamily="34" charset="-122"/>
                <a:cs typeface="Georgia" pitchFamily="34" charset="-120"/>
              </a:rPr>
              <a:t>It's not reading — it's geometry.</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FF4E0"/>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600" b="1" dirty="0">
                <a:solidFill>
                  <a:srgbClr val="211B41"/>
                </a:solidFill>
                <a:latin typeface="Georgia" pitchFamily="34" charset="0"/>
                <a:ea typeface="Georgia" pitchFamily="34" charset="-122"/>
                <a:cs typeface="Georgia" pitchFamily="34" charset="-120"/>
              </a:rPr>
              <a:t>"Act as an Expert in Meteorology Talking to a 10-Year-Old"</a:t>
            </a:r>
            <a:endParaRPr lang="en-US" sz="2600" dirty="0"/>
          </a:p>
        </p:txBody>
      </p:sp>
      <p:sp>
        <p:nvSpPr>
          <p:cNvPr id="3" name="Shape 1"/>
          <p:cNvSpPr/>
          <p:nvPr/>
        </p:nvSpPr>
        <p:spPr>
          <a:xfrm>
            <a:off x="457200" y="822960"/>
            <a:ext cx="8229600" cy="27432"/>
          </a:xfrm>
          <a:prstGeom prst="rect">
            <a:avLst/>
          </a:prstGeom>
          <a:solidFill>
            <a:srgbClr val="BBCE8E"/>
          </a:solidFill>
          <a:ln w="12700">
            <a:solidFill>
              <a:srgbClr val="BBCE8E"/>
            </a:solidFill>
            <a:prstDash val="solid"/>
          </a:ln>
        </p:spPr>
        <p:txBody>
          <a:bodyPr/>
          <a:lstStyle/>
          <a:p>
            <a:endParaRPr lang="en-US"/>
          </a:p>
        </p:txBody>
      </p:sp>
      <p:sp>
        <p:nvSpPr>
          <p:cNvPr id="4" name="Shape 2"/>
          <p:cNvSpPr/>
          <p:nvPr/>
        </p:nvSpPr>
        <p:spPr>
          <a:xfrm>
            <a:off x="0" y="4919472"/>
            <a:ext cx="9144000" cy="224028"/>
          </a:xfrm>
          <a:prstGeom prst="rect">
            <a:avLst/>
          </a:prstGeom>
          <a:solidFill>
            <a:srgbClr val="BBCE8E"/>
          </a:solidFill>
          <a:ln w="12700">
            <a:solidFill>
              <a:srgbClr val="BBCE8E"/>
            </a:solidFill>
            <a:prstDash val="solid"/>
          </a:ln>
        </p:spPr>
        <p:txBody>
          <a:bodyPr/>
          <a:lstStyle/>
          <a:p>
            <a:endParaRPr lang="en-US"/>
          </a:p>
        </p:txBody>
      </p:sp>
      <p:sp>
        <p:nvSpPr>
          <p:cNvPr id="5" name="Text 3"/>
          <p:cNvSpPr/>
          <p:nvPr/>
        </p:nvSpPr>
        <p:spPr>
          <a:xfrm>
            <a:off x="274320" y="4928616"/>
            <a:ext cx="8595360" cy="201168"/>
          </a:xfrm>
          <a:prstGeom prst="rect">
            <a:avLst/>
          </a:prstGeom>
          <a:noFill/>
          <a:ln/>
        </p:spPr>
        <p:txBody>
          <a:bodyPr wrap="square" lIns="0" tIns="0" rIns="0" bIns="0" rtlCol="0" anchor="ctr"/>
          <a:lstStyle/>
          <a:p>
            <a:pPr marL="0" indent="0">
              <a:buNone/>
            </a:pPr>
            <a:r>
              <a:rPr lang="en-US" sz="900" dirty="0">
                <a:solidFill>
                  <a:srgbClr val="4A7A82"/>
                </a:solidFill>
                <a:latin typeface="Calibri" pitchFamily="34" charset="0"/>
                <a:ea typeface="Calibri" pitchFamily="34" charset="-122"/>
                <a:cs typeface="Calibri" pitchFamily="34" charset="-120"/>
              </a:rPr>
              <a:t>Blockstruct GmbH  ·  AI Demystified Workshop  ·  UniCredit  ·  April 2026</a:t>
            </a:r>
            <a:endParaRPr lang="en-US" sz="900" dirty="0"/>
          </a:p>
        </p:txBody>
      </p:sp>
      <p:sp>
        <p:nvSpPr>
          <p:cNvPr id="6" name="Shape 4"/>
          <p:cNvSpPr/>
          <p:nvPr/>
        </p:nvSpPr>
        <p:spPr>
          <a:xfrm>
            <a:off x="457200" y="960120"/>
            <a:ext cx="3931920" cy="3794760"/>
          </a:xfrm>
          <a:prstGeom prst="rect">
            <a:avLst/>
          </a:prstGeom>
          <a:solidFill>
            <a:srgbClr val="211B41"/>
          </a:solidFill>
          <a:ln w="12700">
            <a:solidFill>
              <a:srgbClr val="211B41"/>
            </a:solidFill>
            <a:prstDash val="solid"/>
          </a:ln>
          <a:effectLst>
            <a:outerShdw blurRad="127000" dist="38100" dir="8100000" algn="bl" rotWithShape="0">
              <a:srgbClr val="000000">
                <a:alpha val="13000"/>
              </a:srgbClr>
            </a:outerShdw>
          </a:effectLst>
        </p:spPr>
        <p:txBody>
          <a:bodyPr/>
          <a:lstStyle/>
          <a:p>
            <a:endParaRPr lang="en-US"/>
          </a:p>
        </p:txBody>
      </p:sp>
      <p:sp>
        <p:nvSpPr>
          <p:cNvPr id="7" name="Text 5"/>
          <p:cNvSpPr/>
          <p:nvPr/>
        </p:nvSpPr>
        <p:spPr>
          <a:xfrm>
            <a:off x="548640" y="1024128"/>
            <a:ext cx="3657600" cy="320040"/>
          </a:xfrm>
          <a:prstGeom prst="rect">
            <a:avLst/>
          </a:prstGeom>
          <a:noFill/>
          <a:ln/>
        </p:spPr>
        <p:txBody>
          <a:bodyPr wrap="square" lIns="0" tIns="0" rIns="0" bIns="0" rtlCol="0" anchor="ctr"/>
          <a:lstStyle/>
          <a:p>
            <a:pPr marL="0" indent="0">
              <a:buNone/>
            </a:pPr>
            <a:r>
              <a:rPr lang="en-US" sz="1000" b="1" kern="0" spc="300" dirty="0">
                <a:solidFill>
                  <a:srgbClr val="F0B20D"/>
                </a:solidFill>
                <a:latin typeface="Calibri" pitchFamily="34" charset="0"/>
                <a:ea typeface="Calibri" pitchFamily="34" charset="-122"/>
                <a:cs typeface="Calibri" pitchFamily="34" charset="-120"/>
              </a:rPr>
              <a:t>THE PROMPT</a:t>
            </a:r>
            <a:endParaRPr lang="en-US" sz="1000" dirty="0"/>
          </a:p>
        </p:txBody>
      </p:sp>
      <p:sp>
        <p:nvSpPr>
          <p:cNvPr id="8" name="Text 6"/>
          <p:cNvSpPr/>
          <p:nvPr/>
        </p:nvSpPr>
        <p:spPr>
          <a:xfrm>
            <a:off x="548640" y="1389888"/>
            <a:ext cx="3749040" cy="1737360"/>
          </a:xfrm>
          <a:prstGeom prst="rect">
            <a:avLst/>
          </a:prstGeom>
          <a:noFill/>
          <a:ln/>
        </p:spPr>
        <p:txBody>
          <a:bodyPr wrap="square" rtlCol="0" anchor="ctr"/>
          <a:lstStyle/>
          <a:p>
            <a:pPr marL="0" indent="0">
              <a:buNone/>
            </a:pPr>
            <a:r>
              <a:rPr lang="en-US" sz="1400" i="1" dirty="0">
                <a:solidFill>
                  <a:srgbClr val="FFFFFF"/>
                </a:solidFill>
                <a:latin typeface="Georgia" pitchFamily="34" charset="0"/>
                <a:ea typeface="Georgia" pitchFamily="34" charset="-122"/>
                <a:cs typeface="Georgia" pitchFamily="34" charset="-120"/>
              </a:rPr>
              <a:t>"Explain why it rains. You are a leading meteorologist. Your audience is a 10-year-old who has never heard the word 'evaporation' before."</a:t>
            </a:r>
            <a:endParaRPr lang="en-US" sz="1400" dirty="0"/>
          </a:p>
        </p:txBody>
      </p:sp>
      <p:sp>
        <p:nvSpPr>
          <p:cNvPr id="9" name="Text 7"/>
          <p:cNvSpPr/>
          <p:nvPr/>
        </p:nvSpPr>
        <p:spPr>
          <a:xfrm>
            <a:off x="548640" y="3200400"/>
            <a:ext cx="3749040" cy="1280160"/>
          </a:xfrm>
          <a:prstGeom prst="rect">
            <a:avLst/>
          </a:prstGeom>
          <a:noFill/>
          <a:ln/>
        </p:spPr>
        <p:txBody>
          <a:bodyPr wrap="square" rtlCol="0" anchor="ctr"/>
          <a:lstStyle/>
          <a:p>
            <a:pPr marL="0" indent="0">
              <a:buNone/>
            </a:pPr>
            <a:r>
              <a:rPr lang="en-US" sz="1150" dirty="0">
                <a:solidFill>
                  <a:srgbClr val="8F96FF"/>
                </a:solidFill>
                <a:latin typeface="Calibri" pitchFamily="34" charset="0"/>
                <a:ea typeface="Calibri" pitchFamily="34" charset="-122"/>
                <a:cs typeface="Calibri" pitchFamily="34" charset="-120"/>
              </a:rPr>
              <a:t>Two instructions embedded:</a:t>
            </a:r>
            <a:endParaRPr lang="en-US" sz="1150" dirty="0"/>
          </a:p>
          <a:p>
            <a:pPr marL="0" indent="0">
              <a:buNone/>
            </a:pPr>
            <a:r>
              <a:rPr lang="en-US" sz="1150" dirty="0">
                <a:solidFill>
                  <a:srgbClr val="8F96FF"/>
                </a:solidFill>
                <a:latin typeface="Calibri" pitchFamily="34" charset="0"/>
                <a:ea typeface="Calibri" pitchFamily="34" charset="-122"/>
                <a:cs typeface="Calibri" pitchFamily="34" charset="-120"/>
              </a:rPr>
              <a:t>• Domain expertise (meteorologist)</a:t>
            </a:r>
            <a:endParaRPr lang="en-US" sz="1150" dirty="0"/>
          </a:p>
          <a:p>
            <a:pPr marL="0" indent="0">
              <a:buNone/>
            </a:pPr>
            <a:r>
              <a:rPr lang="en-US" sz="1150" dirty="0">
                <a:solidFill>
                  <a:srgbClr val="8F96FF"/>
                </a:solidFill>
                <a:latin typeface="Calibri" pitchFamily="34" charset="0"/>
                <a:ea typeface="Calibri" pitchFamily="34" charset="-122"/>
                <a:cs typeface="Calibri" pitchFamily="34" charset="-120"/>
              </a:rPr>
              <a:t>• Communication style (age 10)</a:t>
            </a:r>
            <a:endParaRPr lang="en-US" sz="1150" dirty="0"/>
          </a:p>
        </p:txBody>
      </p:sp>
      <p:sp>
        <p:nvSpPr>
          <p:cNvPr id="10" name="Shape 8"/>
          <p:cNvSpPr/>
          <p:nvPr/>
        </p:nvSpPr>
        <p:spPr>
          <a:xfrm>
            <a:off x="4663440" y="960120"/>
            <a:ext cx="4023360" cy="3794760"/>
          </a:xfrm>
          <a:prstGeom prst="rect">
            <a:avLst/>
          </a:prstGeom>
          <a:solidFill>
            <a:srgbClr val="FFFFFF"/>
          </a:solidFill>
          <a:ln w="12700">
            <a:solidFill>
              <a:srgbClr val="BBCE8E"/>
            </a:solidFill>
            <a:prstDash val="solid"/>
          </a:ln>
          <a:effectLst>
            <a:outerShdw blurRad="63500" dist="25400" dir="8100000" algn="bl" rotWithShape="0">
              <a:srgbClr val="000000">
                <a:alpha val="8000"/>
              </a:srgbClr>
            </a:outerShdw>
          </a:effectLst>
        </p:spPr>
        <p:txBody>
          <a:bodyPr/>
          <a:lstStyle/>
          <a:p>
            <a:endParaRPr lang="en-US"/>
          </a:p>
        </p:txBody>
      </p:sp>
      <p:sp>
        <p:nvSpPr>
          <p:cNvPr id="11" name="Text 9"/>
          <p:cNvSpPr/>
          <p:nvPr/>
        </p:nvSpPr>
        <p:spPr>
          <a:xfrm>
            <a:off x="4754880" y="1024128"/>
            <a:ext cx="3657600" cy="320040"/>
          </a:xfrm>
          <a:prstGeom prst="rect">
            <a:avLst/>
          </a:prstGeom>
          <a:noFill/>
          <a:ln/>
        </p:spPr>
        <p:txBody>
          <a:bodyPr wrap="square" lIns="0" tIns="0" rIns="0" bIns="0" rtlCol="0" anchor="ctr"/>
          <a:lstStyle/>
          <a:p>
            <a:pPr marL="0" indent="0">
              <a:buNone/>
            </a:pPr>
            <a:r>
              <a:rPr lang="en-US" sz="1000" b="1" kern="0" spc="300" dirty="0">
                <a:solidFill>
                  <a:srgbClr val="626EFF"/>
                </a:solidFill>
                <a:latin typeface="Calibri" pitchFamily="34" charset="0"/>
                <a:ea typeface="Calibri" pitchFamily="34" charset="-122"/>
                <a:cs typeface="Calibri" pitchFamily="34" charset="-120"/>
              </a:rPr>
              <a:t>THE RESULT</a:t>
            </a:r>
            <a:endParaRPr lang="en-US" sz="1000" dirty="0"/>
          </a:p>
        </p:txBody>
      </p:sp>
      <p:sp>
        <p:nvSpPr>
          <p:cNvPr id="12" name="Text 10"/>
          <p:cNvSpPr/>
          <p:nvPr/>
        </p:nvSpPr>
        <p:spPr>
          <a:xfrm>
            <a:off x="4754880" y="1389888"/>
            <a:ext cx="3840480" cy="2468880"/>
          </a:xfrm>
          <a:prstGeom prst="rect">
            <a:avLst/>
          </a:prstGeom>
          <a:noFill/>
          <a:ln/>
        </p:spPr>
        <p:txBody>
          <a:bodyPr wrap="square" rtlCol="0" anchor="ctr"/>
          <a:lstStyle/>
          <a:p>
            <a:pPr marL="0" indent="0">
              <a:buNone/>
            </a:pPr>
            <a:r>
              <a:rPr lang="en-US" sz="1300" i="1" dirty="0">
                <a:solidFill>
                  <a:srgbClr val="211B41"/>
                </a:solidFill>
                <a:latin typeface="Georgia" pitchFamily="34" charset="0"/>
                <a:ea typeface="Georgia" pitchFamily="34" charset="-122"/>
                <a:cs typeface="Georgia" pitchFamily="34" charset="-120"/>
              </a:rPr>
              <a:t>"You know how puddles disappear after a sunny day? The sun is so warm it turns the water into tiny invisible bits that float up into the sky. When lots of those tiny bits get together way up high, they make a cloud. And when the cloud gets too full? It rains — like a very full glass spilling over."</a:t>
            </a:r>
            <a:endParaRPr lang="en-US" sz="1300" dirty="0"/>
          </a:p>
        </p:txBody>
      </p:sp>
      <p:sp>
        <p:nvSpPr>
          <p:cNvPr id="13" name="Text 11"/>
          <p:cNvSpPr/>
          <p:nvPr/>
        </p:nvSpPr>
        <p:spPr>
          <a:xfrm>
            <a:off x="4754880" y="3977640"/>
            <a:ext cx="3840480" cy="640080"/>
          </a:xfrm>
          <a:prstGeom prst="rect">
            <a:avLst/>
          </a:prstGeom>
          <a:noFill/>
          <a:ln/>
        </p:spPr>
        <p:txBody>
          <a:bodyPr wrap="square" rtlCol="0" anchor="ctr"/>
          <a:lstStyle/>
          <a:p>
            <a:pPr marL="0" indent="0">
              <a:buNone/>
            </a:pPr>
            <a:r>
              <a:rPr lang="en-US" sz="1150" b="1" dirty="0">
                <a:solidFill>
                  <a:srgbClr val="211B41"/>
                </a:solidFill>
                <a:latin typeface="Calibri" pitchFamily="34" charset="0"/>
                <a:ea typeface="Calibri" pitchFamily="34" charset="-122"/>
                <a:cs typeface="Calibri" pitchFamily="34" charset="-120"/>
              </a:rPr>
              <a:t>No jargon. Right tone. Accurate content.</a:t>
            </a:r>
            <a:endParaRPr lang="en-US" sz="1150" dirty="0"/>
          </a:p>
          <a:p>
            <a:pPr marL="0" indent="0">
              <a:buNone/>
            </a:pPr>
            <a:r>
              <a:rPr lang="en-US" sz="1150" b="1" dirty="0">
                <a:solidFill>
                  <a:srgbClr val="211B41"/>
                </a:solidFill>
                <a:latin typeface="Calibri" pitchFamily="34" charset="0"/>
                <a:ea typeface="Calibri" pitchFamily="34" charset="-122"/>
                <a:cs typeface="Calibri" pitchFamily="34" charset="-120"/>
              </a:rPr>
              <a:t>Same model. Different instruction.</a:t>
            </a:r>
            <a:endParaRPr lang="en-US" sz="1150" dirty="0"/>
          </a:p>
        </p:txBody>
      </p:sp>
      <p:sp>
        <p:nvSpPr>
          <p:cNvPr id="14" name="Shape 12"/>
          <p:cNvSpPr/>
          <p:nvPr/>
        </p:nvSpPr>
        <p:spPr>
          <a:xfrm>
            <a:off x="4443984" y="2743200"/>
            <a:ext cx="256032" cy="27432"/>
          </a:xfrm>
          <a:prstGeom prst="rect">
            <a:avLst/>
          </a:prstGeom>
          <a:solidFill>
            <a:srgbClr val="F0B20D"/>
          </a:solidFill>
          <a:ln w="12700">
            <a:solidFill>
              <a:srgbClr val="F0B20D"/>
            </a:solidFill>
            <a:prstDash val="solid"/>
          </a:ln>
        </p:spPr>
        <p:txBody>
          <a:bodyPr/>
          <a:lstStyle/>
          <a:p>
            <a:endParaRPr lang="en-US"/>
          </a:p>
        </p:txBody>
      </p:sp>
      <p:sp>
        <p:nvSpPr>
          <p:cNvPr id="15" name="Text 13"/>
          <p:cNvSpPr/>
          <p:nvPr/>
        </p:nvSpPr>
        <p:spPr>
          <a:xfrm>
            <a:off x="4352544" y="2578608"/>
            <a:ext cx="457200" cy="347472"/>
          </a:xfrm>
          <a:prstGeom prst="rect">
            <a:avLst/>
          </a:prstGeom>
          <a:noFill/>
          <a:ln/>
        </p:spPr>
        <p:txBody>
          <a:bodyPr wrap="square" rtlCol="0" anchor="ctr"/>
          <a:lstStyle/>
          <a:p>
            <a:pPr marL="0" indent="0" algn="ctr">
              <a:buNone/>
            </a:pPr>
            <a:r>
              <a:rPr lang="en-US" sz="2200" b="1" dirty="0">
                <a:solidFill>
                  <a:srgbClr val="F0B20D"/>
                </a:solidFill>
                <a:latin typeface="Calibri" pitchFamily="34" charset="0"/>
                <a:ea typeface="Calibri" pitchFamily="34" charset="-122"/>
                <a:cs typeface="Calibri" pitchFamily="34" charset="-120"/>
              </a:rPr>
              <a:t>→</a:t>
            </a:r>
            <a:endParaRPr lang="en-US" sz="2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11B41"/>
        </a:solidFill>
        <a:effectLst/>
      </p:bgPr>
    </p:bg>
    <p:spTree>
      <p:nvGrpSpPr>
        <p:cNvPr id="1" name=""/>
        <p:cNvGrpSpPr/>
        <p:nvPr/>
      </p:nvGrpSpPr>
      <p:grpSpPr>
        <a:xfrm>
          <a:off x="0" y="0"/>
          <a:ext cx="0" cy="0"/>
          <a:chOff x="0" y="0"/>
          <a:chExt cx="0" cy="0"/>
        </a:xfrm>
      </p:grpSpPr>
      <p:sp>
        <p:nvSpPr>
          <p:cNvPr id="2" name="Text 0"/>
          <p:cNvSpPr/>
          <p:nvPr/>
        </p:nvSpPr>
        <p:spPr>
          <a:xfrm>
            <a:off x="5943600" y="-365760"/>
            <a:ext cx="3474720" cy="4572000"/>
          </a:xfrm>
          <a:prstGeom prst="rect">
            <a:avLst/>
          </a:prstGeom>
          <a:noFill/>
          <a:ln/>
        </p:spPr>
        <p:txBody>
          <a:bodyPr wrap="square" lIns="0" tIns="0" rIns="0" bIns="0" rtlCol="0" anchor="ctr"/>
          <a:lstStyle/>
          <a:p>
            <a:pPr marL="0" indent="0" algn="r">
              <a:buNone/>
            </a:pPr>
            <a:r>
              <a:rPr lang="en-US" sz="32000" b="1" dirty="0">
                <a:solidFill>
                  <a:srgbClr val="2E2458"/>
                </a:solidFill>
                <a:latin typeface="Georgia" pitchFamily="34" charset="0"/>
                <a:ea typeface="Georgia" pitchFamily="34" charset="-122"/>
                <a:cs typeface="Georgia" pitchFamily="34" charset="-120"/>
              </a:rPr>
              <a:t>3</a:t>
            </a:r>
            <a:endParaRPr lang="en-US" sz="32000" dirty="0"/>
          </a:p>
        </p:txBody>
      </p:sp>
      <p:sp>
        <p:nvSpPr>
          <p:cNvPr id="3" name="Shape 1"/>
          <p:cNvSpPr/>
          <p:nvPr/>
        </p:nvSpPr>
        <p:spPr>
          <a:xfrm>
            <a:off x="0" y="0"/>
            <a:ext cx="109728" cy="5143500"/>
          </a:xfrm>
          <a:prstGeom prst="rect">
            <a:avLst/>
          </a:prstGeom>
          <a:solidFill>
            <a:srgbClr val="626EFF"/>
          </a:solidFill>
          <a:ln w="12700">
            <a:solidFill>
              <a:srgbClr val="626EFF"/>
            </a:solidFill>
            <a:prstDash val="solid"/>
          </a:ln>
        </p:spPr>
        <p:txBody>
          <a:bodyPr/>
          <a:lstStyle/>
          <a:p>
            <a:endParaRPr lang="en-US"/>
          </a:p>
        </p:txBody>
      </p:sp>
      <p:sp>
        <p:nvSpPr>
          <p:cNvPr id="4" name="Text 2"/>
          <p:cNvSpPr/>
          <p:nvPr/>
        </p:nvSpPr>
        <p:spPr>
          <a:xfrm>
            <a:off x="320040" y="1280160"/>
            <a:ext cx="5486400" cy="411480"/>
          </a:xfrm>
          <a:prstGeom prst="rect">
            <a:avLst/>
          </a:prstGeom>
          <a:noFill/>
          <a:ln/>
        </p:spPr>
        <p:txBody>
          <a:bodyPr wrap="square" lIns="0" tIns="0" rIns="0" bIns="0" rtlCol="0" anchor="ctr"/>
          <a:lstStyle/>
          <a:p>
            <a:pPr marL="0" indent="0">
              <a:buNone/>
            </a:pPr>
            <a:r>
              <a:rPr lang="en-US" sz="1300" b="1" kern="0" spc="400" dirty="0">
                <a:solidFill>
                  <a:srgbClr val="F0B20D"/>
                </a:solidFill>
                <a:latin typeface="Calibri" pitchFamily="34" charset="0"/>
                <a:ea typeface="Calibri" pitchFamily="34" charset="-122"/>
                <a:cs typeface="Calibri" pitchFamily="34" charset="-120"/>
              </a:rPr>
              <a:t>MODULE 3</a:t>
            </a:r>
            <a:endParaRPr lang="en-US" sz="1300" dirty="0"/>
          </a:p>
        </p:txBody>
      </p:sp>
      <p:sp>
        <p:nvSpPr>
          <p:cNvPr id="5" name="Text 3"/>
          <p:cNvSpPr/>
          <p:nvPr/>
        </p:nvSpPr>
        <p:spPr>
          <a:xfrm>
            <a:off x="320040" y="1737360"/>
            <a:ext cx="6858000" cy="1645920"/>
          </a:xfrm>
          <a:prstGeom prst="rect">
            <a:avLst/>
          </a:prstGeom>
          <a:noFill/>
          <a:ln/>
        </p:spPr>
        <p:txBody>
          <a:bodyPr wrap="square" lIns="0" tIns="0" rIns="0" bIns="0" rtlCol="0" anchor="ctr"/>
          <a:lstStyle/>
          <a:p>
            <a:pPr marL="0" indent="0">
              <a:buNone/>
            </a:pPr>
            <a:r>
              <a:rPr lang="en-US" sz="4200" b="1" dirty="0">
                <a:solidFill>
                  <a:srgbClr val="FFFFFF"/>
                </a:solidFill>
                <a:latin typeface="Georgia" pitchFamily="34" charset="0"/>
                <a:ea typeface="Georgia" pitchFamily="34" charset="-122"/>
                <a:cs typeface="Georgia" pitchFamily="34" charset="-120"/>
              </a:rPr>
              <a:t>The Frozen Chef</a:t>
            </a:r>
            <a:endParaRPr lang="en-US" sz="4200" dirty="0"/>
          </a:p>
        </p:txBody>
      </p:sp>
      <p:sp>
        <p:nvSpPr>
          <p:cNvPr id="6" name="Text 4"/>
          <p:cNvSpPr/>
          <p:nvPr/>
        </p:nvSpPr>
        <p:spPr>
          <a:xfrm>
            <a:off x="320040" y="3429000"/>
            <a:ext cx="5943600" cy="640080"/>
          </a:xfrm>
          <a:prstGeom prst="rect">
            <a:avLst/>
          </a:prstGeom>
          <a:noFill/>
          <a:ln/>
        </p:spPr>
        <p:txBody>
          <a:bodyPr wrap="square" lIns="0" tIns="0" rIns="0" bIns="0" rtlCol="0" anchor="ctr"/>
          <a:lstStyle/>
          <a:p>
            <a:pPr marL="0" indent="0">
              <a:buNone/>
            </a:pPr>
            <a:r>
              <a:rPr lang="en-US" sz="1600" i="1" dirty="0">
                <a:solidFill>
                  <a:srgbClr val="8F96FF"/>
                </a:solidFill>
                <a:latin typeface="Calibri" pitchFamily="34" charset="0"/>
                <a:ea typeface="Calibri" pitchFamily="34" charset="-122"/>
                <a:cs typeface="Calibri" pitchFamily="34" charset="-120"/>
              </a:rPr>
              <a:t>Training, parameters, labelling — and teaching AI your vocabulary</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FF4E0"/>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600" b="1" dirty="0">
                <a:solidFill>
                  <a:srgbClr val="211B41"/>
                </a:solidFill>
                <a:latin typeface="Georgia" pitchFamily="34" charset="0"/>
                <a:ea typeface="Georgia" pitchFamily="34" charset="-122"/>
                <a:cs typeface="Georgia" pitchFamily="34" charset="-120"/>
              </a:rPr>
              <a:t>How LLMs Learn: A Brief History of Eating the Internet</a:t>
            </a:r>
            <a:endParaRPr lang="en-US" sz="2600" dirty="0"/>
          </a:p>
        </p:txBody>
      </p:sp>
      <p:sp>
        <p:nvSpPr>
          <p:cNvPr id="3" name="Shape 1"/>
          <p:cNvSpPr/>
          <p:nvPr/>
        </p:nvSpPr>
        <p:spPr>
          <a:xfrm>
            <a:off x="457200" y="822960"/>
            <a:ext cx="8229600" cy="27432"/>
          </a:xfrm>
          <a:prstGeom prst="rect">
            <a:avLst/>
          </a:prstGeom>
          <a:solidFill>
            <a:srgbClr val="BBCE8E"/>
          </a:solidFill>
          <a:ln w="12700">
            <a:solidFill>
              <a:srgbClr val="BBCE8E"/>
            </a:solidFill>
            <a:prstDash val="solid"/>
          </a:ln>
        </p:spPr>
        <p:txBody>
          <a:bodyPr/>
          <a:lstStyle/>
          <a:p>
            <a:endParaRPr lang="en-US"/>
          </a:p>
        </p:txBody>
      </p:sp>
      <p:sp>
        <p:nvSpPr>
          <p:cNvPr id="4" name="Shape 2"/>
          <p:cNvSpPr/>
          <p:nvPr/>
        </p:nvSpPr>
        <p:spPr>
          <a:xfrm>
            <a:off x="0" y="4919472"/>
            <a:ext cx="9144000" cy="224028"/>
          </a:xfrm>
          <a:prstGeom prst="rect">
            <a:avLst/>
          </a:prstGeom>
          <a:solidFill>
            <a:srgbClr val="BBCE8E"/>
          </a:solidFill>
          <a:ln w="12700">
            <a:solidFill>
              <a:srgbClr val="BBCE8E"/>
            </a:solidFill>
            <a:prstDash val="solid"/>
          </a:ln>
        </p:spPr>
        <p:txBody>
          <a:bodyPr/>
          <a:lstStyle/>
          <a:p>
            <a:endParaRPr lang="en-US"/>
          </a:p>
        </p:txBody>
      </p:sp>
      <p:sp>
        <p:nvSpPr>
          <p:cNvPr id="5" name="Text 3"/>
          <p:cNvSpPr/>
          <p:nvPr/>
        </p:nvSpPr>
        <p:spPr>
          <a:xfrm>
            <a:off x="274320" y="4928616"/>
            <a:ext cx="8595360" cy="201168"/>
          </a:xfrm>
          <a:prstGeom prst="rect">
            <a:avLst/>
          </a:prstGeom>
          <a:noFill/>
          <a:ln/>
        </p:spPr>
        <p:txBody>
          <a:bodyPr wrap="square" lIns="0" tIns="0" rIns="0" bIns="0" rtlCol="0" anchor="ctr"/>
          <a:lstStyle/>
          <a:p>
            <a:pPr marL="0" indent="0">
              <a:buNone/>
            </a:pPr>
            <a:r>
              <a:rPr lang="en-US" sz="900" dirty="0">
                <a:solidFill>
                  <a:srgbClr val="4A7A82"/>
                </a:solidFill>
                <a:latin typeface="Calibri" pitchFamily="34" charset="0"/>
                <a:ea typeface="Calibri" pitchFamily="34" charset="-122"/>
                <a:cs typeface="Calibri" pitchFamily="34" charset="-120"/>
              </a:rPr>
              <a:t>Blockstruct GmbH  ·  AI Demystified Workshop  ·  UniCredit  ·  April 2026</a:t>
            </a:r>
            <a:endParaRPr lang="en-US" sz="900" dirty="0"/>
          </a:p>
        </p:txBody>
      </p:sp>
      <p:sp>
        <p:nvSpPr>
          <p:cNvPr id="6" name="Shape 4"/>
          <p:cNvSpPr/>
          <p:nvPr/>
        </p:nvSpPr>
        <p:spPr>
          <a:xfrm>
            <a:off x="457200" y="1051560"/>
            <a:ext cx="594360" cy="594360"/>
          </a:xfrm>
          <a:prstGeom prst="line">
            <a:avLst/>
          </a:prstGeom>
          <a:solidFill>
            <a:srgbClr val="626EFF"/>
          </a:solidFill>
          <a:ln w="12700">
            <a:solidFill>
              <a:srgbClr val="626EFF"/>
            </a:solidFill>
            <a:prstDash val="solid"/>
          </a:ln>
        </p:spPr>
        <p:txBody>
          <a:bodyPr/>
          <a:lstStyle/>
          <a:p>
            <a:endParaRPr lang="en-US"/>
          </a:p>
        </p:txBody>
      </p:sp>
      <p:sp>
        <p:nvSpPr>
          <p:cNvPr id="7" name="Text 5"/>
          <p:cNvSpPr/>
          <p:nvPr/>
        </p:nvSpPr>
        <p:spPr>
          <a:xfrm>
            <a:off x="457200" y="1051560"/>
            <a:ext cx="59436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8" name="Shape 6"/>
          <p:cNvSpPr/>
          <p:nvPr/>
        </p:nvSpPr>
        <p:spPr>
          <a:xfrm>
            <a:off x="740664" y="1645920"/>
            <a:ext cx="27432" cy="640080"/>
          </a:xfrm>
          <a:prstGeom prst="rect">
            <a:avLst/>
          </a:prstGeom>
          <a:solidFill>
            <a:srgbClr val="BBCE8E"/>
          </a:solidFill>
          <a:ln w="12700">
            <a:solidFill>
              <a:srgbClr val="BBCE8E"/>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1188720" y="1005840"/>
            <a:ext cx="640080" cy="640080"/>
          </a:xfrm>
          <a:prstGeom prst="rect">
            <a:avLst/>
          </a:prstGeom>
        </p:spPr>
      </p:pic>
      <p:sp>
        <p:nvSpPr>
          <p:cNvPr id="10" name="Text 7"/>
          <p:cNvSpPr/>
          <p:nvPr/>
        </p:nvSpPr>
        <p:spPr>
          <a:xfrm>
            <a:off x="2011680" y="1005840"/>
            <a:ext cx="6675120" cy="347472"/>
          </a:xfrm>
          <a:prstGeom prst="rect">
            <a:avLst/>
          </a:prstGeom>
          <a:noFill/>
          <a:ln/>
        </p:spPr>
        <p:txBody>
          <a:bodyPr wrap="square" lIns="0" tIns="0" rIns="0" bIns="0" rtlCol="0" anchor="ctr"/>
          <a:lstStyle/>
          <a:p>
            <a:pPr marL="0" indent="0">
              <a:buNone/>
            </a:pPr>
            <a:r>
              <a:rPr lang="en-US" sz="1400" b="1" dirty="0">
                <a:solidFill>
                  <a:srgbClr val="211B41"/>
                </a:solidFill>
                <a:latin typeface="Calibri" pitchFamily="34" charset="0"/>
                <a:ea typeface="Calibri" pitchFamily="34" charset="-122"/>
                <a:cs typeface="Calibri" pitchFamily="34" charset="-120"/>
              </a:rPr>
              <a:t>Ingest everything</a:t>
            </a:r>
            <a:endParaRPr lang="en-US" sz="1400" dirty="0"/>
          </a:p>
        </p:txBody>
      </p:sp>
      <p:sp>
        <p:nvSpPr>
          <p:cNvPr id="11" name="Text 8"/>
          <p:cNvSpPr/>
          <p:nvPr/>
        </p:nvSpPr>
        <p:spPr>
          <a:xfrm>
            <a:off x="2011680" y="1371600"/>
            <a:ext cx="6675120" cy="685800"/>
          </a:xfrm>
          <a:prstGeom prst="rect">
            <a:avLst/>
          </a:prstGeom>
          <a:noFill/>
          <a:ln/>
        </p:spPr>
        <p:txBody>
          <a:bodyPr wrap="square" lIns="0" tIns="0" rIns="0" bIns="0" rtlCol="0" anchor="ctr"/>
          <a:lstStyle/>
          <a:p>
            <a:pPr marL="0" indent="0">
              <a:buNone/>
            </a:pPr>
            <a:r>
              <a:rPr lang="en-US" sz="1200" dirty="0">
                <a:solidFill>
                  <a:srgbClr val="211B41"/>
                </a:solidFill>
                <a:latin typeface="Calibri" pitchFamily="34" charset="0"/>
                <a:ea typeface="Calibri" pitchFamily="34" charset="-122"/>
                <a:cs typeface="Calibri" pitchFamily="34" charset="-120"/>
              </a:rPr>
              <a:t>Books, articles, Wikipedia, scientific papers, Reddit arguments, legal filings, customer service transcripts. All of it. Multiple times.</a:t>
            </a:r>
            <a:endParaRPr lang="en-US" sz="1200" dirty="0"/>
          </a:p>
        </p:txBody>
      </p:sp>
      <p:sp>
        <p:nvSpPr>
          <p:cNvPr id="12" name="Shape 9"/>
          <p:cNvSpPr/>
          <p:nvPr/>
        </p:nvSpPr>
        <p:spPr>
          <a:xfrm>
            <a:off x="457200" y="2286000"/>
            <a:ext cx="594360" cy="594360"/>
          </a:xfrm>
          <a:prstGeom prst="line">
            <a:avLst/>
          </a:prstGeom>
          <a:solidFill>
            <a:srgbClr val="626EFF"/>
          </a:solidFill>
          <a:ln w="12700">
            <a:solidFill>
              <a:srgbClr val="626EFF"/>
            </a:solidFill>
            <a:prstDash val="solid"/>
          </a:ln>
        </p:spPr>
        <p:txBody>
          <a:bodyPr/>
          <a:lstStyle/>
          <a:p>
            <a:endParaRPr lang="en-US"/>
          </a:p>
        </p:txBody>
      </p:sp>
      <p:sp>
        <p:nvSpPr>
          <p:cNvPr id="13" name="Text 10"/>
          <p:cNvSpPr/>
          <p:nvPr/>
        </p:nvSpPr>
        <p:spPr>
          <a:xfrm>
            <a:off x="457200" y="2286000"/>
            <a:ext cx="59436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4" name="Shape 11"/>
          <p:cNvSpPr/>
          <p:nvPr/>
        </p:nvSpPr>
        <p:spPr>
          <a:xfrm>
            <a:off x="740664" y="2880360"/>
            <a:ext cx="27432" cy="640080"/>
          </a:xfrm>
          <a:prstGeom prst="rect">
            <a:avLst/>
          </a:prstGeom>
          <a:solidFill>
            <a:srgbClr val="BBCE8E"/>
          </a:solidFill>
          <a:ln w="12700">
            <a:solidFill>
              <a:srgbClr val="BBCE8E"/>
            </a:solidFill>
            <a:prstDash val="solid"/>
          </a:ln>
        </p:spPr>
        <p:txBody>
          <a:bodyPr/>
          <a:lstStyle/>
          <a:p>
            <a:endParaRPr lang="en-US"/>
          </a:p>
        </p:txBody>
      </p:sp>
      <p:pic>
        <p:nvPicPr>
          <p:cNvPr id="15" name="Image 1" descr="preencoded.png"/>
          <p:cNvPicPr>
            <a:picLocks noChangeAspect="1"/>
          </p:cNvPicPr>
          <p:nvPr/>
        </p:nvPicPr>
        <p:blipFill>
          <a:blip r:embed="rId4"/>
          <a:stretch>
            <a:fillRect/>
          </a:stretch>
        </p:blipFill>
        <p:spPr>
          <a:xfrm>
            <a:off x="1188720" y="2240280"/>
            <a:ext cx="640080" cy="640080"/>
          </a:xfrm>
          <a:prstGeom prst="rect">
            <a:avLst/>
          </a:prstGeom>
        </p:spPr>
      </p:pic>
      <p:sp>
        <p:nvSpPr>
          <p:cNvPr id="16" name="Text 12"/>
          <p:cNvSpPr/>
          <p:nvPr/>
        </p:nvSpPr>
        <p:spPr>
          <a:xfrm>
            <a:off x="2011680" y="2240280"/>
            <a:ext cx="6675120" cy="347472"/>
          </a:xfrm>
          <a:prstGeom prst="rect">
            <a:avLst/>
          </a:prstGeom>
          <a:noFill/>
          <a:ln/>
        </p:spPr>
        <p:txBody>
          <a:bodyPr wrap="square" lIns="0" tIns="0" rIns="0" bIns="0" rtlCol="0" anchor="ctr"/>
          <a:lstStyle/>
          <a:p>
            <a:pPr marL="0" indent="0">
              <a:buNone/>
            </a:pPr>
            <a:r>
              <a:rPr lang="en-US" sz="1400" b="1" dirty="0">
                <a:solidFill>
                  <a:srgbClr val="211B41"/>
                </a:solidFill>
                <a:latin typeface="Calibri" pitchFamily="34" charset="0"/>
                <a:ea typeface="Calibri" pitchFamily="34" charset="-122"/>
                <a:cs typeface="Calibri" pitchFamily="34" charset="-120"/>
              </a:rPr>
              <a:t>Compress the patterns</a:t>
            </a:r>
            <a:endParaRPr lang="en-US" sz="1400" dirty="0"/>
          </a:p>
        </p:txBody>
      </p:sp>
      <p:sp>
        <p:nvSpPr>
          <p:cNvPr id="17" name="Text 13"/>
          <p:cNvSpPr/>
          <p:nvPr/>
        </p:nvSpPr>
        <p:spPr>
          <a:xfrm>
            <a:off x="2011680" y="2606040"/>
            <a:ext cx="6675120" cy="685800"/>
          </a:xfrm>
          <a:prstGeom prst="rect">
            <a:avLst/>
          </a:prstGeom>
          <a:noFill/>
          <a:ln/>
        </p:spPr>
        <p:txBody>
          <a:bodyPr wrap="square" lIns="0" tIns="0" rIns="0" bIns="0" rtlCol="0" anchor="ctr"/>
          <a:lstStyle/>
          <a:p>
            <a:pPr marL="0" indent="0">
              <a:buNone/>
            </a:pPr>
            <a:r>
              <a:rPr lang="en-US" sz="1200" dirty="0">
                <a:solidFill>
                  <a:srgbClr val="211B41"/>
                </a:solidFill>
                <a:latin typeface="Calibri" pitchFamily="34" charset="0"/>
                <a:ea typeface="Calibri" pitchFamily="34" charset="-122"/>
                <a:cs typeface="Calibri" pitchFamily="34" charset="-120"/>
              </a:rPr>
              <a:t>Trillions of examples of 'what word comes after what' are compressed into billions of numerical parameters. Not stored as text — as weights.</a:t>
            </a:r>
            <a:endParaRPr lang="en-US" sz="1200" dirty="0"/>
          </a:p>
        </p:txBody>
      </p:sp>
      <p:sp>
        <p:nvSpPr>
          <p:cNvPr id="18" name="Shape 14"/>
          <p:cNvSpPr/>
          <p:nvPr/>
        </p:nvSpPr>
        <p:spPr>
          <a:xfrm>
            <a:off x="457200" y="3520440"/>
            <a:ext cx="594360" cy="594360"/>
          </a:xfrm>
          <a:prstGeom prst="line">
            <a:avLst/>
          </a:prstGeom>
          <a:solidFill>
            <a:srgbClr val="626EFF"/>
          </a:solidFill>
          <a:ln w="12700">
            <a:solidFill>
              <a:srgbClr val="626EFF"/>
            </a:solidFill>
            <a:prstDash val="solid"/>
          </a:ln>
        </p:spPr>
        <p:txBody>
          <a:bodyPr/>
          <a:lstStyle/>
          <a:p>
            <a:endParaRPr lang="en-US"/>
          </a:p>
        </p:txBody>
      </p:sp>
      <p:sp>
        <p:nvSpPr>
          <p:cNvPr id="19" name="Text 15"/>
          <p:cNvSpPr/>
          <p:nvPr/>
        </p:nvSpPr>
        <p:spPr>
          <a:xfrm>
            <a:off x="457200" y="3520440"/>
            <a:ext cx="594360" cy="59436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pic>
        <p:nvPicPr>
          <p:cNvPr id="20" name="Image 2" descr="preencoded.png"/>
          <p:cNvPicPr>
            <a:picLocks noChangeAspect="1"/>
          </p:cNvPicPr>
          <p:nvPr/>
        </p:nvPicPr>
        <p:blipFill>
          <a:blip r:embed="rId5"/>
          <a:stretch>
            <a:fillRect/>
          </a:stretch>
        </p:blipFill>
        <p:spPr>
          <a:xfrm>
            <a:off x="1188720" y="3474720"/>
            <a:ext cx="640080" cy="640080"/>
          </a:xfrm>
          <a:prstGeom prst="rect">
            <a:avLst/>
          </a:prstGeom>
        </p:spPr>
      </p:pic>
      <p:sp>
        <p:nvSpPr>
          <p:cNvPr id="21" name="Text 16"/>
          <p:cNvSpPr/>
          <p:nvPr/>
        </p:nvSpPr>
        <p:spPr>
          <a:xfrm>
            <a:off x="2011680" y="3474720"/>
            <a:ext cx="6675120" cy="347472"/>
          </a:xfrm>
          <a:prstGeom prst="rect">
            <a:avLst/>
          </a:prstGeom>
          <a:noFill/>
          <a:ln/>
        </p:spPr>
        <p:txBody>
          <a:bodyPr wrap="square" lIns="0" tIns="0" rIns="0" bIns="0" rtlCol="0" anchor="ctr"/>
          <a:lstStyle/>
          <a:p>
            <a:pPr marL="0" indent="0">
              <a:buNone/>
            </a:pPr>
            <a:r>
              <a:rPr lang="en-US" sz="1400" b="1" dirty="0">
                <a:solidFill>
                  <a:srgbClr val="211B41"/>
                </a:solidFill>
                <a:latin typeface="Calibri" pitchFamily="34" charset="0"/>
                <a:ea typeface="Calibri" pitchFamily="34" charset="-122"/>
                <a:cs typeface="Calibri" pitchFamily="34" charset="-120"/>
              </a:rPr>
              <a:t>Freeze the result</a:t>
            </a:r>
            <a:endParaRPr lang="en-US" sz="1400" dirty="0"/>
          </a:p>
        </p:txBody>
      </p:sp>
      <p:sp>
        <p:nvSpPr>
          <p:cNvPr id="22" name="Text 17"/>
          <p:cNvSpPr/>
          <p:nvPr/>
        </p:nvSpPr>
        <p:spPr>
          <a:xfrm>
            <a:off x="2011680" y="3840480"/>
            <a:ext cx="6675120" cy="685800"/>
          </a:xfrm>
          <a:prstGeom prst="rect">
            <a:avLst/>
          </a:prstGeom>
          <a:noFill/>
          <a:ln/>
        </p:spPr>
        <p:txBody>
          <a:bodyPr wrap="square" lIns="0" tIns="0" rIns="0" bIns="0" rtlCol="0" anchor="ctr"/>
          <a:lstStyle/>
          <a:p>
            <a:pPr marL="0" indent="0">
              <a:buNone/>
            </a:pPr>
            <a:r>
              <a:rPr lang="en-US" sz="1200" dirty="0">
                <a:solidFill>
                  <a:srgbClr val="211B41"/>
                </a:solidFill>
                <a:latin typeface="Calibri" pitchFamily="34" charset="0"/>
                <a:ea typeface="Calibri" pitchFamily="34" charset="-122"/>
                <a:cs typeface="Calibri" pitchFamily="34" charset="-120"/>
              </a:rPr>
              <a:t>Training ends. The parameters are locked. The model now carries a statistical snapshot of human language and knowledge as of that moment.</a:t>
            </a:r>
            <a:endParaRPr lang="en-US" sz="1200" dirty="0"/>
          </a:p>
        </p:txBody>
      </p:sp>
      <p:sp>
        <p:nvSpPr>
          <p:cNvPr id="23" name="Shape 18"/>
          <p:cNvSpPr/>
          <p:nvPr/>
        </p:nvSpPr>
        <p:spPr>
          <a:xfrm>
            <a:off x="457200" y="4572000"/>
            <a:ext cx="8229600" cy="201168"/>
          </a:xfrm>
          <a:prstGeom prst="rect">
            <a:avLst/>
          </a:prstGeom>
          <a:solidFill>
            <a:srgbClr val="EFF4E0"/>
          </a:solidFill>
          <a:ln w="12700">
            <a:solidFill>
              <a:srgbClr val="BBCE8E"/>
            </a:solidFill>
            <a:prstDash val="solid"/>
          </a:ln>
        </p:spPr>
        <p:txBody>
          <a:bodyPr/>
          <a:lstStyle/>
          <a:p>
            <a:endParaRPr lang="en-US"/>
          </a:p>
        </p:txBody>
      </p:sp>
      <p:sp>
        <p:nvSpPr>
          <p:cNvPr id="24" name="Text 19"/>
          <p:cNvSpPr/>
          <p:nvPr/>
        </p:nvSpPr>
        <p:spPr>
          <a:xfrm>
            <a:off x="548640" y="4553712"/>
            <a:ext cx="8046720" cy="228600"/>
          </a:xfrm>
          <a:prstGeom prst="rect">
            <a:avLst/>
          </a:prstGeom>
          <a:noFill/>
          <a:ln/>
        </p:spPr>
        <p:txBody>
          <a:bodyPr wrap="square" lIns="0" tIns="0" rIns="0" bIns="0" rtlCol="0" anchor="ctr"/>
          <a:lstStyle/>
          <a:p>
            <a:pPr marL="0" indent="0">
              <a:buNone/>
            </a:pPr>
            <a:r>
              <a:rPr lang="en-US" sz="1050" i="1" dirty="0">
                <a:solidFill>
                  <a:srgbClr val="4A7A82"/>
                </a:solidFill>
                <a:latin typeface="Calibri" pitchFamily="34" charset="0"/>
                <a:ea typeface="Calibri" pitchFamily="34" charset="-122"/>
                <a:cs typeface="Calibri" pitchFamily="34" charset="-120"/>
              </a:rPr>
              <a:t>The chef is brilliant. But the kitchen closed when training ended. No new ingredients after the cutoff date.</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11B41"/>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Labelling: The (Very Human) Assembly Line Behind the Curtain</a:t>
            </a:r>
            <a:endParaRPr lang="en-US" sz="2600" dirty="0"/>
          </a:p>
        </p:txBody>
      </p:sp>
      <p:sp>
        <p:nvSpPr>
          <p:cNvPr id="3" name="Shape 1"/>
          <p:cNvSpPr/>
          <p:nvPr/>
        </p:nvSpPr>
        <p:spPr>
          <a:xfrm>
            <a:off x="457200" y="822960"/>
            <a:ext cx="8229600" cy="27432"/>
          </a:xfrm>
          <a:prstGeom prst="rect">
            <a:avLst/>
          </a:prstGeom>
          <a:solidFill>
            <a:srgbClr val="2E2458"/>
          </a:solidFill>
          <a:ln w="12700">
            <a:solidFill>
              <a:srgbClr val="2E2458"/>
            </a:solidFill>
            <a:prstDash val="solid"/>
          </a:ln>
        </p:spPr>
        <p:txBody>
          <a:bodyPr/>
          <a:lstStyle/>
          <a:p>
            <a:endParaRPr lang="en-US"/>
          </a:p>
        </p:txBody>
      </p:sp>
      <p:sp>
        <p:nvSpPr>
          <p:cNvPr id="4" name="Shape 2"/>
          <p:cNvSpPr/>
          <p:nvPr/>
        </p:nvSpPr>
        <p:spPr>
          <a:xfrm>
            <a:off x="0" y="4919472"/>
            <a:ext cx="9144000" cy="224028"/>
          </a:xfrm>
          <a:prstGeom prst="rect">
            <a:avLst/>
          </a:prstGeom>
          <a:solidFill>
            <a:srgbClr val="2E2458"/>
          </a:solidFill>
          <a:ln w="12700">
            <a:solidFill>
              <a:srgbClr val="2E2458"/>
            </a:solidFill>
            <a:prstDash val="solid"/>
          </a:ln>
        </p:spPr>
        <p:txBody>
          <a:bodyPr/>
          <a:lstStyle/>
          <a:p>
            <a:endParaRPr lang="en-US"/>
          </a:p>
        </p:txBody>
      </p:sp>
      <p:sp>
        <p:nvSpPr>
          <p:cNvPr id="5" name="Text 3"/>
          <p:cNvSpPr/>
          <p:nvPr/>
        </p:nvSpPr>
        <p:spPr>
          <a:xfrm>
            <a:off x="274320" y="4928616"/>
            <a:ext cx="8595360" cy="201168"/>
          </a:xfrm>
          <a:prstGeom prst="rect">
            <a:avLst/>
          </a:prstGeom>
          <a:noFill/>
          <a:ln/>
        </p:spPr>
        <p:txBody>
          <a:bodyPr wrap="square" lIns="0" tIns="0" rIns="0" bIns="0" rtlCol="0" anchor="ctr"/>
          <a:lstStyle/>
          <a:p>
            <a:pPr marL="0" indent="0">
              <a:buNone/>
            </a:pPr>
            <a:r>
              <a:rPr lang="en-US" sz="900" dirty="0">
                <a:solidFill>
                  <a:srgbClr val="4A7A82"/>
                </a:solidFill>
                <a:latin typeface="Calibri" pitchFamily="34" charset="0"/>
                <a:ea typeface="Calibri" pitchFamily="34" charset="-122"/>
                <a:cs typeface="Calibri" pitchFamily="34" charset="-120"/>
              </a:rPr>
              <a:t>Blockstruct GmbH  ·  AI Demystified Workshop  ·  UniCredit  ·  April 2026</a:t>
            </a:r>
            <a:endParaRPr lang="en-US" sz="900" dirty="0"/>
          </a:p>
        </p:txBody>
      </p:sp>
      <p:sp>
        <p:nvSpPr>
          <p:cNvPr id="6" name="Text 4"/>
          <p:cNvSpPr/>
          <p:nvPr/>
        </p:nvSpPr>
        <p:spPr>
          <a:xfrm>
            <a:off x="457200" y="914400"/>
            <a:ext cx="8229600" cy="457200"/>
          </a:xfrm>
          <a:prstGeom prst="rect">
            <a:avLst/>
          </a:prstGeom>
          <a:noFill/>
          <a:ln/>
        </p:spPr>
        <p:txBody>
          <a:bodyPr wrap="square" lIns="0" tIns="0" rIns="0" bIns="0" rtlCol="0" anchor="ctr"/>
          <a:lstStyle/>
          <a:p>
            <a:pPr marL="0" indent="0">
              <a:buNone/>
            </a:pPr>
            <a:r>
              <a:rPr lang="en-US" sz="1300" i="1" dirty="0">
                <a:solidFill>
                  <a:srgbClr val="8F96FF"/>
                </a:solidFill>
                <a:latin typeface="Calibri" pitchFamily="34" charset="0"/>
                <a:ea typeface="Calibri" pitchFamily="34" charset="-122"/>
                <a:cs typeface="Calibri" pitchFamily="34" charset="-120"/>
              </a:rPr>
              <a:t>A raw LLM — trained only on internet text — will helpfully explain how to do terrible things. Labelling is how we fix that.</a:t>
            </a:r>
            <a:endParaRPr lang="en-US" sz="1300" dirty="0"/>
          </a:p>
        </p:txBody>
      </p:sp>
      <p:sp>
        <p:nvSpPr>
          <p:cNvPr id="7" name="Shape 5"/>
          <p:cNvSpPr/>
          <p:nvPr/>
        </p:nvSpPr>
        <p:spPr>
          <a:xfrm>
            <a:off x="457200" y="1508760"/>
            <a:ext cx="2651760" cy="2606040"/>
          </a:xfrm>
          <a:prstGeom prst="rect">
            <a:avLst/>
          </a:prstGeom>
          <a:solidFill>
            <a:srgbClr val="2E2458"/>
          </a:solidFill>
          <a:ln w="12700">
            <a:solidFill>
              <a:srgbClr val="2E2458"/>
            </a:solidFill>
            <a:prstDash val="solid"/>
          </a:ln>
          <a:effectLst>
            <a:outerShdw blurRad="127000" dist="38100" dir="8100000" algn="bl" rotWithShape="0">
              <a:srgbClr val="000000">
                <a:alpha val="13000"/>
              </a:srgbClr>
            </a:outerShdw>
          </a:effectLst>
        </p:spPr>
        <p:txBody>
          <a:bodyPr/>
          <a:lstStyle/>
          <a:p>
            <a:endParaRPr lang="en-US"/>
          </a:p>
        </p:txBody>
      </p:sp>
      <p:sp>
        <p:nvSpPr>
          <p:cNvPr id="8" name="Shape 6"/>
          <p:cNvSpPr/>
          <p:nvPr/>
        </p:nvSpPr>
        <p:spPr>
          <a:xfrm>
            <a:off x="1417320" y="1572768"/>
            <a:ext cx="731520" cy="731520"/>
          </a:xfrm>
          <a:prstGeom prst="line">
            <a:avLst/>
          </a:prstGeom>
          <a:solidFill>
            <a:srgbClr val="626EFF"/>
          </a:solidFill>
          <a:ln w="12700">
            <a:solidFill>
              <a:srgbClr val="626EFF"/>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1481328" y="1627632"/>
            <a:ext cx="603504" cy="603504"/>
          </a:xfrm>
          <a:prstGeom prst="rect">
            <a:avLst/>
          </a:prstGeom>
        </p:spPr>
      </p:pic>
      <p:sp>
        <p:nvSpPr>
          <p:cNvPr id="10" name="Text 7"/>
          <p:cNvSpPr/>
          <p:nvPr/>
        </p:nvSpPr>
        <p:spPr>
          <a:xfrm>
            <a:off x="548640" y="2395728"/>
            <a:ext cx="246888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Human raters</a:t>
            </a:r>
            <a:endParaRPr lang="en-US" sz="1300" dirty="0"/>
          </a:p>
        </p:txBody>
      </p:sp>
      <p:sp>
        <p:nvSpPr>
          <p:cNvPr id="11" name="Text 8"/>
          <p:cNvSpPr/>
          <p:nvPr/>
        </p:nvSpPr>
        <p:spPr>
          <a:xfrm>
            <a:off x="566928" y="2889504"/>
            <a:ext cx="2432304" cy="1097280"/>
          </a:xfrm>
          <a:prstGeom prst="rect">
            <a:avLst/>
          </a:prstGeom>
          <a:noFill/>
          <a:ln/>
        </p:spPr>
        <p:txBody>
          <a:bodyPr wrap="square" lIns="0" tIns="0" rIns="0" bIns="0" rtlCol="0" anchor="ctr"/>
          <a:lstStyle/>
          <a:p>
            <a:pPr marL="0" indent="0" algn="ctr">
              <a:buNone/>
            </a:pPr>
            <a:r>
              <a:rPr lang="en-US" sz="1100" dirty="0">
                <a:solidFill>
                  <a:srgbClr val="8F96FF"/>
                </a:solidFill>
                <a:latin typeface="Calibri" pitchFamily="34" charset="0"/>
                <a:ea typeface="Calibri" pitchFamily="34" charset="-122"/>
                <a:cs typeface="Calibri" pitchFamily="34" charset="-120"/>
              </a:rPr>
              <a:t>Thousands of people evaluate pairs of AI responses: 'Which is more helpful? More accurate? More appropriate?'</a:t>
            </a:r>
            <a:endParaRPr lang="en-US" sz="1100" dirty="0"/>
          </a:p>
        </p:txBody>
      </p:sp>
      <p:sp>
        <p:nvSpPr>
          <p:cNvPr id="12" name="Shape 9"/>
          <p:cNvSpPr/>
          <p:nvPr/>
        </p:nvSpPr>
        <p:spPr>
          <a:xfrm>
            <a:off x="3246120" y="1508760"/>
            <a:ext cx="2651760" cy="2606040"/>
          </a:xfrm>
          <a:prstGeom prst="rect">
            <a:avLst/>
          </a:prstGeom>
          <a:solidFill>
            <a:srgbClr val="2E2458"/>
          </a:solidFill>
          <a:ln w="12700">
            <a:solidFill>
              <a:srgbClr val="2E2458"/>
            </a:solidFill>
            <a:prstDash val="solid"/>
          </a:ln>
          <a:effectLst>
            <a:outerShdw blurRad="127000" dist="38100" dir="8100000" algn="bl" rotWithShape="0">
              <a:srgbClr val="000000">
                <a:alpha val="13000"/>
              </a:srgbClr>
            </a:outerShdw>
          </a:effectLst>
        </p:spPr>
        <p:txBody>
          <a:bodyPr/>
          <a:lstStyle/>
          <a:p>
            <a:endParaRPr lang="en-US"/>
          </a:p>
        </p:txBody>
      </p:sp>
      <p:sp>
        <p:nvSpPr>
          <p:cNvPr id="13" name="Shape 10"/>
          <p:cNvSpPr/>
          <p:nvPr/>
        </p:nvSpPr>
        <p:spPr>
          <a:xfrm>
            <a:off x="4206240" y="1572768"/>
            <a:ext cx="731520" cy="731520"/>
          </a:xfrm>
          <a:prstGeom prst="line">
            <a:avLst/>
          </a:prstGeom>
          <a:solidFill>
            <a:srgbClr val="626EFF"/>
          </a:solidFill>
          <a:ln w="12700">
            <a:solidFill>
              <a:srgbClr val="626EFF"/>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4270248" y="1627632"/>
            <a:ext cx="603504" cy="603504"/>
          </a:xfrm>
          <a:prstGeom prst="rect">
            <a:avLst/>
          </a:prstGeom>
        </p:spPr>
      </p:pic>
      <p:sp>
        <p:nvSpPr>
          <p:cNvPr id="15" name="Text 11"/>
          <p:cNvSpPr/>
          <p:nvPr/>
        </p:nvSpPr>
        <p:spPr>
          <a:xfrm>
            <a:off x="3337560" y="2395728"/>
            <a:ext cx="246888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Reward model</a:t>
            </a:r>
            <a:endParaRPr lang="en-US" sz="1300" dirty="0"/>
          </a:p>
        </p:txBody>
      </p:sp>
      <p:sp>
        <p:nvSpPr>
          <p:cNvPr id="16" name="Text 12"/>
          <p:cNvSpPr/>
          <p:nvPr/>
        </p:nvSpPr>
        <p:spPr>
          <a:xfrm>
            <a:off x="3355848" y="2889504"/>
            <a:ext cx="2432304" cy="1097280"/>
          </a:xfrm>
          <a:prstGeom prst="rect">
            <a:avLst/>
          </a:prstGeom>
          <a:noFill/>
          <a:ln/>
        </p:spPr>
        <p:txBody>
          <a:bodyPr wrap="square" lIns="0" tIns="0" rIns="0" bIns="0" rtlCol="0" anchor="ctr"/>
          <a:lstStyle/>
          <a:p>
            <a:pPr marL="0" indent="0" algn="ctr">
              <a:buNone/>
            </a:pPr>
            <a:r>
              <a:rPr lang="en-US" sz="1100" dirty="0">
                <a:solidFill>
                  <a:srgbClr val="8F96FF"/>
                </a:solidFill>
                <a:latin typeface="Calibri" pitchFamily="34" charset="0"/>
                <a:ea typeface="Calibri" pitchFamily="34" charset="-122"/>
                <a:cs typeface="Calibri" pitchFamily="34" charset="-120"/>
              </a:rPr>
              <a:t>A separate model learns from human preferences — essentially building an automated 'taste' for quality.</a:t>
            </a:r>
            <a:endParaRPr lang="en-US" sz="1100" dirty="0"/>
          </a:p>
        </p:txBody>
      </p:sp>
      <p:sp>
        <p:nvSpPr>
          <p:cNvPr id="17" name="Shape 13"/>
          <p:cNvSpPr/>
          <p:nvPr/>
        </p:nvSpPr>
        <p:spPr>
          <a:xfrm>
            <a:off x="6035040" y="1508760"/>
            <a:ext cx="2651760" cy="2606040"/>
          </a:xfrm>
          <a:prstGeom prst="rect">
            <a:avLst/>
          </a:prstGeom>
          <a:solidFill>
            <a:srgbClr val="2E2458"/>
          </a:solidFill>
          <a:ln w="12700">
            <a:solidFill>
              <a:srgbClr val="2E2458"/>
            </a:solidFill>
            <a:prstDash val="solid"/>
          </a:ln>
          <a:effectLst>
            <a:outerShdw blurRad="127000" dist="38100" dir="8100000" algn="bl" rotWithShape="0">
              <a:srgbClr val="000000">
                <a:alpha val="13000"/>
              </a:srgbClr>
            </a:outerShdw>
          </a:effectLst>
        </p:spPr>
        <p:txBody>
          <a:bodyPr/>
          <a:lstStyle/>
          <a:p>
            <a:endParaRPr lang="en-US"/>
          </a:p>
        </p:txBody>
      </p:sp>
      <p:sp>
        <p:nvSpPr>
          <p:cNvPr id="18" name="Shape 14"/>
          <p:cNvSpPr/>
          <p:nvPr/>
        </p:nvSpPr>
        <p:spPr>
          <a:xfrm>
            <a:off x="6995160" y="1572768"/>
            <a:ext cx="731520" cy="731520"/>
          </a:xfrm>
          <a:prstGeom prst="line">
            <a:avLst/>
          </a:prstGeom>
          <a:solidFill>
            <a:srgbClr val="626EFF"/>
          </a:solidFill>
          <a:ln w="12700">
            <a:solidFill>
              <a:srgbClr val="626EFF"/>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7059168" y="1627632"/>
            <a:ext cx="603504" cy="603504"/>
          </a:xfrm>
          <a:prstGeom prst="rect">
            <a:avLst/>
          </a:prstGeom>
        </p:spPr>
      </p:pic>
      <p:sp>
        <p:nvSpPr>
          <p:cNvPr id="20" name="Text 15"/>
          <p:cNvSpPr/>
          <p:nvPr/>
        </p:nvSpPr>
        <p:spPr>
          <a:xfrm>
            <a:off x="6126480" y="2395728"/>
            <a:ext cx="2468880" cy="457200"/>
          </a:xfrm>
          <a:prstGeom prst="rect">
            <a:avLst/>
          </a:prstGeom>
          <a:noFill/>
          <a:ln/>
        </p:spPr>
        <p:txBody>
          <a:bodyPr wrap="square" lIns="0" tIns="0" rIns="0" bIns="0" rtlCol="0" anchor="ctr"/>
          <a:lstStyle/>
          <a:p>
            <a:pPr marL="0" indent="0" algn="ctr">
              <a:buNone/>
            </a:pPr>
            <a:r>
              <a:rPr lang="en-US" sz="1300" b="1" dirty="0">
                <a:solidFill>
                  <a:srgbClr val="FFFFFF"/>
                </a:solidFill>
                <a:latin typeface="Georgia" pitchFamily="34" charset="0"/>
                <a:ea typeface="Georgia" pitchFamily="34" charset="-122"/>
                <a:cs typeface="Georgia" pitchFamily="34" charset="-120"/>
              </a:rPr>
              <a:t>Fine-tune on reward</a:t>
            </a:r>
            <a:endParaRPr lang="en-US" sz="1300" dirty="0"/>
          </a:p>
        </p:txBody>
      </p:sp>
      <p:sp>
        <p:nvSpPr>
          <p:cNvPr id="21" name="Text 16"/>
          <p:cNvSpPr/>
          <p:nvPr/>
        </p:nvSpPr>
        <p:spPr>
          <a:xfrm>
            <a:off x="6144768" y="2889504"/>
            <a:ext cx="2432304" cy="1097280"/>
          </a:xfrm>
          <a:prstGeom prst="rect">
            <a:avLst/>
          </a:prstGeom>
          <a:noFill/>
          <a:ln/>
        </p:spPr>
        <p:txBody>
          <a:bodyPr wrap="square" lIns="0" tIns="0" rIns="0" bIns="0" rtlCol="0" anchor="ctr"/>
          <a:lstStyle/>
          <a:p>
            <a:pPr marL="0" indent="0" algn="ctr">
              <a:buNone/>
            </a:pPr>
            <a:r>
              <a:rPr lang="en-US" sz="1100" dirty="0">
                <a:solidFill>
                  <a:srgbClr val="8F96FF"/>
                </a:solidFill>
                <a:latin typeface="Calibri" pitchFamily="34" charset="0"/>
                <a:ea typeface="Calibri" pitchFamily="34" charset="-122"/>
                <a:cs typeface="Calibri" pitchFamily="34" charset="-120"/>
              </a:rPr>
              <a:t>The LLM is updated to produce outputs that score well on the reward model. Repeated. Many times.</a:t>
            </a:r>
            <a:endParaRPr lang="en-US" sz="1100" dirty="0"/>
          </a:p>
        </p:txBody>
      </p:sp>
      <p:sp>
        <p:nvSpPr>
          <p:cNvPr id="22" name="Text 17"/>
          <p:cNvSpPr/>
          <p:nvPr/>
        </p:nvSpPr>
        <p:spPr>
          <a:xfrm>
            <a:off x="457200" y="4279392"/>
            <a:ext cx="8229600" cy="411480"/>
          </a:xfrm>
          <a:prstGeom prst="rect">
            <a:avLst/>
          </a:prstGeom>
          <a:noFill/>
          <a:ln/>
        </p:spPr>
        <p:txBody>
          <a:bodyPr wrap="square" lIns="0" tIns="0" rIns="0" bIns="0" rtlCol="0" anchor="ctr"/>
          <a:lstStyle/>
          <a:p>
            <a:pPr marL="0" indent="0">
              <a:buNone/>
            </a:pPr>
            <a:r>
              <a:rPr lang="en-US" sz="1250" dirty="0">
                <a:solidFill>
                  <a:srgbClr val="F0B20D"/>
                </a:solidFill>
                <a:latin typeface="Calibri" pitchFamily="34" charset="0"/>
                <a:ea typeface="Calibri" pitchFamily="34" charset="-122"/>
                <a:cs typeface="Calibri" pitchFamily="34" charset="-120"/>
              </a:rPr>
              <a:t>This process — called RLHF (Reinforcement Learning from Human Feedback) — is why modern LLMs are useful rather than unhinged.</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FF4E0"/>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600" b="1" dirty="0">
                <a:solidFill>
                  <a:srgbClr val="211B41"/>
                </a:solidFill>
                <a:latin typeface="Georgia" pitchFamily="34" charset="0"/>
                <a:ea typeface="Georgia" pitchFamily="34" charset="-122"/>
                <a:cs typeface="Georgia" pitchFamily="34" charset="-120"/>
              </a:rPr>
              <a:t>Can We Teach AI to Sort, Label, and Understand Our World?</a:t>
            </a:r>
            <a:endParaRPr lang="en-US" sz="2600" dirty="0"/>
          </a:p>
        </p:txBody>
      </p:sp>
      <p:sp>
        <p:nvSpPr>
          <p:cNvPr id="3" name="Shape 1"/>
          <p:cNvSpPr/>
          <p:nvPr/>
        </p:nvSpPr>
        <p:spPr>
          <a:xfrm>
            <a:off x="457200" y="822960"/>
            <a:ext cx="8229600" cy="27432"/>
          </a:xfrm>
          <a:prstGeom prst="rect">
            <a:avLst/>
          </a:prstGeom>
          <a:solidFill>
            <a:srgbClr val="BBCE8E"/>
          </a:solidFill>
          <a:ln w="12700">
            <a:solidFill>
              <a:srgbClr val="BBCE8E"/>
            </a:solidFill>
            <a:prstDash val="solid"/>
          </a:ln>
        </p:spPr>
        <p:txBody>
          <a:bodyPr/>
          <a:lstStyle/>
          <a:p>
            <a:endParaRPr lang="en-US"/>
          </a:p>
        </p:txBody>
      </p:sp>
      <p:sp>
        <p:nvSpPr>
          <p:cNvPr id="4" name="Shape 2"/>
          <p:cNvSpPr/>
          <p:nvPr/>
        </p:nvSpPr>
        <p:spPr>
          <a:xfrm>
            <a:off x="0" y="4919472"/>
            <a:ext cx="9144000" cy="224028"/>
          </a:xfrm>
          <a:prstGeom prst="rect">
            <a:avLst/>
          </a:prstGeom>
          <a:solidFill>
            <a:srgbClr val="BBCE8E"/>
          </a:solidFill>
          <a:ln w="12700">
            <a:solidFill>
              <a:srgbClr val="BBCE8E"/>
            </a:solidFill>
            <a:prstDash val="solid"/>
          </a:ln>
        </p:spPr>
        <p:txBody>
          <a:bodyPr/>
          <a:lstStyle/>
          <a:p>
            <a:endParaRPr lang="en-US"/>
          </a:p>
        </p:txBody>
      </p:sp>
      <p:sp>
        <p:nvSpPr>
          <p:cNvPr id="5" name="Text 3"/>
          <p:cNvSpPr/>
          <p:nvPr/>
        </p:nvSpPr>
        <p:spPr>
          <a:xfrm>
            <a:off x="274320" y="4928616"/>
            <a:ext cx="8595360" cy="201168"/>
          </a:xfrm>
          <a:prstGeom prst="rect">
            <a:avLst/>
          </a:prstGeom>
          <a:noFill/>
          <a:ln/>
        </p:spPr>
        <p:txBody>
          <a:bodyPr wrap="square" lIns="0" tIns="0" rIns="0" bIns="0" rtlCol="0" anchor="ctr"/>
          <a:lstStyle/>
          <a:p>
            <a:pPr marL="0" indent="0">
              <a:buNone/>
            </a:pPr>
            <a:r>
              <a:rPr lang="en-US" sz="900" dirty="0">
                <a:solidFill>
                  <a:srgbClr val="4A7A82"/>
                </a:solidFill>
                <a:latin typeface="Calibri" pitchFamily="34" charset="0"/>
                <a:ea typeface="Calibri" pitchFamily="34" charset="-122"/>
                <a:cs typeface="Calibri" pitchFamily="34" charset="-120"/>
              </a:rPr>
              <a:t>Blockstruct GmbH  ·  AI Demystified Workshop  ·  UniCredit  ·  April 2026</a:t>
            </a:r>
            <a:endParaRPr lang="en-US" sz="900" dirty="0"/>
          </a:p>
        </p:txBody>
      </p:sp>
      <p:sp>
        <p:nvSpPr>
          <p:cNvPr id="6" name="Text 4"/>
          <p:cNvSpPr/>
          <p:nvPr/>
        </p:nvSpPr>
        <p:spPr>
          <a:xfrm>
            <a:off x="457200" y="914400"/>
            <a:ext cx="8229600" cy="365760"/>
          </a:xfrm>
          <a:prstGeom prst="rect">
            <a:avLst/>
          </a:prstGeom>
          <a:noFill/>
          <a:ln/>
        </p:spPr>
        <p:txBody>
          <a:bodyPr wrap="square" lIns="0" tIns="0" rIns="0" bIns="0" rtlCol="0" anchor="ctr"/>
          <a:lstStyle/>
          <a:p>
            <a:pPr marL="0" indent="0">
              <a:buNone/>
            </a:pPr>
            <a:r>
              <a:rPr lang="en-US" sz="1300" dirty="0">
                <a:solidFill>
                  <a:srgbClr val="211B41"/>
                </a:solidFill>
                <a:latin typeface="Calibri" pitchFamily="34" charset="0"/>
                <a:ea typeface="Calibri" pitchFamily="34" charset="-122"/>
                <a:cs typeface="Calibri" pitchFamily="34" charset="-120"/>
              </a:rPr>
              <a:t>Yes. Three complementary approaches — all of which Blockstruct deploys for banking clients:</a:t>
            </a:r>
            <a:endParaRPr lang="en-US" sz="1300" dirty="0"/>
          </a:p>
        </p:txBody>
      </p:sp>
      <p:sp>
        <p:nvSpPr>
          <p:cNvPr id="7" name="Shape 5"/>
          <p:cNvSpPr/>
          <p:nvPr/>
        </p:nvSpPr>
        <p:spPr>
          <a:xfrm>
            <a:off x="457200" y="1389888"/>
            <a:ext cx="73152" cy="1005840"/>
          </a:xfrm>
          <a:prstGeom prst="rect">
            <a:avLst/>
          </a:prstGeom>
          <a:solidFill>
            <a:srgbClr val="626EFF"/>
          </a:solidFill>
          <a:ln w="12700">
            <a:solidFill>
              <a:srgbClr val="626EFF"/>
            </a:solidFill>
            <a:prstDash val="solid"/>
          </a:ln>
        </p:spPr>
        <p:txBody>
          <a:bodyPr/>
          <a:lstStyle/>
          <a:p>
            <a:endParaRPr lang="en-US"/>
          </a:p>
        </p:txBody>
      </p:sp>
      <p:sp>
        <p:nvSpPr>
          <p:cNvPr id="8" name="Text 6"/>
          <p:cNvSpPr/>
          <p:nvPr/>
        </p:nvSpPr>
        <p:spPr>
          <a:xfrm>
            <a:off x="658368" y="1389888"/>
            <a:ext cx="8046720" cy="347472"/>
          </a:xfrm>
          <a:prstGeom prst="rect">
            <a:avLst/>
          </a:prstGeom>
          <a:noFill/>
          <a:ln/>
        </p:spPr>
        <p:txBody>
          <a:bodyPr wrap="square" lIns="0" tIns="0" rIns="0" bIns="0" rtlCol="0" anchor="ctr"/>
          <a:lstStyle/>
          <a:p>
            <a:pPr marL="0" indent="0">
              <a:buNone/>
            </a:pPr>
            <a:r>
              <a:rPr lang="en-US" sz="1300" b="1" dirty="0">
                <a:solidFill>
                  <a:srgbClr val="211B41"/>
                </a:solidFill>
                <a:latin typeface="Calibri" pitchFamily="34" charset="0"/>
                <a:ea typeface="Calibri" pitchFamily="34" charset="-122"/>
                <a:cs typeface="Calibri" pitchFamily="34" charset="-120"/>
              </a:rPr>
              <a:t>1. Iterative prompting &amp; instruction</a:t>
            </a:r>
            <a:endParaRPr lang="en-US" sz="1300" dirty="0"/>
          </a:p>
        </p:txBody>
      </p:sp>
      <p:sp>
        <p:nvSpPr>
          <p:cNvPr id="9" name="Text 7"/>
          <p:cNvSpPr/>
          <p:nvPr/>
        </p:nvSpPr>
        <p:spPr>
          <a:xfrm>
            <a:off x="658368" y="1755648"/>
            <a:ext cx="8046720" cy="594360"/>
          </a:xfrm>
          <a:prstGeom prst="rect">
            <a:avLst/>
          </a:prstGeom>
          <a:noFill/>
          <a:ln/>
        </p:spPr>
        <p:txBody>
          <a:bodyPr wrap="square" lIns="0" tIns="0" rIns="0" bIns="0" rtlCol="0" anchor="ctr"/>
          <a:lstStyle/>
          <a:p>
            <a:pPr marL="0" indent="0">
              <a:buNone/>
            </a:pPr>
            <a:r>
              <a:rPr lang="en-US" sz="1100" dirty="0">
                <a:solidFill>
                  <a:srgbClr val="211B41"/>
                </a:solidFill>
                <a:latin typeface="Calibri" pitchFamily="34" charset="0"/>
                <a:ea typeface="Calibri" pitchFamily="34" charset="-122"/>
                <a:cs typeface="Calibri" pitchFamily="34" charset="-120"/>
              </a:rPr>
              <a:t>Show the AI examples of what 'correct' looks like for your context  ·  Refine the instructions based on outputs — a feedback loop  ·  No code required; any business analyst can do this  ·  Practical example: teaching AI to categorise incoming client emails into routing buckets</a:t>
            </a:r>
            <a:endParaRPr lang="en-US" sz="1100" dirty="0"/>
          </a:p>
        </p:txBody>
      </p:sp>
      <p:sp>
        <p:nvSpPr>
          <p:cNvPr id="10" name="Shape 8"/>
          <p:cNvSpPr/>
          <p:nvPr/>
        </p:nvSpPr>
        <p:spPr>
          <a:xfrm>
            <a:off x="457200" y="2578608"/>
            <a:ext cx="73152" cy="1005840"/>
          </a:xfrm>
          <a:prstGeom prst="rect">
            <a:avLst/>
          </a:prstGeom>
          <a:solidFill>
            <a:srgbClr val="A7B360"/>
          </a:solidFill>
          <a:ln w="12700">
            <a:solidFill>
              <a:srgbClr val="A7B360"/>
            </a:solidFill>
            <a:prstDash val="solid"/>
          </a:ln>
        </p:spPr>
        <p:txBody>
          <a:bodyPr/>
          <a:lstStyle/>
          <a:p>
            <a:endParaRPr lang="en-US"/>
          </a:p>
        </p:txBody>
      </p:sp>
      <p:sp>
        <p:nvSpPr>
          <p:cNvPr id="11" name="Text 9"/>
          <p:cNvSpPr/>
          <p:nvPr/>
        </p:nvSpPr>
        <p:spPr>
          <a:xfrm>
            <a:off x="658368" y="2578608"/>
            <a:ext cx="8046720" cy="347472"/>
          </a:xfrm>
          <a:prstGeom prst="rect">
            <a:avLst/>
          </a:prstGeom>
          <a:noFill/>
          <a:ln/>
        </p:spPr>
        <p:txBody>
          <a:bodyPr wrap="square" lIns="0" tIns="0" rIns="0" bIns="0" rtlCol="0" anchor="ctr"/>
          <a:lstStyle/>
          <a:p>
            <a:pPr marL="0" indent="0">
              <a:buNone/>
            </a:pPr>
            <a:r>
              <a:rPr lang="en-US" sz="1300" b="1" dirty="0">
                <a:solidFill>
                  <a:srgbClr val="211B41"/>
                </a:solidFill>
                <a:latin typeface="Calibri" pitchFamily="34" charset="0"/>
                <a:ea typeface="Calibri" pitchFamily="34" charset="-122"/>
                <a:cs typeface="Calibri" pitchFamily="34" charset="-120"/>
              </a:rPr>
              <a:t>2. RAG + custom knowledge bases</a:t>
            </a:r>
            <a:endParaRPr lang="en-US" sz="1300" dirty="0"/>
          </a:p>
        </p:txBody>
      </p:sp>
      <p:sp>
        <p:nvSpPr>
          <p:cNvPr id="12" name="Text 10"/>
          <p:cNvSpPr/>
          <p:nvPr/>
        </p:nvSpPr>
        <p:spPr>
          <a:xfrm>
            <a:off x="658368" y="2944368"/>
            <a:ext cx="8046720" cy="594360"/>
          </a:xfrm>
          <a:prstGeom prst="rect">
            <a:avLst/>
          </a:prstGeom>
          <a:noFill/>
          <a:ln/>
        </p:spPr>
        <p:txBody>
          <a:bodyPr wrap="square" lIns="0" tIns="0" rIns="0" bIns="0" rtlCol="0" anchor="ctr"/>
          <a:lstStyle/>
          <a:p>
            <a:pPr marL="0" indent="0">
              <a:buNone/>
            </a:pPr>
            <a:r>
              <a:rPr lang="en-US" sz="1100" dirty="0">
                <a:solidFill>
                  <a:srgbClr val="211B41"/>
                </a:solidFill>
                <a:latin typeface="Calibri" pitchFamily="34" charset="0"/>
                <a:ea typeface="Calibri" pitchFamily="34" charset="-122"/>
                <a:cs typeface="Calibri" pitchFamily="34" charset="-120"/>
              </a:rPr>
              <a:t>Feed the AI your product sheets, policies, client history  ·  It retrieves the right documents before answering  ·  Output is grounded in your data, not the internet  ·  Practical example: AI that answers 'What are the current terms for our SME credit line?' — accurately</a:t>
            </a:r>
            <a:endParaRPr lang="en-US" sz="1100" dirty="0"/>
          </a:p>
        </p:txBody>
      </p:sp>
      <p:sp>
        <p:nvSpPr>
          <p:cNvPr id="13" name="Shape 11"/>
          <p:cNvSpPr/>
          <p:nvPr/>
        </p:nvSpPr>
        <p:spPr>
          <a:xfrm>
            <a:off x="457200" y="3767328"/>
            <a:ext cx="73152" cy="1005840"/>
          </a:xfrm>
          <a:prstGeom prst="rect">
            <a:avLst/>
          </a:prstGeom>
          <a:solidFill>
            <a:srgbClr val="F0B20D"/>
          </a:solidFill>
          <a:ln w="12700">
            <a:solidFill>
              <a:srgbClr val="F0B20D"/>
            </a:solidFill>
            <a:prstDash val="solid"/>
          </a:ln>
        </p:spPr>
        <p:txBody>
          <a:bodyPr/>
          <a:lstStyle/>
          <a:p>
            <a:endParaRPr lang="en-US"/>
          </a:p>
        </p:txBody>
      </p:sp>
      <p:sp>
        <p:nvSpPr>
          <p:cNvPr id="14" name="Text 12"/>
          <p:cNvSpPr/>
          <p:nvPr/>
        </p:nvSpPr>
        <p:spPr>
          <a:xfrm>
            <a:off x="658368" y="3767328"/>
            <a:ext cx="8046720" cy="347472"/>
          </a:xfrm>
          <a:prstGeom prst="rect">
            <a:avLst/>
          </a:prstGeom>
          <a:noFill/>
          <a:ln/>
        </p:spPr>
        <p:txBody>
          <a:bodyPr wrap="square" lIns="0" tIns="0" rIns="0" bIns="0" rtlCol="0" anchor="ctr"/>
          <a:lstStyle/>
          <a:p>
            <a:pPr marL="0" indent="0">
              <a:buNone/>
            </a:pPr>
            <a:r>
              <a:rPr lang="en-US" sz="1300" b="1" dirty="0">
                <a:solidFill>
                  <a:srgbClr val="211B41"/>
                </a:solidFill>
                <a:latin typeface="Calibri" pitchFamily="34" charset="0"/>
                <a:ea typeface="Calibri" pitchFamily="34" charset="-122"/>
                <a:cs typeface="Calibri" pitchFamily="34" charset="-120"/>
              </a:rPr>
              <a:t>3. Fine-tuning (when it's worth it)</a:t>
            </a:r>
            <a:endParaRPr lang="en-US" sz="1300" dirty="0"/>
          </a:p>
        </p:txBody>
      </p:sp>
      <p:sp>
        <p:nvSpPr>
          <p:cNvPr id="15" name="Text 13"/>
          <p:cNvSpPr/>
          <p:nvPr/>
        </p:nvSpPr>
        <p:spPr>
          <a:xfrm>
            <a:off x="658368" y="4133088"/>
            <a:ext cx="8046720" cy="594360"/>
          </a:xfrm>
          <a:prstGeom prst="rect">
            <a:avLst/>
          </a:prstGeom>
          <a:noFill/>
          <a:ln/>
        </p:spPr>
        <p:txBody>
          <a:bodyPr wrap="square" lIns="0" tIns="0" rIns="0" bIns="0" rtlCol="0" anchor="ctr"/>
          <a:lstStyle/>
          <a:p>
            <a:pPr marL="0" indent="0">
              <a:buNone/>
            </a:pPr>
            <a:r>
              <a:rPr lang="en-US" sz="1100" dirty="0">
                <a:solidFill>
                  <a:srgbClr val="211B41"/>
                </a:solidFill>
                <a:latin typeface="Calibri" pitchFamily="34" charset="0"/>
                <a:ea typeface="Calibri" pitchFamily="34" charset="-122"/>
                <a:cs typeface="Calibri" pitchFamily="34" charset="-120"/>
              </a:rPr>
              <a:t>Re-train the model on your specific data and preferred outputs  ·  More powerful, more expensive, harder to update  ·  Use when the task is very specialised and volume justifies it  ·  Practical example: a credit risk classification model that uses UniCredit-specific language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0B20D"/>
        </a:solidFill>
        <a:effectLst/>
      </p:bgPr>
    </p:bg>
    <p:spTree>
      <p:nvGrpSpPr>
        <p:cNvPr id="1" name=""/>
        <p:cNvGrpSpPr/>
        <p:nvPr/>
      </p:nvGrpSpPr>
      <p:grpSpPr>
        <a:xfrm>
          <a:off x="0" y="0"/>
          <a:ext cx="0" cy="0"/>
          <a:chOff x="0" y="0"/>
          <a:chExt cx="0" cy="0"/>
        </a:xfrm>
      </p:grpSpPr>
      <p:sp>
        <p:nvSpPr>
          <p:cNvPr id="2" name="Shape 0"/>
          <p:cNvSpPr/>
          <p:nvPr/>
        </p:nvSpPr>
        <p:spPr>
          <a:xfrm>
            <a:off x="-1371600" y="-1371600"/>
            <a:ext cx="4572000" cy="4572000"/>
          </a:xfrm>
          <a:prstGeom prst="line">
            <a:avLst/>
          </a:prstGeom>
          <a:solidFill>
            <a:srgbClr val="FFFFFF">
              <a:alpha val="15000"/>
            </a:srgbClr>
          </a:solidFill>
          <a:ln w="12700">
            <a:solidFill>
              <a:srgbClr val="F0B20D"/>
            </a:solidFill>
            <a:prstDash val="solid"/>
          </a:ln>
        </p:spPr>
        <p:txBody>
          <a:bodyPr/>
          <a:lstStyle/>
          <a:p>
            <a:endParaRPr lang="en-US"/>
          </a:p>
        </p:txBody>
      </p:sp>
      <p:sp>
        <p:nvSpPr>
          <p:cNvPr id="3" name="Shape 1"/>
          <p:cNvSpPr/>
          <p:nvPr/>
        </p:nvSpPr>
        <p:spPr>
          <a:xfrm>
            <a:off x="6858000" y="2286000"/>
            <a:ext cx="3657600" cy="3657600"/>
          </a:xfrm>
          <a:prstGeom prst="line">
            <a:avLst/>
          </a:prstGeom>
          <a:solidFill>
            <a:srgbClr val="FFFFFF">
              <a:alpha val="12000"/>
            </a:srgbClr>
          </a:solidFill>
          <a:ln w="12700">
            <a:solidFill>
              <a:srgbClr val="F0B20D"/>
            </a:solidFill>
            <a:prstDash val="solid"/>
          </a:ln>
        </p:spPr>
        <p:txBody>
          <a:bodyPr/>
          <a:lstStyle/>
          <a:p>
            <a:endParaRPr lang="en-US"/>
          </a:p>
        </p:txBody>
      </p:sp>
      <p:sp>
        <p:nvSpPr>
          <p:cNvPr id="4" name="Text 2"/>
          <p:cNvSpPr/>
          <p:nvPr/>
        </p:nvSpPr>
        <p:spPr>
          <a:xfrm>
            <a:off x="457200" y="1371600"/>
            <a:ext cx="8229600" cy="1097280"/>
          </a:xfrm>
          <a:prstGeom prst="rect">
            <a:avLst/>
          </a:prstGeom>
          <a:noFill/>
          <a:ln/>
        </p:spPr>
        <p:txBody>
          <a:bodyPr wrap="square" rtlCol="0" anchor="ctr"/>
          <a:lstStyle/>
          <a:p>
            <a:pPr marL="0" indent="0" algn="ctr">
              <a:buNone/>
            </a:pPr>
            <a:r>
              <a:rPr lang="en-US" sz="6000" b="1" dirty="0">
                <a:solidFill>
                  <a:srgbClr val="211B41"/>
                </a:solidFill>
                <a:latin typeface="Georgia" pitchFamily="34" charset="0"/>
                <a:ea typeface="Georgia" pitchFamily="34" charset="-122"/>
                <a:cs typeface="Georgia" pitchFamily="34" charset="-120"/>
              </a:rPr>
              <a:t>Coffee Break</a:t>
            </a:r>
            <a:endParaRPr lang="en-US" sz="6000" dirty="0"/>
          </a:p>
        </p:txBody>
      </p:sp>
      <p:sp>
        <p:nvSpPr>
          <p:cNvPr id="5" name="Text 3"/>
          <p:cNvSpPr/>
          <p:nvPr/>
        </p:nvSpPr>
        <p:spPr>
          <a:xfrm>
            <a:off x="457200" y="2788920"/>
            <a:ext cx="8229600" cy="548640"/>
          </a:xfrm>
          <a:prstGeom prst="rect">
            <a:avLst/>
          </a:prstGeom>
          <a:noFill/>
          <a:ln/>
        </p:spPr>
        <p:txBody>
          <a:bodyPr wrap="square" rtlCol="0" anchor="ctr"/>
          <a:lstStyle/>
          <a:p>
            <a:pPr marL="0" indent="0" algn="ctr">
              <a:buNone/>
            </a:pPr>
            <a:r>
              <a:rPr lang="en-US" sz="2400" dirty="0">
                <a:solidFill>
                  <a:srgbClr val="211B41"/>
                </a:solidFill>
                <a:latin typeface="Calibri" pitchFamily="34" charset="0"/>
                <a:ea typeface="Calibri" pitchFamily="34" charset="-122"/>
                <a:cs typeface="Calibri" pitchFamily="34" charset="-120"/>
              </a:rPr>
              <a:t>15 minutes</a:t>
            </a:r>
            <a:endParaRPr lang="en-US" sz="2400" dirty="0"/>
          </a:p>
        </p:txBody>
      </p:sp>
      <p:sp>
        <p:nvSpPr>
          <p:cNvPr id="6" name="Text 4"/>
          <p:cNvSpPr/>
          <p:nvPr/>
        </p:nvSpPr>
        <p:spPr>
          <a:xfrm>
            <a:off x="1371600" y="3474720"/>
            <a:ext cx="6400800" cy="868680"/>
          </a:xfrm>
          <a:prstGeom prst="rect">
            <a:avLst/>
          </a:prstGeom>
          <a:noFill/>
          <a:ln/>
        </p:spPr>
        <p:txBody>
          <a:bodyPr wrap="square" rtlCol="0" anchor="ctr"/>
          <a:lstStyle/>
          <a:p>
            <a:pPr marL="0" indent="0" algn="ctr">
              <a:buNone/>
            </a:pPr>
            <a:r>
              <a:rPr lang="en-US" sz="1350" i="1" dirty="0">
                <a:solidFill>
                  <a:srgbClr val="211B41"/>
                </a:solidFill>
                <a:latin typeface="Calibri" pitchFamily="34" charset="0"/>
                <a:ea typeface="Calibri" pitchFamily="34" charset="-122"/>
                <a:cs typeface="Calibri" pitchFamily="34" charset="-120"/>
              </a:rPr>
              <a:t>The AI will not be taking a break.</a:t>
            </a:r>
            <a:endParaRPr lang="en-US" sz="1350" dirty="0"/>
          </a:p>
          <a:p>
            <a:pPr marL="0" indent="0" algn="ctr">
              <a:buNone/>
            </a:pPr>
            <a:r>
              <a:rPr lang="en-US" sz="1350" i="1" dirty="0">
                <a:solidFill>
                  <a:srgbClr val="211B41"/>
                </a:solidFill>
                <a:latin typeface="Calibri" pitchFamily="34" charset="0"/>
                <a:ea typeface="Calibri" pitchFamily="34" charset="-122"/>
                <a:cs typeface="Calibri" pitchFamily="34" charset="-120"/>
              </a:rPr>
              <a:t>But unlike the AI, you have a corpus callosum. You'll need it for the second half.</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11B41"/>
        </a:solidFill>
        <a:effectLst/>
      </p:bgPr>
    </p:bg>
    <p:spTree>
      <p:nvGrpSpPr>
        <p:cNvPr id="1" name=""/>
        <p:cNvGrpSpPr/>
        <p:nvPr/>
      </p:nvGrpSpPr>
      <p:grpSpPr>
        <a:xfrm>
          <a:off x="0" y="0"/>
          <a:ext cx="0" cy="0"/>
          <a:chOff x="0" y="0"/>
          <a:chExt cx="0" cy="0"/>
        </a:xfrm>
      </p:grpSpPr>
      <p:sp>
        <p:nvSpPr>
          <p:cNvPr id="2" name="Text 0"/>
          <p:cNvSpPr/>
          <p:nvPr/>
        </p:nvSpPr>
        <p:spPr>
          <a:xfrm>
            <a:off x="5943600" y="-365760"/>
            <a:ext cx="3474720" cy="4572000"/>
          </a:xfrm>
          <a:prstGeom prst="rect">
            <a:avLst/>
          </a:prstGeom>
          <a:noFill/>
          <a:ln/>
        </p:spPr>
        <p:txBody>
          <a:bodyPr wrap="square" lIns="0" tIns="0" rIns="0" bIns="0" rtlCol="0" anchor="ctr"/>
          <a:lstStyle/>
          <a:p>
            <a:pPr marL="0" indent="0" algn="r">
              <a:buNone/>
            </a:pPr>
            <a:r>
              <a:rPr lang="en-US" sz="32000" b="1" dirty="0">
                <a:solidFill>
                  <a:srgbClr val="2E2458"/>
                </a:solidFill>
                <a:latin typeface="Georgia" pitchFamily="34" charset="0"/>
                <a:ea typeface="Georgia" pitchFamily="34" charset="-122"/>
                <a:cs typeface="Georgia" pitchFamily="34" charset="-120"/>
              </a:rPr>
              <a:t>4</a:t>
            </a:r>
            <a:endParaRPr lang="en-US" sz="32000" dirty="0"/>
          </a:p>
        </p:txBody>
      </p:sp>
      <p:sp>
        <p:nvSpPr>
          <p:cNvPr id="3" name="Shape 1"/>
          <p:cNvSpPr/>
          <p:nvPr/>
        </p:nvSpPr>
        <p:spPr>
          <a:xfrm>
            <a:off x="0" y="0"/>
            <a:ext cx="109728" cy="5143500"/>
          </a:xfrm>
          <a:prstGeom prst="rect">
            <a:avLst/>
          </a:prstGeom>
          <a:solidFill>
            <a:srgbClr val="626EFF"/>
          </a:solidFill>
          <a:ln w="12700">
            <a:solidFill>
              <a:srgbClr val="626EFF"/>
            </a:solidFill>
            <a:prstDash val="solid"/>
          </a:ln>
        </p:spPr>
        <p:txBody>
          <a:bodyPr/>
          <a:lstStyle/>
          <a:p>
            <a:endParaRPr lang="en-US"/>
          </a:p>
        </p:txBody>
      </p:sp>
      <p:sp>
        <p:nvSpPr>
          <p:cNvPr id="4" name="Text 2"/>
          <p:cNvSpPr/>
          <p:nvPr/>
        </p:nvSpPr>
        <p:spPr>
          <a:xfrm>
            <a:off x="320040" y="1280160"/>
            <a:ext cx="5486400" cy="411480"/>
          </a:xfrm>
          <a:prstGeom prst="rect">
            <a:avLst/>
          </a:prstGeom>
          <a:noFill/>
          <a:ln/>
        </p:spPr>
        <p:txBody>
          <a:bodyPr wrap="square" lIns="0" tIns="0" rIns="0" bIns="0" rtlCol="0" anchor="ctr"/>
          <a:lstStyle/>
          <a:p>
            <a:pPr marL="0" indent="0">
              <a:buNone/>
            </a:pPr>
            <a:r>
              <a:rPr lang="en-US" sz="1300" b="1" kern="0" spc="400" dirty="0">
                <a:solidFill>
                  <a:srgbClr val="F0B20D"/>
                </a:solidFill>
                <a:latin typeface="Calibri" pitchFamily="34" charset="0"/>
                <a:ea typeface="Calibri" pitchFamily="34" charset="-122"/>
                <a:cs typeface="Calibri" pitchFamily="34" charset="-120"/>
              </a:rPr>
              <a:t>MODULE 4</a:t>
            </a:r>
            <a:endParaRPr lang="en-US" sz="1300" dirty="0"/>
          </a:p>
        </p:txBody>
      </p:sp>
      <p:sp>
        <p:nvSpPr>
          <p:cNvPr id="5" name="Text 3"/>
          <p:cNvSpPr/>
          <p:nvPr/>
        </p:nvSpPr>
        <p:spPr>
          <a:xfrm>
            <a:off x="320040" y="1737360"/>
            <a:ext cx="6858000" cy="1645920"/>
          </a:xfrm>
          <a:prstGeom prst="rect">
            <a:avLst/>
          </a:prstGeom>
          <a:noFill/>
          <a:ln/>
        </p:spPr>
        <p:txBody>
          <a:bodyPr wrap="square" lIns="0" tIns="0" rIns="0" bIns="0" rtlCol="0" anchor="ctr"/>
          <a:lstStyle/>
          <a:p>
            <a:pPr marL="0" indent="0">
              <a:buNone/>
            </a:pPr>
            <a:r>
              <a:rPr lang="en-US" sz="4200" b="1" dirty="0">
                <a:solidFill>
                  <a:srgbClr val="FFFFFF"/>
                </a:solidFill>
                <a:latin typeface="Georgia" pitchFamily="34" charset="0"/>
                <a:ea typeface="Georgia" pitchFamily="34" charset="-122"/>
                <a:cs typeface="Georgia" pitchFamily="34" charset="-120"/>
              </a:rPr>
              <a:t>What AI Knows</a:t>
            </a:r>
            <a:endParaRPr lang="en-US" sz="4200" dirty="0"/>
          </a:p>
          <a:p>
            <a:pPr marL="0" indent="0">
              <a:buNone/>
            </a:pPr>
            <a:r>
              <a:rPr lang="en-US" sz="4200" b="1" dirty="0">
                <a:solidFill>
                  <a:srgbClr val="FFFFFF"/>
                </a:solidFill>
                <a:latin typeface="Georgia" pitchFamily="34" charset="0"/>
                <a:ea typeface="Georgia" pitchFamily="34" charset="-122"/>
                <a:cs typeface="Georgia" pitchFamily="34" charset="-120"/>
              </a:rPr>
              <a:t>(And How to Give It More)</a:t>
            </a:r>
            <a:endParaRPr lang="en-US" sz="4200" dirty="0"/>
          </a:p>
        </p:txBody>
      </p:sp>
      <p:sp>
        <p:nvSpPr>
          <p:cNvPr id="6" name="Text 4"/>
          <p:cNvSpPr/>
          <p:nvPr/>
        </p:nvSpPr>
        <p:spPr>
          <a:xfrm>
            <a:off x="320040" y="3429000"/>
            <a:ext cx="5943600" cy="640080"/>
          </a:xfrm>
          <a:prstGeom prst="rect">
            <a:avLst/>
          </a:prstGeom>
          <a:noFill/>
          <a:ln/>
        </p:spPr>
        <p:txBody>
          <a:bodyPr wrap="square" lIns="0" tIns="0" rIns="0" bIns="0" rtlCol="0" anchor="ctr"/>
          <a:lstStyle/>
          <a:p>
            <a:pPr marL="0" indent="0">
              <a:buNone/>
            </a:pPr>
            <a:r>
              <a:rPr lang="en-US" sz="1600" i="1" dirty="0">
                <a:solidFill>
                  <a:srgbClr val="8F96FF"/>
                </a:solidFill>
                <a:latin typeface="Calibri" pitchFamily="34" charset="0"/>
                <a:ea typeface="Calibri" pitchFamily="34" charset="-122"/>
                <a:cs typeface="Calibri" pitchFamily="34" charset="-120"/>
              </a:rPr>
              <a:t>RAG, tools, embeddings, fine-tuning — the full knowledge toolkit</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FF4E0"/>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600" b="1" dirty="0">
                <a:solidFill>
                  <a:srgbClr val="211B41"/>
                </a:solidFill>
                <a:latin typeface="Georgia" pitchFamily="34" charset="0"/>
                <a:ea typeface="Georgia" pitchFamily="34" charset="-122"/>
                <a:cs typeface="Georgia" pitchFamily="34" charset="-120"/>
              </a:rPr>
              <a:t>Two Flavours of Knowledge</a:t>
            </a:r>
            <a:endParaRPr lang="en-US" sz="2600" dirty="0"/>
          </a:p>
        </p:txBody>
      </p:sp>
      <p:sp>
        <p:nvSpPr>
          <p:cNvPr id="3" name="Shape 1"/>
          <p:cNvSpPr/>
          <p:nvPr/>
        </p:nvSpPr>
        <p:spPr>
          <a:xfrm>
            <a:off x="457200" y="822960"/>
            <a:ext cx="8229600" cy="27432"/>
          </a:xfrm>
          <a:prstGeom prst="rect">
            <a:avLst/>
          </a:prstGeom>
          <a:solidFill>
            <a:srgbClr val="BBCE8E"/>
          </a:solidFill>
          <a:ln w="12700">
            <a:solidFill>
              <a:srgbClr val="BBCE8E"/>
            </a:solidFill>
            <a:prstDash val="solid"/>
          </a:ln>
        </p:spPr>
        <p:txBody>
          <a:bodyPr/>
          <a:lstStyle/>
          <a:p>
            <a:endParaRPr lang="en-US"/>
          </a:p>
        </p:txBody>
      </p:sp>
      <p:sp>
        <p:nvSpPr>
          <p:cNvPr id="4" name="Shape 2"/>
          <p:cNvSpPr/>
          <p:nvPr/>
        </p:nvSpPr>
        <p:spPr>
          <a:xfrm>
            <a:off x="0" y="4919472"/>
            <a:ext cx="9144000" cy="224028"/>
          </a:xfrm>
          <a:prstGeom prst="rect">
            <a:avLst/>
          </a:prstGeom>
          <a:solidFill>
            <a:srgbClr val="BBCE8E"/>
          </a:solidFill>
          <a:ln w="12700">
            <a:solidFill>
              <a:srgbClr val="BBCE8E"/>
            </a:solidFill>
            <a:prstDash val="solid"/>
          </a:ln>
        </p:spPr>
        <p:txBody>
          <a:bodyPr/>
          <a:lstStyle/>
          <a:p>
            <a:endParaRPr lang="en-US"/>
          </a:p>
        </p:txBody>
      </p:sp>
      <p:sp>
        <p:nvSpPr>
          <p:cNvPr id="5" name="Text 3"/>
          <p:cNvSpPr/>
          <p:nvPr/>
        </p:nvSpPr>
        <p:spPr>
          <a:xfrm>
            <a:off x="274320" y="4928616"/>
            <a:ext cx="8595360" cy="201168"/>
          </a:xfrm>
          <a:prstGeom prst="rect">
            <a:avLst/>
          </a:prstGeom>
          <a:noFill/>
          <a:ln/>
        </p:spPr>
        <p:txBody>
          <a:bodyPr wrap="square" lIns="0" tIns="0" rIns="0" bIns="0" rtlCol="0" anchor="ctr"/>
          <a:lstStyle/>
          <a:p>
            <a:pPr marL="0" indent="0">
              <a:buNone/>
            </a:pPr>
            <a:r>
              <a:rPr lang="en-US" sz="900" dirty="0">
                <a:solidFill>
                  <a:srgbClr val="4A7A82"/>
                </a:solidFill>
                <a:latin typeface="Calibri" pitchFamily="34" charset="0"/>
                <a:ea typeface="Calibri" pitchFamily="34" charset="-122"/>
                <a:cs typeface="Calibri" pitchFamily="34" charset="-120"/>
              </a:rPr>
              <a:t>Blockstruct GmbH  ·  AI Demystified Workshop  ·  UniCredit  ·  April 2026</a:t>
            </a:r>
            <a:endParaRPr lang="en-US" sz="900" dirty="0"/>
          </a:p>
        </p:txBody>
      </p:sp>
      <p:sp>
        <p:nvSpPr>
          <p:cNvPr id="6" name="Shape 4"/>
          <p:cNvSpPr/>
          <p:nvPr/>
        </p:nvSpPr>
        <p:spPr>
          <a:xfrm>
            <a:off x="457200" y="1005840"/>
            <a:ext cx="3977640" cy="3749040"/>
          </a:xfrm>
          <a:prstGeom prst="rect">
            <a:avLst/>
          </a:prstGeom>
          <a:solidFill>
            <a:srgbClr val="211B41"/>
          </a:solidFill>
          <a:ln w="12700">
            <a:solidFill>
              <a:srgbClr val="211B41"/>
            </a:solidFill>
            <a:prstDash val="solid"/>
          </a:ln>
          <a:effectLst>
            <a:outerShdw blurRad="127000" dist="38100" dir="8100000" algn="bl" rotWithShape="0">
              <a:srgbClr val="000000">
                <a:alpha val="13000"/>
              </a:srgbClr>
            </a:outerShdw>
          </a:effectLst>
        </p:spPr>
        <p:txBody>
          <a:bodyPr/>
          <a:lstStyle/>
          <a:p>
            <a:endParaRPr lang="en-US"/>
          </a:p>
        </p:txBody>
      </p:sp>
      <p:sp>
        <p:nvSpPr>
          <p:cNvPr id="7" name="Text 5"/>
          <p:cNvSpPr/>
          <p:nvPr/>
        </p:nvSpPr>
        <p:spPr>
          <a:xfrm>
            <a:off x="548640" y="1078992"/>
            <a:ext cx="3657600" cy="320040"/>
          </a:xfrm>
          <a:prstGeom prst="rect">
            <a:avLst/>
          </a:prstGeom>
          <a:noFill/>
          <a:ln/>
        </p:spPr>
        <p:txBody>
          <a:bodyPr wrap="square" lIns="0" tIns="0" rIns="0" bIns="0" rtlCol="0" anchor="ctr"/>
          <a:lstStyle/>
          <a:p>
            <a:pPr marL="0" indent="0">
              <a:buNone/>
            </a:pPr>
            <a:r>
              <a:rPr lang="en-US" sz="1000" b="1" kern="0" spc="400" dirty="0">
                <a:solidFill>
                  <a:srgbClr val="F0B20D"/>
                </a:solidFill>
                <a:latin typeface="Calibri" pitchFamily="34" charset="0"/>
                <a:ea typeface="Calibri" pitchFamily="34" charset="-122"/>
                <a:cs typeface="Calibri" pitchFamily="34" charset="-120"/>
              </a:rPr>
              <a:t>PARAMETRIC</a:t>
            </a:r>
            <a:endParaRPr lang="en-US" sz="1000" dirty="0"/>
          </a:p>
        </p:txBody>
      </p:sp>
      <p:sp>
        <p:nvSpPr>
          <p:cNvPr id="8" name="Text 6"/>
          <p:cNvSpPr/>
          <p:nvPr/>
        </p:nvSpPr>
        <p:spPr>
          <a:xfrm>
            <a:off x="548640" y="1417320"/>
            <a:ext cx="3657600" cy="731520"/>
          </a:xfrm>
          <a:prstGeom prst="rect">
            <a:avLst/>
          </a:prstGeom>
          <a:noFill/>
          <a:ln/>
        </p:spPr>
        <p:txBody>
          <a:bodyPr wrap="square" lIns="0" tIns="0" rIns="0" bIns="0"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Baked In</a:t>
            </a:r>
            <a:endParaRPr lang="en-US" sz="1700" dirty="0"/>
          </a:p>
          <a:p>
            <a:pPr marL="0" indent="0">
              <a:buNone/>
            </a:pPr>
            <a:r>
              <a:rPr lang="en-US" sz="1700" b="1" dirty="0">
                <a:solidFill>
                  <a:srgbClr val="FFFFFF"/>
                </a:solidFill>
                <a:latin typeface="Georgia" pitchFamily="34" charset="0"/>
                <a:ea typeface="Georgia" pitchFamily="34" charset="-122"/>
                <a:cs typeface="Georgia" pitchFamily="34" charset="-120"/>
              </a:rPr>
              <a:t>(frozen at training)</a:t>
            </a:r>
            <a:endParaRPr lang="en-US" sz="1700" dirty="0"/>
          </a:p>
        </p:txBody>
      </p:sp>
      <p:sp>
        <p:nvSpPr>
          <p:cNvPr id="9" name="Shape 7"/>
          <p:cNvSpPr/>
          <p:nvPr/>
        </p:nvSpPr>
        <p:spPr>
          <a:xfrm>
            <a:off x="548640" y="2194560"/>
            <a:ext cx="3566160" cy="27432"/>
          </a:xfrm>
          <a:prstGeom prst="rect">
            <a:avLst/>
          </a:prstGeom>
          <a:solidFill>
            <a:srgbClr val="2E2458"/>
          </a:solidFill>
          <a:ln w="12700">
            <a:solidFill>
              <a:srgbClr val="2E2458"/>
            </a:solidFill>
            <a:prstDash val="solid"/>
          </a:ln>
        </p:spPr>
        <p:txBody>
          <a:bodyPr/>
          <a:lstStyle/>
          <a:p>
            <a:endParaRPr lang="en-US"/>
          </a:p>
        </p:txBody>
      </p:sp>
      <p:sp>
        <p:nvSpPr>
          <p:cNvPr id="10" name="Text 8"/>
          <p:cNvSpPr/>
          <p:nvPr/>
        </p:nvSpPr>
        <p:spPr>
          <a:xfrm>
            <a:off x="548640" y="2286000"/>
            <a:ext cx="3749040" cy="420624"/>
          </a:xfrm>
          <a:prstGeom prst="rect">
            <a:avLst/>
          </a:prstGeom>
          <a:noFill/>
          <a:ln/>
        </p:spPr>
        <p:txBody>
          <a:bodyPr wrap="square" lIns="0" tIns="0" rIns="0" bIns="0" rtlCol="0" anchor="ctr"/>
          <a:lstStyle/>
          <a:p>
            <a:pPr marL="342900" indent="-342900">
              <a:buSzPct val="100000"/>
              <a:buChar char="•"/>
            </a:pPr>
            <a:r>
              <a:rPr lang="en-US" sz="1150" dirty="0">
                <a:solidFill>
                  <a:srgbClr val="FFFFFF"/>
                </a:solidFill>
                <a:latin typeface="Calibri" pitchFamily="34" charset="0"/>
                <a:ea typeface="Calibri" pitchFamily="34" charset="-122"/>
                <a:cs typeface="Calibri" pitchFamily="34" charset="-120"/>
              </a:rPr>
              <a:t>Everything the model learned during training</a:t>
            </a:r>
            <a:endParaRPr lang="en-US" sz="1150" dirty="0"/>
          </a:p>
        </p:txBody>
      </p:sp>
      <p:sp>
        <p:nvSpPr>
          <p:cNvPr id="11" name="Text 9"/>
          <p:cNvSpPr/>
          <p:nvPr/>
        </p:nvSpPr>
        <p:spPr>
          <a:xfrm>
            <a:off x="548640" y="2734056"/>
            <a:ext cx="3749040" cy="420624"/>
          </a:xfrm>
          <a:prstGeom prst="rect">
            <a:avLst/>
          </a:prstGeom>
          <a:noFill/>
          <a:ln/>
        </p:spPr>
        <p:txBody>
          <a:bodyPr wrap="square" lIns="0" tIns="0" rIns="0" bIns="0" rtlCol="0" anchor="ctr"/>
          <a:lstStyle/>
          <a:p>
            <a:pPr marL="342900" indent="-342900">
              <a:buSzPct val="100000"/>
              <a:buChar char="•"/>
            </a:pPr>
            <a:r>
              <a:rPr lang="en-US" sz="1150" dirty="0">
                <a:solidFill>
                  <a:srgbClr val="FFFFFF"/>
                </a:solidFill>
                <a:latin typeface="Calibri" pitchFamily="34" charset="0"/>
                <a:ea typeface="Calibri" pitchFamily="34" charset="-122"/>
                <a:cs typeface="Calibri" pitchFamily="34" charset="-120"/>
              </a:rPr>
              <a:t>Incredibly broad, staggeringly deep</a:t>
            </a:r>
            <a:endParaRPr lang="en-US" sz="1150" dirty="0"/>
          </a:p>
        </p:txBody>
      </p:sp>
      <p:sp>
        <p:nvSpPr>
          <p:cNvPr id="12" name="Text 10"/>
          <p:cNvSpPr/>
          <p:nvPr/>
        </p:nvSpPr>
        <p:spPr>
          <a:xfrm>
            <a:off x="548640" y="3182112"/>
            <a:ext cx="3749040" cy="420624"/>
          </a:xfrm>
          <a:prstGeom prst="rect">
            <a:avLst/>
          </a:prstGeom>
          <a:noFill/>
          <a:ln/>
        </p:spPr>
        <p:txBody>
          <a:bodyPr wrap="square" lIns="0" tIns="0" rIns="0" bIns="0" rtlCol="0" anchor="ctr"/>
          <a:lstStyle/>
          <a:p>
            <a:pPr marL="342900" indent="-342900">
              <a:buSzPct val="100000"/>
              <a:buChar char="•"/>
            </a:pPr>
            <a:r>
              <a:rPr lang="en-US" sz="1150" dirty="0">
                <a:solidFill>
                  <a:srgbClr val="FFFFFF"/>
                </a:solidFill>
                <a:latin typeface="Calibri" pitchFamily="34" charset="0"/>
                <a:ea typeface="Calibri" pitchFamily="34" charset="-122"/>
                <a:cs typeface="Calibri" pitchFamily="34" charset="-120"/>
              </a:rPr>
              <a:t>Has a knowledge cutoff date</a:t>
            </a:r>
            <a:endParaRPr lang="en-US" sz="1150" dirty="0"/>
          </a:p>
        </p:txBody>
      </p:sp>
      <p:sp>
        <p:nvSpPr>
          <p:cNvPr id="13" name="Text 11"/>
          <p:cNvSpPr/>
          <p:nvPr/>
        </p:nvSpPr>
        <p:spPr>
          <a:xfrm>
            <a:off x="548640" y="3630168"/>
            <a:ext cx="3749040" cy="420624"/>
          </a:xfrm>
          <a:prstGeom prst="rect">
            <a:avLst/>
          </a:prstGeom>
          <a:noFill/>
          <a:ln/>
        </p:spPr>
        <p:txBody>
          <a:bodyPr wrap="square" lIns="0" tIns="0" rIns="0" bIns="0" rtlCol="0" anchor="ctr"/>
          <a:lstStyle/>
          <a:p>
            <a:pPr marL="342900" indent="-342900">
              <a:buSzPct val="100000"/>
              <a:buChar char="•"/>
            </a:pPr>
            <a:r>
              <a:rPr lang="en-US" sz="1150" dirty="0">
                <a:solidFill>
                  <a:srgbClr val="FFFFFF"/>
                </a:solidFill>
                <a:latin typeface="Calibri" pitchFamily="34" charset="0"/>
                <a:ea typeface="Calibri" pitchFamily="34" charset="-122"/>
                <a:cs typeface="Calibri" pitchFamily="34" charset="-120"/>
              </a:rPr>
              <a:t>Cannot be updated without full retraining</a:t>
            </a:r>
            <a:endParaRPr lang="en-US" sz="1150" dirty="0"/>
          </a:p>
        </p:txBody>
      </p:sp>
      <p:sp>
        <p:nvSpPr>
          <p:cNvPr id="14" name="Text 12"/>
          <p:cNvSpPr/>
          <p:nvPr/>
        </p:nvSpPr>
        <p:spPr>
          <a:xfrm>
            <a:off x="548640" y="4078224"/>
            <a:ext cx="3749040" cy="420624"/>
          </a:xfrm>
          <a:prstGeom prst="rect">
            <a:avLst/>
          </a:prstGeom>
          <a:noFill/>
          <a:ln/>
        </p:spPr>
        <p:txBody>
          <a:bodyPr wrap="square" lIns="0" tIns="0" rIns="0" bIns="0" rtlCol="0" anchor="ctr"/>
          <a:lstStyle/>
          <a:p>
            <a:pPr marL="342900" indent="-342900">
              <a:buSzPct val="100000"/>
              <a:buChar char="•"/>
            </a:pPr>
            <a:r>
              <a:rPr lang="en-US" sz="1150" dirty="0">
                <a:solidFill>
                  <a:srgbClr val="FFFFFF"/>
                </a:solidFill>
                <a:latin typeface="Calibri" pitchFamily="34" charset="0"/>
                <a:ea typeface="Calibri" pitchFamily="34" charset="-122"/>
                <a:cs typeface="Calibri" pitchFamily="34" charset="-120"/>
              </a:rPr>
              <a:t>Cannot reference private or proprietary data</a:t>
            </a:r>
            <a:endParaRPr lang="en-US" sz="1150" dirty="0"/>
          </a:p>
        </p:txBody>
      </p:sp>
      <p:sp>
        <p:nvSpPr>
          <p:cNvPr id="15" name="Shape 13"/>
          <p:cNvSpPr/>
          <p:nvPr/>
        </p:nvSpPr>
        <p:spPr>
          <a:xfrm>
            <a:off x="4709160" y="1005840"/>
            <a:ext cx="3977640" cy="3749040"/>
          </a:xfrm>
          <a:prstGeom prst="rect">
            <a:avLst/>
          </a:prstGeom>
          <a:solidFill>
            <a:srgbClr val="FFFFFF"/>
          </a:solidFill>
          <a:ln w="12700">
            <a:solidFill>
              <a:srgbClr val="BBCE8E"/>
            </a:solidFill>
            <a:prstDash val="solid"/>
          </a:ln>
          <a:effectLst>
            <a:outerShdw blurRad="127000" dist="38100" dir="8100000" algn="bl" rotWithShape="0">
              <a:srgbClr val="000000">
                <a:alpha val="13000"/>
              </a:srgbClr>
            </a:outerShdw>
          </a:effectLst>
        </p:spPr>
        <p:txBody>
          <a:bodyPr/>
          <a:lstStyle/>
          <a:p>
            <a:endParaRPr lang="en-US"/>
          </a:p>
        </p:txBody>
      </p:sp>
      <p:sp>
        <p:nvSpPr>
          <p:cNvPr id="16" name="Text 14"/>
          <p:cNvSpPr/>
          <p:nvPr/>
        </p:nvSpPr>
        <p:spPr>
          <a:xfrm>
            <a:off x="4800600" y="1078992"/>
            <a:ext cx="3657600" cy="320040"/>
          </a:xfrm>
          <a:prstGeom prst="rect">
            <a:avLst/>
          </a:prstGeom>
          <a:noFill/>
          <a:ln/>
        </p:spPr>
        <p:txBody>
          <a:bodyPr wrap="square" lIns="0" tIns="0" rIns="0" bIns="0" rtlCol="0" anchor="ctr"/>
          <a:lstStyle/>
          <a:p>
            <a:pPr marL="0" indent="0">
              <a:buNone/>
            </a:pPr>
            <a:r>
              <a:rPr lang="en-US" sz="1000" b="1" kern="0" spc="400" dirty="0">
                <a:solidFill>
                  <a:srgbClr val="626EFF"/>
                </a:solidFill>
                <a:latin typeface="Calibri" pitchFamily="34" charset="0"/>
                <a:ea typeface="Calibri" pitchFamily="34" charset="-122"/>
                <a:cs typeface="Calibri" pitchFamily="34" charset="-120"/>
              </a:rPr>
              <a:t>CONTEXTUAL</a:t>
            </a:r>
            <a:endParaRPr lang="en-US" sz="1000" dirty="0"/>
          </a:p>
        </p:txBody>
      </p:sp>
      <p:sp>
        <p:nvSpPr>
          <p:cNvPr id="17" name="Text 15"/>
          <p:cNvSpPr/>
          <p:nvPr/>
        </p:nvSpPr>
        <p:spPr>
          <a:xfrm>
            <a:off x="4800600" y="1417320"/>
            <a:ext cx="3657600" cy="731520"/>
          </a:xfrm>
          <a:prstGeom prst="rect">
            <a:avLst/>
          </a:prstGeom>
          <a:noFill/>
          <a:ln/>
        </p:spPr>
        <p:txBody>
          <a:bodyPr wrap="square" lIns="0" tIns="0" rIns="0" bIns="0" rtlCol="0" anchor="ctr"/>
          <a:lstStyle/>
          <a:p>
            <a:pPr marL="0" indent="0">
              <a:buNone/>
            </a:pPr>
            <a:r>
              <a:rPr lang="en-US" sz="1700" b="1" dirty="0">
                <a:solidFill>
                  <a:srgbClr val="211B41"/>
                </a:solidFill>
                <a:latin typeface="Georgia" pitchFamily="34" charset="0"/>
                <a:ea typeface="Georgia" pitchFamily="34" charset="-122"/>
                <a:cs typeface="Georgia" pitchFamily="34" charset="-120"/>
              </a:rPr>
              <a:t>Looked Up</a:t>
            </a:r>
            <a:endParaRPr lang="en-US" sz="1700" dirty="0"/>
          </a:p>
          <a:p>
            <a:pPr marL="0" indent="0">
              <a:buNone/>
            </a:pPr>
            <a:r>
              <a:rPr lang="en-US" sz="1700" b="1" dirty="0">
                <a:solidFill>
                  <a:srgbClr val="211B41"/>
                </a:solidFill>
                <a:latin typeface="Georgia" pitchFamily="34" charset="0"/>
                <a:ea typeface="Georgia" pitchFamily="34" charset="-122"/>
                <a:cs typeface="Georgia" pitchFamily="34" charset="-120"/>
              </a:rPr>
              <a:t>(retrieved at runtime)</a:t>
            </a:r>
            <a:endParaRPr lang="en-US" sz="1700" dirty="0"/>
          </a:p>
        </p:txBody>
      </p:sp>
      <p:sp>
        <p:nvSpPr>
          <p:cNvPr id="18" name="Shape 16"/>
          <p:cNvSpPr/>
          <p:nvPr/>
        </p:nvSpPr>
        <p:spPr>
          <a:xfrm>
            <a:off x="4800600" y="2194560"/>
            <a:ext cx="3566160" cy="27432"/>
          </a:xfrm>
          <a:prstGeom prst="rect">
            <a:avLst/>
          </a:prstGeom>
          <a:solidFill>
            <a:srgbClr val="BBCE8E"/>
          </a:solidFill>
          <a:ln w="12700">
            <a:solidFill>
              <a:srgbClr val="BBCE8E"/>
            </a:solidFill>
            <a:prstDash val="solid"/>
          </a:ln>
        </p:spPr>
        <p:txBody>
          <a:bodyPr/>
          <a:lstStyle/>
          <a:p>
            <a:endParaRPr lang="en-US"/>
          </a:p>
        </p:txBody>
      </p:sp>
      <p:sp>
        <p:nvSpPr>
          <p:cNvPr id="19" name="Text 17"/>
          <p:cNvSpPr/>
          <p:nvPr/>
        </p:nvSpPr>
        <p:spPr>
          <a:xfrm>
            <a:off x="4800600" y="2286000"/>
            <a:ext cx="3794760" cy="420624"/>
          </a:xfrm>
          <a:prstGeom prst="rect">
            <a:avLst/>
          </a:prstGeom>
          <a:noFill/>
          <a:ln/>
        </p:spPr>
        <p:txBody>
          <a:bodyPr wrap="square" lIns="0" tIns="0" rIns="0" bIns="0" rtlCol="0" anchor="ctr"/>
          <a:lstStyle/>
          <a:p>
            <a:pPr marL="342900" indent="-342900">
              <a:buSzPct val="100000"/>
              <a:buChar char="•"/>
            </a:pPr>
            <a:r>
              <a:rPr lang="en-US" sz="1150" dirty="0">
                <a:solidFill>
                  <a:srgbClr val="211B41"/>
                </a:solidFill>
                <a:latin typeface="Calibri" pitchFamily="34" charset="0"/>
                <a:ea typeface="Calibri" pitchFamily="34" charset="-122"/>
                <a:cs typeface="Calibri" pitchFamily="34" charset="-120"/>
              </a:rPr>
              <a:t>Documents fetched in real time (RAG)</a:t>
            </a:r>
            <a:endParaRPr lang="en-US" sz="1150" dirty="0"/>
          </a:p>
        </p:txBody>
      </p:sp>
      <p:sp>
        <p:nvSpPr>
          <p:cNvPr id="20" name="Text 18"/>
          <p:cNvSpPr/>
          <p:nvPr/>
        </p:nvSpPr>
        <p:spPr>
          <a:xfrm>
            <a:off x="4800600" y="2734056"/>
            <a:ext cx="3794760" cy="420624"/>
          </a:xfrm>
          <a:prstGeom prst="rect">
            <a:avLst/>
          </a:prstGeom>
          <a:noFill/>
          <a:ln/>
        </p:spPr>
        <p:txBody>
          <a:bodyPr wrap="square" lIns="0" tIns="0" rIns="0" bIns="0" rtlCol="0" anchor="ctr"/>
          <a:lstStyle/>
          <a:p>
            <a:pPr marL="342900" indent="-342900">
              <a:buSzPct val="100000"/>
              <a:buChar char="•"/>
            </a:pPr>
            <a:r>
              <a:rPr lang="en-US" sz="1150" dirty="0">
                <a:solidFill>
                  <a:srgbClr val="211B41"/>
                </a:solidFill>
                <a:latin typeface="Calibri" pitchFamily="34" charset="0"/>
                <a:ea typeface="Calibri" pitchFamily="34" charset="-122"/>
                <a:cs typeface="Calibri" pitchFamily="34" charset="-120"/>
              </a:rPr>
              <a:t>Live data via tools (APIs, databases)</a:t>
            </a:r>
            <a:endParaRPr lang="en-US" sz="1150" dirty="0"/>
          </a:p>
        </p:txBody>
      </p:sp>
      <p:sp>
        <p:nvSpPr>
          <p:cNvPr id="21" name="Text 19"/>
          <p:cNvSpPr/>
          <p:nvPr/>
        </p:nvSpPr>
        <p:spPr>
          <a:xfrm>
            <a:off x="4800600" y="3182112"/>
            <a:ext cx="3794760" cy="420624"/>
          </a:xfrm>
          <a:prstGeom prst="rect">
            <a:avLst/>
          </a:prstGeom>
          <a:noFill/>
          <a:ln/>
        </p:spPr>
        <p:txBody>
          <a:bodyPr wrap="square" lIns="0" tIns="0" rIns="0" bIns="0" rtlCol="0" anchor="ctr"/>
          <a:lstStyle/>
          <a:p>
            <a:pPr marL="342900" indent="-342900">
              <a:buSzPct val="100000"/>
              <a:buChar char="•"/>
            </a:pPr>
            <a:r>
              <a:rPr lang="en-US" sz="1150" dirty="0">
                <a:solidFill>
                  <a:srgbClr val="211B41"/>
                </a:solidFill>
                <a:latin typeface="Calibri" pitchFamily="34" charset="0"/>
                <a:ea typeface="Calibri" pitchFamily="34" charset="-122"/>
                <a:cs typeface="Calibri" pitchFamily="34" charset="-120"/>
              </a:rPr>
              <a:t>Client records, policies, product sheets</a:t>
            </a:r>
            <a:endParaRPr lang="en-US" sz="1150" dirty="0"/>
          </a:p>
        </p:txBody>
      </p:sp>
      <p:sp>
        <p:nvSpPr>
          <p:cNvPr id="22" name="Text 20"/>
          <p:cNvSpPr/>
          <p:nvPr/>
        </p:nvSpPr>
        <p:spPr>
          <a:xfrm>
            <a:off x="4800600" y="3630168"/>
            <a:ext cx="3794760" cy="420624"/>
          </a:xfrm>
          <a:prstGeom prst="rect">
            <a:avLst/>
          </a:prstGeom>
          <a:noFill/>
          <a:ln/>
        </p:spPr>
        <p:txBody>
          <a:bodyPr wrap="square" lIns="0" tIns="0" rIns="0" bIns="0" rtlCol="0" anchor="ctr"/>
          <a:lstStyle/>
          <a:p>
            <a:pPr marL="342900" indent="-342900">
              <a:buSzPct val="100000"/>
              <a:buChar char="•"/>
            </a:pPr>
            <a:r>
              <a:rPr lang="en-US" sz="1150" dirty="0">
                <a:solidFill>
                  <a:srgbClr val="211B41"/>
                </a:solidFill>
                <a:latin typeface="Calibri" pitchFamily="34" charset="0"/>
                <a:ea typeface="Calibri" pitchFamily="34" charset="-122"/>
                <a:cs typeface="Calibri" pitchFamily="34" charset="-120"/>
              </a:rPr>
              <a:t>Always current — no cutoff issue</a:t>
            </a:r>
            <a:endParaRPr lang="en-US" sz="1150" dirty="0"/>
          </a:p>
        </p:txBody>
      </p:sp>
      <p:sp>
        <p:nvSpPr>
          <p:cNvPr id="23" name="Text 21"/>
          <p:cNvSpPr/>
          <p:nvPr/>
        </p:nvSpPr>
        <p:spPr>
          <a:xfrm>
            <a:off x="4800600" y="4078224"/>
            <a:ext cx="3794760" cy="420624"/>
          </a:xfrm>
          <a:prstGeom prst="rect">
            <a:avLst/>
          </a:prstGeom>
          <a:noFill/>
          <a:ln/>
        </p:spPr>
        <p:txBody>
          <a:bodyPr wrap="square" lIns="0" tIns="0" rIns="0" bIns="0" rtlCol="0" anchor="ctr"/>
          <a:lstStyle/>
          <a:p>
            <a:pPr marL="342900" indent="-342900">
              <a:buSzPct val="100000"/>
              <a:buChar char="•"/>
            </a:pPr>
            <a:r>
              <a:rPr lang="en-US" sz="1150" dirty="0">
                <a:solidFill>
                  <a:srgbClr val="211B41"/>
                </a:solidFill>
                <a:latin typeface="Calibri" pitchFamily="34" charset="0"/>
                <a:ea typeface="Calibri" pitchFamily="34" charset="-122"/>
                <a:cs typeface="Calibri" pitchFamily="34" charset="-120"/>
              </a:rPr>
              <a:t>Keeps your data inside your environment</a:t>
            </a:r>
            <a:endParaRPr lang="en-US" sz="1150" dirty="0"/>
          </a:p>
        </p:txBody>
      </p:sp>
      <p:sp>
        <p:nvSpPr>
          <p:cNvPr id="24" name="Text 22"/>
          <p:cNvSpPr/>
          <p:nvPr/>
        </p:nvSpPr>
        <p:spPr>
          <a:xfrm>
            <a:off x="4197096" y="2331720"/>
            <a:ext cx="731520" cy="731520"/>
          </a:xfrm>
          <a:prstGeom prst="rect">
            <a:avLst/>
          </a:prstGeom>
          <a:noFill/>
          <a:ln/>
        </p:spPr>
        <p:txBody>
          <a:bodyPr wrap="square" rtlCol="0" anchor="ctr"/>
          <a:lstStyle/>
          <a:p>
            <a:pPr marL="0" indent="0" algn="ctr">
              <a:buNone/>
            </a:pPr>
            <a:r>
              <a:rPr lang="en-US" sz="3600" b="1" dirty="0">
                <a:solidFill>
                  <a:srgbClr val="626EFF"/>
                </a:solidFill>
                <a:latin typeface="Calibri" pitchFamily="34" charset="0"/>
                <a:ea typeface="Calibri" pitchFamily="34" charset="-122"/>
                <a:cs typeface="Calibri" pitchFamily="34" charset="-120"/>
              </a:rPr>
              <a:t>+</a:t>
            </a:r>
            <a:endParaRPr lang="en-US" sz="3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FF4E0"/>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600" b="1" dirty="0">
                <a:solidFill>
                  <a:srgbClr val="211B41"/>
                </a:solidFill>
                <a:latin typeface="Georgia" pitchFamily="34" charset="0"/>
                <a:ea typeface="Georgia" pitchFamily="34" charset="-122"/>
                <a:cs typeface="Georgia" pitchFamily="34" charset="-120"/>
              </a:rPr>
              <a:t>RAG: The Library Card</a:t>
            </a:r>
            <a:endParaRPr lang="en-US" sz="2600" dirty="0"/>
          </a:p>
        </p:txBody>
      </p:sp>
      <p:sp>
        <p:nvSpPr>
          <p:cNvPr id="3" name="Shape 1"/>
          <p:cNvSpPr/>
          <p:nvPr/>
        </p:nvSpPr>
        <p:spPr>
          <a:xfrm>
            <a:off x="457200" y="822960"/>
            <a:ext cx="8229600" cy="27432"/>
          </a:xfrm>
          <a:prstGeom prst="rect">
            <a:avLst/>
          </a:prstGeom>
          <a:solidFill>
            <a:srgbClr val="BBCE8E"/>
          </a:solidFill>
          <a:ln w="12700">
            <a:solidFill>
              <a:srgbClr val="BBCE8E"/>
            </a:solidFill>
            <a:prstDash val="solid"/>
          </a:ln>
        </p:spPr>
        <p:txBody>
          <a:bodyPr/>
          <a:lstStyle/>
          <a:p>
            <a:endParaRPr lang="en-US"/>
          </a:p>
        </p:txBody>
      </p:sp>
      <p:sp>
        <p:nvSpPr>
          <p:cNvPr id="4" name="Shape 2"/>
          <p:cNvSpPr/>
          <p:nvPr/>
        </p:nvSpPr>
        <p:spPr>
          <a:xfrm>
            <a:off x="0" y="4919472"/>
            <a:ext cx="9144000" cy="224028"/>
          </a:xfrm>
          <a:prstGeom prst="rect">
            <a:avLst/>
          </a:prstGeom>
          <a:solidFill>
            <a:srgbClr val="BBCE8E"/>
          </a:solidFill>
          <a:ln w="12700">
            <a:solidFill>
              <a:srgbClr val="BBCE8E"/>
            </a:solidFill>
            <a:prstDash val="solid"/>
          </a:ln>
        </p:spPr>
        <p:txBody>
          <a:bodyPr/>
          <a:lstStyle/>
          <a:p>
            <a:endParaRPr lang="en-US"/>
          </a:p>
        </p:txBody>
      </p:sp>
      <p:sp>
        <p:nvSpPr>
          <p:cNvPr id="5" name="Text 3"/>
          <p:cNvSpPr/>
          <p:nvPr/>
        </p:nvSpPr>
        <p:spPr>
          <a:xfrm>
            <a:off x="274320" y="4928616"/>
            <a:ext cx="8595360" cy="201168"/>
          </a:xfrm>
          <a:prstGeom prst="rect">
            <a:avLst/>
          </a:prstGeom>
          <a:noFill/>
          <a:ln/>
        </p:spPr>
        <p:txBody>
          <a:bodyPr wrap="square" lIns="0" tIns="0" rIns="0" bIns="0" rtlCol="0" anchor="ctr"/>
          <a:lstStyle/>
          <a:p>
            <a:pPr marL="0" indent="0">
              <a:buNone/>
            </a:pPr>
            <a:r>
              <a:rPr lang="en-US" sz="900" dirty="0">
                <a:solidFill>
                  <a:srgbClr val="4A7A82"/>
                </a:solidFill>
                <a:latin typeface="Calibri" pitchFamily="34" charset="0"/>
                <a:ea typeface="Calibri" pitchFamily="34" charset="-122"/>
                <a:cs typeface="Calibri" pitchFamily="34" charset="-120"/>
              </a:rPr>
              <a:t>Blockstruct GmbH  ·  AI Demystified Workshop  ·  UniCredit  ·  April 2026</a:t>
            </a:r>
            <a:endParaRPr lang="en-US" sz="900" dirty="0"/>
          </a:p>
        </p:txBody>
      </p:sp>
      <p:sp>
        <p:nvSpPr>
          <p:cNvPr id="6" name="Text 4"/>
          <p:cNvSpPr/>
          <p:nvPr/>
        </p:nvSpPr>
        <p:spPr>
          <a:xfrm>
            <a:off x="457200" y="896112"/>
            <a:ext cx="8229600" cy="347472"/>
          </a:xfrm>
          <a:prstGeom prst="rect">
            <a:avLst/>
          </a:prstGeom>
          <a:noFill/>
          <a:ln/>
        </p:spPr>
        <p:txBody>
          <a:bodyPr wrap="square" lIns="0" tIns="0" rIns="0" bIns="0" rtlCol="0" anchor="ctr"/>
          <a:lstStyle/>
          <a:p>
            <a:pPr marL="0" indent="0">
              <a:buNone/>
            </a:pPr>
            <a:r>
              <a:rPr lang="en-US" sz="1300" i="1" dirty="0">
                <a:solidFill>
                  <a:srgbClr val="4A7A82"/>
                </a:solidFill>
                <a:latin typeface="Calibri" pitchFamily="34" charset="0"/>
                <a:ea typeface="Calibri" pitchFamily="34" charset="-122"/>
                <a:cs typeface="Calibri" pitchFamily="34" charset="-120"/>
              </a:rPr>
              <a:t>Retrieval-Augmented Generation — or: AI that looks things up before answering.</a:t>
            </a:r>
            <a:endParaRPr lang="en-US" sz="1300" dirty="0"/>
          </a:p>
        </p:txBody>
      </p:sp>
      <p:sp>
        <p:nvSpPr>
          <p:cNvPr id="7" name="Shape 5"/>
          <p:cNvSpPr/>
          <p:nvPr/>
        </p:nvSpPr>
        <p:spPr>
          <a:xfrm>
            <a:off x="411480" y="1371600"/>
            <a:ext cx="1874520" cy="2011680"/>
          </a:xfrm>
          <a:prstGeom prst="rect">
            <a:avLst/>
          </a:prstGeom>
          <a:solidFill>
            <a:srgbClr val="626EFF"/>
          </a:solidFill>
          <a:ln w="12700">
            <a:solidFill>
              <a:srgbClr val="626EFF"/>
            </a:solidFill>
            <a:prstDash val="solid"/>
          </a:ln>
          <a:effectLst>
            <a:outerShdw blurRad="63500" dist="25400" dir="8100000" algn="bl" rotWithShape="0">
              <a:srgbClr val="000000">
                <a:alpha val="8000"/>
              </a:srgbClr>
            </a:outerShdw>
          </a:effectLst>
        </p:spPr>
        <p:txBody>
          <a:bodyPr/>
          <a:lstStyle/>
          <a:p>
            <a:endParaRPr lang="en-US"/>
          </a:p>
        </p:txBody>
      </p:sp>
      <p:pic>
        <p:nvPicPr>
          <p:cNvPr id="8" name="Image 0" descr="preencoded.png"/>
          <p:cNvPicPr>
            <a:picLocks noChangeAspect="1"/>
          </p:cNvPicPr>
          <p:nvPr/>
        </p:nvPicPr>
        <p:blipFill>
          <a:blip r:embed="rId3"/>
          <a:stretch>
            <a:fillRect/>
          </a:stretch>
        </p:blipFill>
        <p:spPr>
          <a:xfrm>
            <a:off x="1005840" y="1463040"/>
            <a:ext cx="685800" cy="685800"/>
          </a:xfrm>
          <a:prstGeom prst="rect">
            <a:avLst/>
          </a:prstGeom>
        </p:spPr>
      </p:pic>
      <p:sp>
        <p:nvSpPr>
          <p:cNvPr id="9" name="Text 6"/>
          <p:cNvSpPr/>
          <p:nvPr/>
        </p:nvSpPr>
        <p:spPr>
          <a:xfrm>
            <a:off x="457200" y="2212848"/>
            <a:ext cx="1783080" cy="10058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User asks</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a question</a:t>
            </a:r>
            <a:endParaRPr lang="en-US" sz="1250" dirty="0"/>
          </a:p>
        </p:txBody>
      </p:sp>
      <p:sp>
        <p:nvSpPr>
          <p:cNvPr id="10" name="Text 7"/>
          <p:cNvSpPr/>
          <p:nvPr/>
        </p:nvSpPr>
        <p:spPr>
          <a:xfrm>
            <a:off x="2331720" y="2011680"/>
            <a:ext cx="182880" cy="457200"/>
          </a:xfrm>
          <a:prstGeom prst="rect">
            <a:avLst/>
          </a:prstGeom>
          <a:noFill/>
          <a:ln/>
        </p:spPr>
        <p:txBody>
          <a:bodyPr wrap="square" rtlCol="0" anchor="ctr"/>
          <a:lstStyle/>
          <a:p>
            <a:pPr marL="0" indent="0" algn="ctr">
              <a:buNone/>
            </a:pPr>
            <a:r>
              <a:rPr lang="en-US" sz="1800" b="1" dirty="0">
                <a:solidFill>
                  <a:srgbClr val="4A7A82"/>
                </a:solidFill>
                <a:latin typeface="Calibri" pitchFamily="34" charset="0"/>
                <a:ea typeface="Calibri" pitchFamily="34" charset="-122"/>
                <a:cs typeface="Calibri" pitchFamily="34" charset="-120"/>
              </a:rPr>
              <a:t>→</a:t>
            </a:r>
            <a:endParaRPr lang="en-US" sz="1800" dirty="0"/>
          </a:p>
        </p:txBody>
      </p:sp>
      <p:sp>
        <p:nvSpPr>
          <p:cNvPr id="11" name="Shape 8"/>
          <p:cNvSpPr/>
          <p:nvPr/>
        </p:nvSpPr>
        <p:spPr>
          <a:xfrm>
            <a:off x="2514600" y="1371600"/>
            <a:ext cx="1874520" cy="2011680"/>
          </a:xfrm>
          <a:prstGeom prst="rect">
            <a:avLst/>
          </a:prstGeom>
          <a:solidFill>
            <a:srgbClr val="5E4692"/>
          </a:solidFill>
          <a:ln w="12700">
            <a:solidFill>
              <a:srgbClr val="5E4692"/>
            </a:solidFill>
            <a:prstDash val="solid"/>
          </a:ln>
          <a:effectLst>
            <a:outerShdw blurRad="63500" dist="25400" dir="8100000" algn="bl" rotWithShape="0">
              <a:srgbClr val="000000">
                <a:alpha val="8000"/>
              </a:srgbClr>
            </a:outerShdw>
          </a:effectLst>
        </p:spPr>
        <p:txBody>
          <a:bodyPr/>
          <a:lstStyle/>
          <a:p>
            <a:endParaRPr lang="en-US"/>
          </a:p>
        </p:txBody>
      </p:sp>
      <p:pic>
        <p:nvPicPr>
          <p:cNvPr id="12" name="Image 1" descr="preencoded.png"/>
          <p:cNvPicPr>
            <a:picLocks noChangeAspect="1"/>
          </p:cNvPicPr>
          <p:nvPr/>
        </p:nvPicPr>
        <p:blipFill>
          <a:blip r:embed="rId4"/>
          <a:stretch>
            <a:fillRect/>
          </a:stretch>
        </p:blipFill>
        <p:spPr>
          <a:xfrm>
            <a:off x="3108960" y="1463040"/>
            <a:ext cx="685800" cy="685800"/>
          </a:xfrm>
          <a:prstGeom prst="rect">
            <a:avLst/>
          </a:prstGeom>
        </p:spPr>
      </p:pic>
      <p:sp>
        <p:nvSpPr>
          <p:cNvPr id="13" name="Text 9"/>
          <p:cNvSpPr/>
          <p:nvPr/>
        </p:nvSpPr>
        <p:spPr>
          <a:xfrm>
            <a:off x="2560320" y="2212848"/>
            <a:ext cx="1783080" cy="10058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AI searches</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your documents</a:t>
            </a:r>
            <a:endParaRPr lang="en-US" sz="1250" dirty="0"/>
          </a:p>
        </p:txBody>
      </p:sp>
      <p:sp>
        <p:nvSpPr>
          <p:cNvPr id="14" name="Text 10"/>
          <p:cNvSpPr/>
          <p:nvPr/>
        </p:nvSpPr>
        <p:spPr>
          <a:xfrm>
            <a:off x="4434840" y="2011680"/>
            <a:ext cx="182880" cy="457200"/>
          </a:xfrm>
          <a:prstGeom prst="rect">
            <a:avLst/>
          </a:prstGeom>
          <a:noFill/>
          <a:ln/>
        </p:spPr>
        <p:txBody>
          <a:bodyPr wrap="square" rtlCol="0" anchor="ctr"/>
          <a:lstStyle/>
          <a:p>
            <a:pPr marL="0" indent="0" algn="ctr">
              <a:buNone/>
            </a:pPr>
            <a:r>
              <a:rPr lang="en-US" sz="1800" b="1" dirty="0">
                <a:solidFill>
                  <a:srgbClr val="4A7A82"/>
                </a:solidFill>
                <a:latin typeface="Calibri" pitchFamily="34" charset="0"/>
                <a:ea typeface="Calibri" pitchFamily="34" charset="-122"/>
                <a:cs typeface="Calibri" pitchFamily="34" charset="-120"/>
              </a:rPr>
              <a:t>→</a:t>
            </a:r>
            <a:endParaRPr lang="en-US" sz="1800" dirty="0"/>
          </a:p>
        </p:txBody>
      </p:sp>
      <p:sp>
        <p:nvSpPr>
          <p:cNvPr id="15" name="Shape 11"/>
          <p:cNvSpPr/>
          <p:nvPr/>
        </p:nvSpPr>
        <p:spPr>
          <a:xfrm>
            <a:off x="4617720" y="1371600"/>
            <a:ext cx="1874520" cy="2011680"/>
          </a:xfrm>
          <a:prstGeom prst="rect">
            <a:avLst/>
          </a:prstGeom>
          <a:solidFill>
            <a:srgbClr val="2E2458"/>
          </a:solidFill>
          <a:ln w="12700">
            <a:solidFill>
              <a:srgbClr val="2E2458"/>
            </a:solidFill>
            <a:prstDash val="solid"/>
          </a:ln>
          <a:effectLst>
            <a:outerShdw blurRad="63500" dist="25400" dir="8100000" algn="bl" rotWithShape="0">
              <a:srgbClr val="000000">
                <a:alpha val="8000"/>
              </a:srgbClr>
            </a:outerShdw>
          </a:effectLst>
        </p:spPr>
        <p:txBody>
          <a:bodyPr/>
          <a:lstStyle/>
          <a:p>
            <a:endParaRPr lang="en-US"/>
          </a:p>
        </p:txBody>
      </p:sp>
      <p:pic>
        <p:nvPicPr>
          <p:cNvPr id="16" name="Image 2" descr="preencoded.png"/>
          <p:cNvPicPr>
            <a:picLocks noChangeAspect="1"/>
          </p:cNvPicPr>
          <p:nvPr/>
        </p:nvPicPr>
        <p:blipFill>
          <a:blip r:embed="rId5"/>
          <a:stretch>
            <a:fillRect/>
          </a:stretch>
        </p:blipFill>
        <p:spPr>
          <a:xfrm>
            <a:off x="5212080" y="1463040"/>
            <a:ext cx="685800" cy="685800"/>
          </a:xfrm>
          <a:prstGeom prst="rect">
            <a:avLst/>
          </a:prstGeom>
        </p:spPr>
      </p:pic>
      <p:sp>
        <p:nvSpPr>
          <p:cNvPr id="17" name="Text 12"/>
          <p:cNvSpPr/>
          <p:nvPr/>
        </p:nvSpPr>
        <p:spPr>
          <a:xfrm>
            <a:off x="4663440" y="2212848"/>
            <a:ext cx="1783080" cy="10058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Relevant</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chunks retrieved</a:t>
            </a:r>
            <a:endParaRPr lang="en-US" sz="1250" dirty="0"/>
          </a:p>
        </p:txBody>
      </p:sp>
      <p:sp>
        <p:nvSpPr>
          <p:cNvPr id="18" name="Text 13"/>
          <p:cNvSpPr/>
          <p:nvPr/>
        </p:nvSpPr>
        <p:spPr>
          <a:xfrm>
            <a:off x="6537960" y="2011680"/>
            <a:ext cx="182880" cy="457200"/>
          </a:xfrm>
          <a:prstGeom prst="rect">
            <a:avLst/>
          </a:prstGeom>
          <a:noFill/>
          <a:ln/>
        </p:spPr>
        <p:txBody>
          <a:bodyPr wrap="square" rtlCol="0" anchor="ctr"/>
          <a:lstStyle/>
          <a:p>
            <a:pPr marL="0" indent="0" algn="ctr">
              <a:buNone/>
            </a:pPr>
            <a:r>
              <a:rPr lang="en-US" sz="1800" b="1" dirty="0">
                <a:solidFill>
                  <a:srgbClr val="4A7A82"/>
                </a:solidFill>
                <a:latin typeface="Calibri" pitchFamily="34" charset="0"/>
                <a:ea typeface="Calibri" pitchFamily="34" charset="-122"/>
                <a:cs typeface="Calibri" pitchFamily="34" charset="-120"/>
              </a:rPr>
              <a:t>→</a:t>
            </a:r>
            <a:endParaRPr lang="en-US" sz="1800" dirty="0"/>
          </a:p>
        </p:txBody>
      </p:sp>
      <p:sp>
        <p:nvSpPr>
          <p:cNvPr id="19" name="Shape 14"/>
          <p:cNvSpPr/>
          <p:nvPr/>
        </p:nvSpPr>
        <p:spPr>
          <a:xfrm>
            <a:off x="6720840" y="1371600"/>
            <a:ext cx="1874520" cy="2011680"/>
          </a:xfrm>
          <a:prstGeom prst="rect">
            <a:avLst/>
          </a:prstGeom>
          <a:solidFill>
            <a:srgbClr val="A7B360"/>
          </a:solidFill>
          <a:ln w="12700">
            <a:solidFill>
              <a:srgbClr val="A7B360"/>
            </a:solidFill>
            <a:prstDash val="solid"/>
          </a:ln>
          <a:effectLst>
            <a:outerShdw blurRad="63500" dist="25400" dir="8100000" algn="bl" rotWithShape="0">
              <a:srgbClr val="000000">
                <a:alpha val="8000"/>
              </a:srgbClr>
            </a:outerShdw>
          </a:effectLst>
        </p:spPr>
        <p:txBody>
          <a:bodyPr/>
          <a:lstStyle/>
          <a:p>
            <a:endParaRPr lang="en-US"/>
          </a:p>
        </p:txBody>
      </p:sp>
      <p:pic>
        <p:nvPicPr>
          <p:cNvPr id="20" name="Image 3" descr="preencoded.png"/>
          <p:cNvPicPr>
            <a:picLocks noChangeAspect="1"/>
          </p:cNvPicPr>
          <p:nvPr/>
        </p:nvPicPr>
        <p:blipFill>
          <a:blip r:embed="rId6"/>
          <a:stretch>
            <a:fillRect/>
          </a:stretch>
        </p:blipFill>
        <p:spPr>
          <a:xfrm>
            <a:off x="7315200" y="1463040"/>
            <a:ext cx="685800" cy="685800"/>
          </a:xfrm>
          <a:prstGeom prst="rect">
            <a:avLst/>
          </a:prstGeom>
        </p:spPr>
      </p:pic>
      <p:sp>
        <p:nvSpPr>
          <p:cNvPr id="21" name="Text 15"/>
          <p:cNvSpPr/>
          <p:nvPr/>
        </p:nvSpPr>
        <p:spPr>
          <a:xfrm>
            <a:off x="6766560" y="2212848"/>
            <a:ext cx="1783080" cy="100584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Answer grounded</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in your data</a:t>
            </a:r>
            <a:endParaRPr lang="en-US" sz="1250" dirty="0"/>
          </a:p>
        </p:txBody>
      </p:sp>
      <p:sp>
        <p:nvSpPr>
          <p:cNvPr id="22" name="Text 16"/>
          <p:cNvSpPr/>
          <p:nvPr/>
        </p:nvSpPr>
        <p:spPr>
          <a:xfrm>
            <a:off x="457200" y="3547872"/>
            <a:ext cx="8229600" cy="320040"/>
          </a:xfrm>
          <a:prstGeom prst="rect">
            <a:avLst/>
          </a:prstGeom>
          <a:noFill/>
          <a:ln/>
        </p:spPr>
        <p:txBody>
          <a:bodyPr wrap="square" lIns="0" tIns="0" rIns="0" bIns="0" rtlCol="0" anchor="ctr"/>
          <a:lstStyle/>
          <a:p>
            <a:pPr marL="0" indent="0">
              <a:buNone/>
            </a:pPr>
            <a:r>
              <a:rPr lang="en-US" sz="1250" b="1" dirty="0">
                <a:solidFill>
                  <a:srgbClr val="211B41"/>
                </a:solidFill>
                <a:latin typeface="Calibri" pitchFamily="34" charset="0"/>
                <a:ea typeface="Calibri" pitchFamily="34" charset="-122"/>
                <a:cs typeface="Calibri" pitchFamily="34" charset="-120"/>
              </a:rPr>
              <a:t>UniCredit applications:</a:t>
            </a:r>
            <a:endParaRPr lang="en-US" sz="1250" dirty="0"/>
          </a:p>
        </p:txBody>
      </p:sp>
      <p:sp>
        <p:nvSpPr>
          <p:cNvPr id="23" name="Text 17"/>
          <p:cNvSpPr/>
          <p:nvPr/>
        </p:nvSpPr>
        <p:spPr>
          <a:xfrm>
            <a:off x="457200" y="3931920"/>
            <a:ext cx="8229600" cy="283464"/>
          </a:xfrm>
          <a:prstGeom prst="rect">
            <a:avLst/>
          </a:prstGeom>
          <a:noFill/>
          <a:ln/>
        </p:spPr>
        <p:txBody>
          <a:bodyPr wrap="square" lIns="0" tIns="0" rIns="0" bIns="0" rtlCol="0" anchor="ctr"/>
          <a:lstStyle/>
          <a:p>
            <a:pPr marL="342900" indent="-342900">
              <a:buSzPct val="100000"/>
              <a:buChar char="•"/>
            </a:pPr>
            <a:r>
              <a:rPr lang="en-US" sz="1150" dirty="0">
                <a:solidFill>
                  <a:srgbClr val="211B41"/>
                </a:solidFill>
                <a:latin typeface="Calibri" pitchFamily="34" charset="0"/>
                <a:ea typeface="Calibri" pitchFamily="34" charset="-122"/>
                <a:cs typeface="Calibri" pitchFamily="34" charset="-120"/>
              </a:rPr>
              <a:t>AI relationship assistant that cites your actual client history, not a hallucinated version of it</a:t>
            </a:r>
            <a:endParaRPr lang="en-US" sz="1150" dirty="0"/>
          </a:p>
        </p:txBody>
      </p:sp>
      <p:sp>
        <p:nvSpPr>
          <p:cNvPr id="24" name="Text 18"/>
          <p:cNvSpPr/>
          <p:nvPr/>
        </p:nvSpPr>
        <p:spPr>
          <a:xfrm>
            <a:off x="457200" y="4233672"/>
            <a:ext cx="8229600" cy="283464"/>
          </a:xfrm>
          <a:prstGeom prst="rect">
            <a:avLst/>
          </a:prstGeom>
          <a:noFill/>
          <a:ln/>
        </p:spPr>
        <p:txBody>
          <a:bodyPr wrap="square" lIns="0" tIns="0" rIns="0" bIns="0" rtlCol="0" anchor="ctr"/>
          <a:lstStyle/>
          <a:p>
            <a:pPr marL="342900" indent="-342900">
              <a:buSzPct val="100000"/>
              <a:buChar char="•"/>
            </a:pPr>
            <a:r>
              <a:rPr lang="en-US" sz="1150" dirty="0">
                <a:solidFill>
                  <a:srgbClr val="211B41"/>
                </a:solidFill>
                <a:latin typeface="Calibri" pitchFamily="34" charset="0"/>
                <a:ea typeface="Calibri" pitchFamily="34" charset="-122"/>
                <a:cs typeface="Calibri" pitchFamily="34" charset="-120"/>
              </a:rPr>
              <a:t>Compliance Q&amp;A that pulls from current DORA, GDPR, AI Act documentation — with source citations</a:t>
            </a:r>
            <a:endParaRPr lang="en-US" sz="1150" dirty="0"/>
          </a:p>
        </p:txBody>
      </p:sp>
      <p:sp>
        <p:nvSpPr>
          <p:cNvPr id="25" name="Text 19"/>
          <p:cNvSpPr/>
          <p:nvPr/>
        </p:nvSpPr>
        <p:spPr>
          <a:xfrm>
            <a:off x="457200" y="4535424"/>
            <a:ext cx="8229600" cy="283464"/>
          </a:xfrm>
          <a:prstGeom prst="rect">
            <a:avLst/>
          </a:prstGeom>
          <a:noFill/>
          <a:ln/>
        </p:spPr>
        <p:txBody>
          <a:bodyPr wrap="square" lIns="0" tIns="0" rIns="0" bIns="0" rtlCol="0" anchor="ctr"/>
          <a:lstStyle/>
          <a:p>
            <a:pPr marL="342900" indent="-342900">
              <a:buSzPct val="100000"/>
              <a:buChar char="•"/>
            </a:pPr>
            <a:r>
              <a:rPr lang="en-US" sz="1150" dirty="0">
                <a:solidFill>
                  <a:srgbClr val="211B41"/>
                </a:solidFill>
                <a:latin typeface="Calibri" pitchFamily="34" charset="0"/>
                <a:ea typeface="Calibri" pitchFamily="34" charset="-122"/>
                <a:cs typeface="Calibri" pitchFamily="34" charset="-120"/>
              </a:rPr>
              <a:t>Sales support: 'What products are available for an Austrian SME with €5M turnover?' — answered from your product catalogue</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FF4E0"/>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600" b="1" dirty="0">
                <a:solidFill>
                  <a:srgbClr val="211B41"/>
                </a:solidFill>
                <a:latin typeface="Georgia" pitchFamily="34" charset="0"/>
                <a:ea typeface="Georgia" pitchFamily="34" charset="-122"/>
                <a:cs typeface="Georgia" pitchFamily="34" charset="-120"/>
              </a:rPr>
              <a:t>Tools, Embedding, and Fine-Tuning</a:t>
            </a:r>
            <a:endParaRPr lang="en-US" sz="2600" dirty="0"/>
          </a:p>
        </p:txBody>
      </p:sp>
      <p:sp>
        <p:nvSpPr>
          <p:cNvPr id="3" name="Shape 1"/>
          <p:cNvSpPr/>
          <p:nvPr/>
        </p:nvSpPr>
        <p:spPr>
          <a:xfrm>
            <a:off x="457200" y="822960"/>
            <a:ext cx="8229600" cy="27432"/>
          </a:xfrm>
          <a:prstGeom prst="rect">
            <a:avLst/>
          </a:prstGeom>
          <a:solidFill>
            <a:srgbClr val="BBCE8E"/>
          </a:solidFill>
          <a:ln w="12700">
            <a:solidFill>
              <a:srgbClr val="BBCE8E"/>
            </a:solidFill>
            <a:prstDash val="solid"/>
          </a:ln>
        </p:spPr>
        <p:txBody>
          <a:bodyPr/>
          <a:lstStyle/>
          <a:p>
            <a:endParaRPr lang="en-US"/>
          </a:p>
        </p:txBody>
      </p:sp>
      <p:sp>
        <p:nvSpPr>
          <p:cNvPr id="4" name="Shape 2"/>
          <p:cNvSpPr/>
          <p:nvPr/>
        </p:nvSpPr>
        <p:spPr>
          <a:xfrm>
            <a:off x="0" y="4919472"/>
            <a:ext cx="9144000" cy="224028"/>
          </a:xfrm>
          <a:prstGeom prst="rect">
            <a:avLst/>
          </a:prstGeom>
          <a:solidFill>
            <a:srgbClr val="BBCE8E"/>
          </a:solidFill>
          <a:ln w="12700">
            <a:solidFill>
              <a:srgbClr val="BBCE8E"/>
            </a:solidFill>
            <a:prstDash val="solid"/>
          </a:ln>
        </p:spPr>
        <p:txBody>
          <a:bodyPr/>
          <a:lstStyle/>
          <a:p>
            <a:endParaRPr lang="en-US"/>
          </a:p>
        </p:txBody>
      </p:sp>
      <p:sp>
        <p:nvSpPr>
          <p:cNvPr id="5" name="Text 3"/>
          <p:cNvSpPr/>
          <p:nvPr/>
        </p:nvSpPr>
        <p:spPr>
          <a:xfrm>
            <a:off x="274320" y="4928616"/>
            <a:ext cx="8595360" cy="201168"/>
          </a:xfrm>
          <a:prstGeom prst="rect">
            <a:avLst/>
          </a:prstGeom>
          <a:noFill/>
          <a:ln/>
        </p:spPr>
        <p:txBody>
          <a:bodyPr wrap="square" lIns="0" tIns="0" rIns="0" bIns="0" rtlCol="0" anchor="ctr"/>
          <a:lstStyle/>
          <a:p>
            <a:pPr marL="0" indent="0">
              <a:buNone/>
            </a:pPr>
            <a:r>
              <a:rPr lang="en-US" sz="900" dirty="0">
                <a:solidFill>
                  <a:srgbClr val="4A7A82"/>
                </a:solidFill>
                <a:latin typeface="Calibri" pitchFamily="34" charset="0"/>
                <a:ea typeface="Calibri" pitchFamily="34" charset="-122"/>
                <a:cs typeface="Calibri" pitchFamily="34" charset="-120"/>
              </a:rPr>
              <a:t>Blockstruct GmbH  ·  AI Demystified Workshop  ·  UniCredit  ·  April 2026</a:t>
            </a:r>
            <a:endParaRPr lang="en-US" sz="900" dirty="0"/>
          </a:p>
        </p:txBody>
      </p:sp>
      <p:sp>
        <p:nvSpPr>
          <p:cNvPr id="6" name="Shape 4"/>
          <p:cNvSpPr/>
          <p:nvPr/>
        </p:nvSpPr>
        <p:spPr>
          <a:xfrm>
            <a:off x="457200" y="1005840"/>
            <a:ext cx="8229600" cy="384048"/>
          </a:xfrm>
          <a:prstGeom prst="rect">
            <a:avLst/>
          </a:prstGeom>
          <a:solidFill>
            <a:srgbClr val="626EFF"/>
          </a:solidFill>
          <a:ln w="12700">
            <a:solidFill>
              <a:srgbClr val="626EFF"/>
            </a:solidFill>
            <a:prstDash val="solid"/>
          </a:ln>
        </p:spPr>
        <p:txBody>
          <a:bodyPr/>
          <a:lstStyle/>
          <a:p>
            <a:endParaRPr lang="en-US"/>
          </a:p>
        </p:txBody>
      </p:sp>
      <p:sp>
        <p:nvSpPr>
          <p:cNvPr id="7" name="Text 5"/>
          <p:cNvSpPr/>
          <p:nvPr/>
        </p:nvSpPr>
        <p:spPr>
          <a:xfrm>
            <a:off x="548640" y="1024128"/>
            <a:ext cx="7955280" cy="347472"/>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TOOLS — AI With Hands</a:t>
            </a:r>
            <a:endParaRPr lang="en-US" sz="1300" dirty="0"/>
          </a:p>
        </p:txBody>
      </p:sp>
      <p:sp>
        <p:nvSpPr>
          <p:cNvPr id="8" name="Text 6"/>
          <p:cNvSpPr/>
          <p:nvPr/>
        </p:nvSpPr>
        <p:spPr>
          <a:xfrm>
            <a:off x="457200" y="1463040"/>
            <a:ext cx="8229600" cy="640080"/>
          </a:xfrm>
          <a:prstGeom prst="rect">
            <a:avLst/>
          </a:prstGeom>
          <a:noFill/>
          <a:ln/>
        </p:spPr>
        <p:txBody>
          <a:bodyPr wrap="square" lIns="0" tIns="0" rIns="0" bIns="0" rtlCol="0" anchor="ctr"/>
          <a:lstStyle/>
          <a:p>
            <a:pPr marL="0" indent="0">
              <a:buNone/>
            </a:pPr>
            <a:r>
              <a:rPr lang="en-US" sz="1200" dirty="0">
                <a:solidFill>
                  <a:srgbClr val="211B41"/>
                </a:solidFill>
                <a:latin typeface="Calibri" pitchFamily="34" charset="0"/>
                <a:ea typeface="Calibri" pitchFamily="34" charset="-122"/>
                <a:cs typeface="Calibri" pitchFamily="34" charset="-120"/>
              </a:rPr>
              <a:t>Beyond text in / text out. AI can call APIs, query databases, read emails, run calculations, trigger workflows. The difference between an AI that tells you a client's credit limit and one that actually pulls it from your CRM in real time.</a:t>
            </a:r>
            <a:endParaRPr lang="en-US" sz="1200" dirty="0"/>
          </a:p>
        </p:txBody>
      </p:sp>
      <p:sp>
        <p:nvSpPr>
          <p:cNvPr id="9" name="Shape 7"/>
          <p:cNvSpPr/>
          <p:nvPr/>
        </p:nvSpPr>
        <p:spPr>
          <a:xfrm>
            <a:off x="457200" y="2194560"/>
            <a:ext cx="8229600" cy="27432"/>
          </a:xfrm>
          <a:prstGeom prst="rect">
            <a:avLst/>
          </a:prstGeom>
          <a:solidFill>
            <a:srgbClr val="BBCE8E"/>
          </a:solidFill>
          <a:ln w="12700">
            <a:solidFill>
              <a:srgbClr val="BBCE8E"/>
            </a:solidFill>
            <a:prstDash val="solid"/>
          </a:ln>
        </p:spPr>
        <p:txBody>
          <a:bodyPr/>
          <a:lstStyle/>
          <a:p>
            <a:endParaRPr lang="en-US"/>
          </a:p>
        </p:txBody>
      </p:sp>
      <p:sp>
        <p:nvSpPr>
          <p:cNvPr id="10" name="Text 8"/>
          <p:cNvSpPr/>
          <p:nvPr/>
        </p:nvSpPr>
        <p:spPr>
          <a:xfrm>
            <a:off x="457200" y="2286000"/>
            <a:ext cx="8229600" cy="347472"/>
          </a:xfrm>
          <a:prstGeom prst="rect">
            <a:avLst/>
          </a:prstGeom>
          <a:noFill/>
          <a:ln/>
        </p:spPr>
        <p:txBody>
          <a:bodyPr wrap="square" lIns="0" tIns="0" rIns="0" bIns="0" rtlCol="0" anchor="ctr"/>
          <a:lstStyle/>
          <a:p>
            <a:pPr marL="0" indent="0">
              <a:buNone/>
            </a:pPr>
            <a:r>
              <a:rPr lang="en-US" sz="1300" b="1" dirty="0">
                <a:solidFill>
                  <a:srgbClr val="211B41"/>
                </a:solidFill>
                <a:latin typeface="Calibri" pitchFamily="34" charset="0"/>
                <a:ea typeface="Calibri" pitchFamily="34" charset="-122"/>
                <a:cs typeface="Calibri" pitchFamily="34" charset="-120"/>
              </a:rPr>
              <a:t>Knowledge vs. Behaviour — Two Ways to Customise AI:</a:t>
            </a:r>
            <a:endParaRPr lang="en-US" sz="1300" dirty="0"/>
          </a:p>
        </p:txBody>
      </p:sp>
      <p:sp>
        <p:nvSpPr>
          <p:cNvPr id="11" name="Shape 9"/>
          <p:cNvSpPr/>
          <p:nvPr/>
        </p:nvSpPr>
        <p:spPr>
          <a:xfrm>
            <a:off x="457200" y="2724912"/>
            <a:ext cx="4114800" cy="2011680"/>
          </a:xfrm>
          <a:prstGeom prst="rect">
            <a:avLst/>
          </a:prstGeom>
          <a:solidFill>
            <a:srgbClr val="626EFF"/>
          </a:solidFill>
          <a:ln w="12700">
            <a:solidFill>
              <a:srgbClr val="626EFF"/>
            </a:solidFill>
            <a:prstDash val="solid"/>
          </a:ln>
          <a:effectLst>
            <a:outerShdw blurRad="63500" dist="25400" dir="8100000" algn="bl" rotWithShape="0">
              <a:srgbClr val="000000">
                <a:alpha val="8000"/>
              </a:srgbClr>
            </a:outerShdw>
          </a:effectLst>
        </p:spPr>
        <p:txBody>
          <a:bodyPr/>
          <a:lstStyle/>
          <a:p>
            <a:endParaRPr lang="en-US"/>
          </a:p>
        </p:txBody>
      </p:sp>
      <p:sp>
        <p:nvSpPr>
          <p:cNvPr id="12" name="Text 10"/>
          <p:cNvSpPr/>
          <p:nvPr/>
        </p:nvSpPr>
        <p:spPr>
          <a:xfrm>
            <a:off x="566928" y="2788920"/>
            <a:ext cx="3840480" cy="41148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Embedding (Knowledge)</a:t>
            </a:r>
            <a:endParaRPr lang="en-US" sz="1400" dirty="0"/>
          </a:p>
        </p:txBody>
      </p:sp>
      <p:sp>
        <p:nvSpPr>
          <p:cNvPr id="13" name="Text 11"/>
          <p:cNvSpPr/>
          <p:nvPr/>
        </p:nvSpPr>
        <p:spPr>
          <a:xfrm>
            <a:off x="566928" y="3218688"/>
            <a:ext cx="3840480" cy="457200"/>
          </a:xfrm>
          <a:prstGeom prst="rect">
            <a:avLst/>
          </a:prstGeom>
          <a:noFill/>
          <a:ln/>
        </p:spPr>
        <p:txBody>
          <a:bodyPr wrap="square" lIns="0" tIns="0" rIns="0" bIns="0" rtlCol="0" anchor="ctr"/>
          <a:lstStyle/>
          <a:p>
            <a:pPr marL="0" indent="0">
              <a:buNone/>
            </a:pPr>
            <a:r>
              <a:rPr lang="en-US" sz="1100" i="1" dirty="0">
                <a:solidFill>
                  <a:srgbClr val="F8CE5A"/>
                </a:solidFill>
                <a:latin typeface="Calibri" pitchFamily="34" charset="0"/>
                <a:ea typeface="Calibri" pitchFamily="34" charset="-122"/>
                <a:cs typeface="Calibri" pitchFamily="34" charset="-120"/>
              </a:rPr>
              <a:t>"Giving someone a much better map of your territory"</a:t>
            </a:r>
            <a:endParaRPr lang="en-US" sz="1100" dirty="0"/>
          </a:p>
        </p:txBody>
      </p:sp>
      <p:sp>
        <p:nvSpPr>
          <p:cNvPr id="14" name="Text 12"/>
          <p:cNvSpPr/>
          <p:nvPr/>
        </p:nvSpPr>
        <p:spPr>
          <a:xfrm>
            <a:off x="566928" y="3703320"/>
            <a:ext cx="3840480" cy="91440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When to use: When your AI needs to understand and search your documents. Client files, product knowledge bases, policy libraries.</a:t>
            </a:r>
            <a:endParaRPr lang="en-US" sz="1050" dirty="0"/>
          </a:p>
        </p:txBody>
      </p:sp>
      <p:sp>
        <p:nvSpPr>
          <p:cNvPr id="15" name="Shape 13"/>
          <p:cNvSpPr/>
          <p:nvPr/>
        </p:nvSpPr>
        <p:spPr>
          <a:xfrm>
            <a:off x="4800600" y="2724912"/>
            <a:ext cx="4114800" cy="2011680"/>
          </a:xfrm>
          <a:prstGeom prst="rect">
            <a:avLst/>
          </a:prstGeom>
          <a:solidFill>
            <a:srgbClr val="2E2458"/>
          </a:solidFill>
          <a:ln w="12700">
            <a:solidFill>
              <a:srgbClr val="2E2458"/>
            </a:solidFill>
            <a:prstDash val="solid"/>
          </a:ln>
          <a:effectLst>
            <a:outerShdw blurRad="63500" dist="25400" dir="8100000" algn="bl" rotWithShape="0">
              <a:srgbClr val="000000">
                <a:alpha val="8000"/>
              </a:srgbClr>
            </a:outerShdw>
          </a:effectLst>
        </p:spPr>
        <p:txBody>
          <a:bodyPr/>
          <a:lstStyle/>
          <a:p>
            <a:endParaRPr lang="en-US"/>
          </a:p>
        </p:txBody>
      </p:sp>
      <p:sp>
        <p:nvSpPr>
          <p:cNvPr id="16" name="Text 14"/>
          <p:cNvSpPr/>
          <p:nvPr/>
        </p:nvSpPr>
        <p:spPr>
          <a:xfrm>
            <a:off x="4910328" y="2788920"/>
            <a:ext cx="3840480" cy="41148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Fine-tuning (Behaviour)</a:t>
            </a:r>
            <a:endParaRPr lang="en-US" sz="1400" dirty="0"/>
          </a:p>
        </p:txBody>
      </p:sp>
      <p:sp>
        <p:nvSpPr>
          <p:cNvPr id="17" name="Text 15"/>
          <p:cNvSpPr/>
          <p:nvPr/>
        </p:nvSpPr>
        <p:spPr>
          <a:xfrm>
            <a:off x="4910328" y="3218688"/>
            <a:ext cx="3840480" cy="457200"/>
          </a:xfrm>
          <a:prstGeom prst="rect">
            <a:avLst/>
          </a:prstGeom>
          <a:noFill/>
          <a:ln/>
        </p:spPr>
        <p:txBody>
          <a:bodyPr wrap="square" lIns="0" tIns="0" rIns="0" bIns="0" rtlCol="0" anchor="ctr"/>
          <a:lstStyle/>
          <a:p>
            <a:pPr marL="0" indent="0">
              <a:buNone/>
            </a:pPr>
            <a:r>
              <a:rPr lang="en-US" sz="1100" i="1" dirty="0">
                <a:solidFill>
                  <a:srgbClr val="F8CE5A"/>
                </a:solidFill>
                <a:latin typeface="Calibri" pitchFamily="34" charset="0"/>
                <a:ea typeface="Calibri" pitchFamily="34" charset="-122"/>
                <a:cs typeface="Calibri" pitchFamily="34" charset="-120"/>
              </a:rPr>
              <a:t>"Years of specialist training in a specific discipline"</a:t>
            </a:r>
            <a:endParaRPr lang="en-US" sz="1100" dirty="0"/>
          </a:p>
        </p:txBody>
      </p:sp>
      <p:sp>
        <p:nvSpPr>
          <p:cNvPr id="18" name="Text 16"/>
          <p:cNvSpPr/>
          <p:nvPr/>
        </p:nvSpPr>
        <p:spPr>
          <a:xfrm>
            <a:off x="4910328" y="3703320"/>
            <a:ext cx="3840480" cy="914400"/>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When to use: When off-the-shelf behaviour doesn't fit. E.g. a model that writes in UniCredit's exact tone, or classifies documents using internal taxonomy.</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11B41"/>
        </a:solidFill>
        <a:effectLst/>
      </p:bgPr>
    </p:bg>
    <p:spTree>
      <p:nvGrpSpPr>
        <p:cNvPr id="1" name=""/>
        <p:cNvGrpSpPr/>
        <p:nvPr/>
      </p:nvGrpSpPr>
      <p:grpSpPr>
        <a:xfrm>
          <a:off x="0" y="0"/>
          <a:ext cx="0" cy="0"/>
          <a:chOff x="0" y="0"/>
          <a:chExt cx="0" cy="0"/>
        </a:xfrm>
      </p:grpSpPr>
      <p:sp>
        <p:nvSpPr>
          <p:cNvPr id="2" name="Text 0"/>
          <p:cNvSpPr/>
          <p:nvPr/>
        </p:nvSpPr>
        <p:spPr>
          <a:xfrm>
            <a:off x="5943600" y="-365760"/>
            <a:ext cx="3474720" cy="4572000"/>
          </a:xfrm>
          <a:prstGeom prst="rect">
            <a:avLst/>
          </a:prstGeom>
          <a:noFill/>
          <a:ln/>
        </p:spPr>
        <p:txBody>
          <a:bodyPr wrap="square" lIns="0" tIns="0" rIns="0" bIns="0" rtlCol="0" anchor="ctr"/>
          <a:lstStyle/>
          <a:p>
            <a:pPr marL="0" indent="0" algn="r">
              <a:buNone/>
            </a:pPr>
            <a:r>
              <a:rPr lang="en-US" sz="32000" b="1" dirty="0">
                <a:solidFill>
                  <a:srgbClr val="2E2458"/>
                </a:solidFill>
                <a:latin typeface="Georgia" pitchFamily="34" charset="0"/>
                <a:ea typeface="Georgia" pitchFamily="34" charset="-122"/>
                <a:cs typeface="Georgia" pitchFamily="34" charset="-120"/>
              </a:rPr>
              <a:t>5</a:t>
            </a:r>
            <a:endParaRPr lang="en-US" sz="32000" dirty="0"/>
          </a:p>
        </p:txBody>
      </p:sp>
      <p:sp>
        <p:nvSpPr>
          <p:cNvPr id="3" name="Shape 1"/>
          <p:cNvSpPr/>
          <p:nvPr/>
        </p:nvSpPr>
        <p:spPr>
          <a:xfrm>
            <a:off x="0" y="0"/>
            <a:ext cx="109728" cy="5143500"/>
          </a:xfrm>
          <a:prstGeom prst="rect">
            <a:avLst/>
          </a:prstGeom>
          <a:solidFill>
            <a:srgbClr val="626EFF"/>
          </a:solidFill>
          <a:ln w="12700">
            <a:solidFill>
              <a:srgbClr val="626EFF"/>
            </a:solidFill>
            <a:prstDash val="solid"/>
          </a:ln>
        </p:spPr>
        <p:txBody>
          <a:bodyPr/>
          <a:lstStyle/>
          <a:p>
            <a:endParaRPr lang="en-US"/>
          </a:p>
        </p:txBody>
      </p:sp>
      <p:sp>
        <p:nvSpPr>
          <p:cNvPr id="4" name="Text 2"/>
          <p:cNvSpPr/>
          <p:nvPr/>
        </p:nvSpPr>
        <p:spPr>
          <a:xfrm>
            <a:off x="320040" y="1280160"/>
            <a:ext cx="5486400" cy="411480"/>
          </a:xfrm>
          <a:prstGeom prst="rect">
            <a:avLst/>
          </a:prstGeom>
          <a:noFill/>
          <a:ln/>
        </p:spPr>
        <p:txBody>
          <a:bodyPr wrap="square" lIns="0" tIns="0" rIns="0" bIns="0" rtlCol="0" anchor="ctr"/>
          <a:lstStyle/>
          <a:p>
            <a:pPr marL="0" indent="0">
              <a:buNone/>
            </a:pPr>
            <a:r>
              <a:rPr lang="en-US" sz="1300" b="1" kern="0" spc="400" dirty="0">
                <a:solidFill>
                  <a:srgbClr val="F0B20D"/>
                </a:solidFill>
                <a:latin typeface="Calibri" pitchFamily="34" charset="0"/>
                <a:ea typeface="Calibri" pitchFamily="34" charset="-122"/>
                <a:cs typeface="Calibri" pitchFamily="34" charset="-120"/>
              </a:rPr>
              <a:t>MODULE 5</a:t>
            </a:r>
            <a:endParaRPr lang="en-US" sz="1300" dirty="0"/>
          </a:p>
        </p:txBody>
      </p:sp>
      <p:sp>
        <p:nvSpPr>
          <p:cNvPr id="5" name="Text 3"/>
          <p:cNvSpPr/>
          <p:nvPr/>
        </p:nvSpPr>
        <p:spPr>
          <a:xfrm>
            <a:off x="320040" y="1737360"/>
            <a:ext cx="6858000" cy="1645920"/>
          </a:xfrm>
          <a:prstGeom prst="rect">
            <a:avLst/>
          </a:prstGeom>
          <a:noFill/>
          <a:ln/>
        </p:spPr>
        <p:txBody>
          <a:bodyPr wrap="square" lIns="0" tIns="0" rIns="0" bIns="0" rtlCol="0" anchor="ctr"/>
          <a:lstStyle/>
          <a:p>
            <a:pPr marL="0" indent="0">
              <a:buNone/>
            </a:pPr>
            <a:r>
              <a:rPr lang="en-US" sz="4200" b="1" dirty="0">
                <a:solidFill>
                  <a:srgbClr val="FFFFFF"/>
                </a:solidFill>
                <a:latin typeface="Georgia" pitchFamily="34" charset="0"/>
                <a:ea typeface="Georgia" pitchFamily="34" charset="-122"/>
                <a:cs typeface="Georgia" pitchFamily="34" charset="-120"/>
              </a:rPr>
              <a:t>Why AI Lies</a:t>
            </a:r>
            <a:endParaRPr lang="en-US" sz="4200" dirty="0"/>
          </a:p>
          <a:p>
            <a:pPr marL="0" indent="0">
              <a:buNone/>
            </a:pPr>
            <a:r>
              <a:rPr lang="en-US" sz="4200" b="1" dirty="0">
                <a:solidFill>
                  <a:srgbClr val="FFFFFF"/>
                </a:solidFill>
                <a:latin typeface="Georgia" pitchFamily="34" charset="0"/>
                <a:ea typeface="Georgia" pitchFamily="34" charset="-122"/>
                <a:cs typeface="Georgia" pitchFamily="34" charset="-120"/>
              </a:rPr>
              <a:t>to Your Face</a:t>
            </a:r>
            <a:endParaRPr lang="en-US" sz="4200" dirty="0"/>
          </a:p>
        </p:txBody>
      </p:sp>
      <p:sp>
        <p:nvSpPr>
          <p:cNvPr id="6" name="Text 4"/>
          <p:cNvSpPr/>
          <p:nvPr/>
        </p:nvSpPr>
        <p:spPr>
          <a:xfrm>
            <a:off x="320040" y="3429000"/>
            <a:ext cx="5943600" cy="640080"/>
          </a:xfrm>
          <a:prstGeom prst="rect">
            <a:avLst/>
          </a:prstGeom>
          <a:noFill/>
          <a:ln/>
        </p:spPr>
        <p:txBody>
          <a:bodyPr wrap="square" lIns="0" tIns="0" rIns="0" bIns="0" rtlCol="0" anchor="ctr"/>
          <a:lstStyle/>
          <a:p>
            <a:pPr marL="0" indent="0">
              <a:buNone/>
            </a:pPr>
            <a:r>
              <a:rPr lang="en-US" sz="1600" i="1" dirty="0">
                <a:solidFill>
                  <a:srgbClr val="8F96FF"/>
                </a:solidFill>
                <a:latin typeface="Calibri" pitchFamily="34" charset="0"/>
                <a:ea typeface="Calibri" pitchFamily="34" charset="-122"/>
                <a:cs typeface="Calibri" pitchFamily="34" charset="-120"/>
              </a:rPr>
              <a:t>Hallucinations, the split brain, and why confident is not the same as correct</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211B41"/>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The Most Interesting Brain Surgery You'll Hear About Today</a:t>
            </a:r>
            <a:endParaRPr lang="en-US" sz="2600" dirty="0"/>
          </a:p>
        </p:txBody>
      </p:sp>
      <p:sp>
        <p:nvSpPr>
          <p:cNvPr id="3" name="Shape 1"/>
          <p:cNvSpPr/>
          <p:nvPr/>
        </p:nvSpPr>
        <p:spPr>
          <a:xfrm>
            <a:off x="457200" y="822960"/>
            <a:ext cx="8229600" cy="27432"/>
          </a:xfrm>
          <a:prstGeom prst="rect">
            <a:avLst/>
          </a:prstGeom>
          <a:solidFill>
            <a:srgbClr val="2E2458"/>
          </a:solidFill>
          <a:ln w="12700">
            <a:solidFill>
              <a:srgbClr val="2E2458"/>
            </a:solidFill>
            <a:prstDash val="solid"/>
          </a:ln>
        </p:spPr>
        <p:txBody>
          <a:bodyPr/>
          <a:lstStyle/>
          <a:p>
            <a:endParaRPr lang="en-US"/>
          </a:p>
        </p:txBody>
      </p:sp>
      <p:sp>
        <p:nvSpPr>
          <p:cNvPr id="4" name="Shape 2"/>
          <p:cNvSpPr/>
          <p:nvPr/>
        </p:nvSpPr>
        <p:spPr>
          <a:xfrm>
            <a:off x="0" y="4919472"/>
            <a:ext cx="9144000" cy="224028"/>
          </a:xfrm>
          <a:prstGeom prst="rect">
            <a:avLst/>
          </a:prstGeom>
          <a:solidFill>
            <a:srgbClr val="2E2458"/>
          </a:solidFill>
          <a:ln w="12700">
            <a:solidFill>
              <a:srgbClr val="2E2458"/>
            </a:solidFill>
            <a:prstDash val="solid"/>
          </a:ln>
        </p:spPr>
        <p:txBody>
          <a:bodyPr/>
          <a:lstStyle/>
          <a:p>
            <a:endParaRPr lang="en-US"/>
          </a:p>
        </p:txBody>
      </p:sp>
      <p:sp>
        <p:nvSpPr>
          <p:cNvPr id="5" name="Text 3"/>
          <p:cNvSpPr/>
          <p:nvPr/>
        </p:nvSpPr>
        <p:spPr>
          <a:xfrm>
            <a:off x="274320" y="4928616"/>
            <a:ext cx="8595360" cy="201168"/>
          </a:xfrm>
          <a:prstGeom prst="rect">
            <a:avLst/>
          </a:prstGeom>
          <a:noFill/>
          <a:ln/>
        </p:spPr>
        <p:txBody>
          <a:bodyPr wrap="square" lIns="0" tIns="0" rIns="0" bIns="0" rtlCol="0" anchor="ctr"/>
          <a:lstStyle/>
          <a:p>
            <a:pPr marL="0" indent="0">
              <a:buNone/>
            </a:pPr>
            <a:r>
              <a:rPr lang="en-US" sz="900" dirty="0">
                <a:solidFill>
                  <a:srgbClr val="4A7A82"/>
                </a:solidFill>
                <a:latin typeface="Calibri" pitchFamily="34" charset="0"/>
                <a:ea typeface="Calibri" pitchFamily="34" charset="-122"/>
                <a:cs typeface="Calibri" pitchFamily="34" charset="-120"/>
              </a:rPr>
              <a:t>Blockstruct GmbH  ·  AI Demystified Workshop  ·  UniCredit  ·  April 2026</a:t>
            </a:r>
            <a:endParaRPr lang="en-US" sz="900" dirty="0"/>
          </a:p>
        </p:txBody>
      </p:sp>
      <p:sp>
        <p:nvSpPr>
          <p:cNvPr id="6" name="Text 4"/>
          <p:cNvSpPr/>
          <p:nvPr/>
        </p:nvSpPr>
        <p:spPr>
          <a:xfrm>
            <a:off x="457200" y="914400"/>
            <a:ext cx="8229600" cy="50292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In the 1960s, surgeons treated severe epilepsy by severing the corpus callosum — the bridge connecting the brain's two hemispheres.</a:t>
            </a:r>
            <a:endParaRPr lang="en-US" sz="1300" dirty="0"/>
          </a:p>
        </p:txBody>
      </p:sp>
      <p:sp>
        <p:nvSpPr>
          <p:cNvPr id="7" name="Shape 5"/>
          <p:cNvSpPr/>
          <p:nvPr/>
        </p:nvSpPr>
        <p:spPr>
          <a:xfrm>
            <a:off x="457200" y="1536192"/>
            <a:ext cx="8229600" cy="914400"/>
          </a:xfrm>
          <a:prstGeom prst="rect">
            <a:avLst/>
          </a:prstGeom>
          <a:solidFill>
            <a:srgbClr val="2E2458"/>
          </a:solidFill>
          <a:ln w="12700">
            <a:solidFill>
              <a:srgbClr val="2E2458"/>
            </a:solidFill>
            <a:prstDash val="solid"/>
          </a:ln>
          <a:effectLst>
            <a:outerShdw blurRad="63500" dist="25400" dir="8100000" algn="bl" rotWithShape="0">
              <a:srgbClr val="000000">
                <a:alpha val="8000"/>
              </a:srgbClr>
            </a:outerShdw>
          </a:effectLst>
        </p:spPr>
        <p:txBody>
          <a:bodyPr/>
          <a:lstStyle/>
          <a:p>
            <a:endParaRPr lang="en-US"/>
          </a:p>
        </p:txBody>
      </p:sp>
      <p:sp>
        <p:nvSpPr>
          <p:cNvPr id="8" name="Text 6"/>
          <p:cNvSpPr/>
          <p:nvPr/>
        </p:nvSpPr>
        <p:spPr>
          <a:xfrm>
            <a:off x="594360" y="1581912"/>
            <a:ext cx="2286000" cy="365760"/>
          </a:xfrm>
          <a:prstGeom prst="rect">
            <a:avLst/>
          </a:prstGeom>
          <a:noFill/>
          <a:ln/>
        </p:spPr>
        <p:txBody>
          <a:bodyPr wrap="square" lIns="0" tIns="0" rIns="0" bIns="0" rtlCol="0" anchor="ctr"/>
          <a:lstStyle/>
          <a:p>
            <a:pPr marL="0" indent="0">
              <a:buNone/>
            </a:pPr>
            <a:r>
              <a:rPr lang="en-US" sz="1250" b="1" dirty="0">
                <a:solidFill>
                  <a:srgbClr val="F0B20D"/>
                </a:solidFill>
                <a:latin typeface="Calibri" pitchFamily="34" charset="0"/>
                <a:ea typeface="Calibri" pitchFamily="34" charset="-122"/>
                <a:cs typeface="Calibri" pitchFamily="34" charset="-120"/>
              </a:rPr>
              <a:t>What happened</a:t>
            </a:r>
            <a:endParaRPr lang="en-US" sz="1250" dirty="0"/>
          </a:p>
        </p:txBody>
      </p:sp>
      <p:sp>
        <p:nvSpPr>
          <p:cNvPr id="9" name="Text 7"/>
          <p:cNvSpPr/>
          <p:nvPr/>
        </p:nvSpPr>
        <p:spPr>
          <a:xfrm>
            <a:off x="594360" y="1956816"/>
            <a:ext cx="7772400" cy="43891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The right hemisphere could see and control the left hand. The left hemisphere — the verbal one — had no access to this information.</a:t>
            </a:r>
            <a:endParaRPr lang="en-US" sz="1200" dirty="0"/>
          </a:p>
        </p:txBody>
      </p:sp>
      <p:sp>
        <p:nvSpPr>
          <p:cNvPr id="10" name="Shape 8"/>
          <p:cNvSpPr/>
          <p:nvPr/>
        </p:nvSpPr>
        <p:spPr>
          <a:xfrm>
            <a:off x="457200" y="2560320"/>
            <a:ext cx="8229600" cy="914400"/>
          </a:xfrm>
          <a:prstGeom prst="rect">
            <a:avLst/>
          </a:prstGeom>
          <a:solidFill>
            <a:srgbClr val="5E4692"/>
          </a:solidFill>
          <a:ln w="12700">
            <a:solidFill>
              <a:srgbClr val="5E4692"/>
            </a:solidFill>
            <a:prstDash val="solid"/>
          </a:ln>
          <a:effectLst>
            <a:outerShdw blurRad="63500" dist="25400" dir="8100000" algn="bl" rotWithShape="0">
              <a:srgbClr val="000000">
                <a:alpha val="8000"/>
              </a:srgbClr>
            </a:outerShdw>
          </a:effectLst>
        </p:spPr>
        <p:txBody>
          <a:bodyPr/>
          <a:lstStyle/>
          <a:p>
            <a:endParaRPr lang="en-US"/>
          </a:p>
        </p:txBody>
      </p:sp>
      <p:sp>
        <p:nvSpPr>
          <p:cNvPr id="11" name="Text 9"/>
          <p:cNvSpPr/>
          <p:nvPr/>
        </p:nvSpPr>
        <p:spPr>
          <a:xfrm>
            <a:off x="594360" y="2606040"/>
            <a:ext cx="2286000" cy="365760"/>
          </a:xfrm>
          <a:prstGeom prst="rect">
            <a:avLst/>
          </a:prstGeom>
          <a:noFill/>
          <a:ln/>
        </p:spPr>
        <p:txBody>
          <a:bodyPr wrap="square" lIns="0" tIns="0" rIns="0" bIns="0" rtlCol="0" anchor="ctr"/>
          <a:lstStyle/>
          <a:p>
            <a:pPr marL="0" indent="0">
              <a:buNone/>
            </a:pPr>
            <a:r>
              <a:rPr lang="en-US" sz="1250" b="1" dirty="0">
                <a:solidFill>
                  <a:srgbClr val="F0B20D"/>
                </a:solidFill>
                <a:latin typeface="Calibri" pitchFamily="34" charset="0"/>
                <a:ea typeface="Calibri" pitchFamily="34" charset="-122"/>
                <a:cs typeface="Calibri" pitchFamily="34" charset="-120"/>
              </a:rPr>
              <a:t>The remarkable part</a:t>
            </a:r>
            <a:endParaRPr lang="en-US" sz="1250" dirty="0"/>
          </a:p>
        </p:txBody>
      </p:sp>
      <p:sp>
        <p:nvSpPr>
          <p:cNvPr id="12" name="Text 10"/>
          <p:cNvSpPr/>
          <p:nvPr/>
        </p:nvSpPr>
        <p:spPr>
          <a:xfrm>
            <a:off x="594360" y="2980944"/>
            <a:ext cx="7772400" cy="43891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When asked why the left hand was doing something, the left hemisphere didn't say 'I don't know.' It invented a confident, plausible, completely made-up explanation.</a:t>
            </a:r>
            <a:endParaRPr lang="en-US" sz="1200" dirty="0"/>
          </a:p>
        </p:txBody>
      </p:sp>
      <p:sp>
        <p:nvSpPr>
          <p:cNvPr id="13" name="Shape 11"/>
          <p:cNvSpPr/>
          <p:nvPr/>
        </p:nvSpPr>
        <p:spPr>
          <a:xfrm>
            <a:off x="457200" y="3584448"/>
            <a:ext cx="8229600" cy="914400"/>
          </a:xfrm>
          <a:prstGeom prst="rect">
            <a:avLst/>
          </a:prstGeom>
          <a:solidFill>
            <a:srgbClr val="8D0D21"/>
          </a:solidFill>
          <a:ln w="12700">
            <a:solidFill>
              <a:srgbClr val="8D0D21"/>
            </a:solidFill>
            <a:prstDash val="solid"/>
          </a:ln>
          <a:effectLst>
            <a:outerShdw blurRad="63500" dist="25400" dir="8100000" algn="bl" rotWithShape="0">
              <a:srgbClr val="000000">
                <a:alpha val="8000"/>
              </a:srgbClr>
            </a:outerShdw>
          </a:effectLst>
        </p:spPr>
        <p:txBody>
          <a:bodyPr/>
          <a:lstStyle/>
          <a:p>
            <a:endParaRPr lang="en-US"/>
          </a:p>
        </p:txBody>
      </p:sp>
      <p:sp>
        <p:nvSpPr>
          <p:cNvPr id="14" name="Text 12"/>
          <p:cNvSpPr/>
          <p:nvPr/>
        </p:nvSpPr>
        <p:spPr>
          <a:xfrm>
            <a:off x="594360" y="3630168"/>
            <a:ext cx="2286000" cy="365760"/>
          </a:xfrm>
          <a:prstGeom prst="rect">
            <a:avLst/>
          </a:prstGeom>
          <a:noFill/>
          <a:ln/>
        </p:spPr>
        <p:txBody>
          <a:bodyPr wrap="square" lIns="0" tIns="0" rIns="0" bIns="0" rtlCol="0" anchor="ctr"/>
          <a:lstStyle/>
          <a:p>
            <a:pPr marL="0" indent="0">
              <a:buNone/>
            </a:pPr>
            <a:r>
              <a:rPr lang="en-US" sz="1250" b="1" dirty="0">
                <a:solidFill>
                  <a:srgbClr val="F0B20D"/>
                </a:solidFill>
                <a:latin typeface="Calibri" pitchFamily="34" charset="0"/>
                <a:ea typeface="Calibri" pitchFamily="34" charset="-122"/>
                <a:cs typeface="Calibri" pitchFamily="34" charset="-120"/>
              </a:rPr>
              <a:t>Sound familiar?</a:t>
            </a:r>
            <a:endParaRPr lang="en-US" sz="1250" dirty="0"/>
          </a:p>
        </p:txBody>
      </p:sp>
      <p:sp>
        <p:nvSpPr>
          <p:cNvPr id="15" name="Text 13"/>
          <p:cNvSpPr/>
          <p:nvPr/>
        </p:nvSpPr>
        <p:spPr>
          <a:xfrm>
            <a:off x="594360" y="4005072"/>
            <a:ext cx="7772400" cy="438912"/>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This is exactly what LLMs do. When they lack the right information, they don't say 'I don't know.' They generate the most statistically plausible answer — even if it's wrong.</a:t>
            </a:r>
            <a:endParaRPr lang="en-US" sz="1200" dirty="0"/>
          </a:p>
        </p:txBody>
      </p:sp>
      <p:sp>
        <p:nvSpPr>
          <p:cNvPr id="16" name="Text 14"/>
          <p:cNvSpPr/>
          <p:nvPr/>
        </p:nvSpPr>
        <p:spPr>
          <a:xfrm>
            <a:off x="457200" y="4645152"/>
            <a:ext cx="8229600" cy="274320"/>
          </a:xfrm>
          <a:prstGeom prst="rect">
            <a:avLst/>
          </a:prstGeom>
          <a:noFill/>
          <a:ln/>
        </p:spPr>
        <p:txBody>
          <a:bodyPr wrap="square" lIns="0" tIns="0" rIns="0" bIns="0" rtlCol="0" anchor="ctr"/>
          <a:lstStyle/>
          <a:p>
            <a:pPr marL="0" indent="0">
              <a:buNone/>
            </a:pPr>
            <a:r>
              <a:rPr lang="en-US" sz="1150" b="1" i="1" dirty="0">
                <a:solidFill>
                  <a:srgbClr val="F0B20D"/>
                </a:solidFill>
                <a:latin typeface="Calibri" pitchFamily="34" charset="0"/>
                <a:ea typeface="Calibri" pitchFamily="34" charset="-122"/>
                <a:cs typeface="Calibri" pitchFamily="34" charset="-120"/>
              </a:rPr>
              <a:t>This is not a bug that will be patched. It is architecturally inherent to how LLMs work.</a:t>
            </a:r>
            <a:endParaRPr lang="en-US" sz="11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FF4E0"/>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600" b="1" dirty="0">
                <a:solidFill>
                  <a:srgbClr val="211B41"/>
                </a:solidFill>
                <a:latin typeface="Georgia" pitchFamily="34" charset="0"/>
                <a:ea typeface="Georgia" pitchFamily="34" charset="-122"/>
                <a:cs typeface="Georgia" pitchFamily="34" charset="-120"/>
              </a:rPr>
              <a:t>Hallucinations in Banking — and How We Prevent Them</a:t>
            </a:r>
            <a:endParaRPr lang="en-US" sz="2600" dirty="0"/>
          </a:p>
        </p:txBody>
      </p:sp>
      <p:sp>
        <p:nvSpPr>
          <p:cNvPr id="3" name="Shape 1"/>
          <p:cNvSpPr/>
          <p:nvPr/>
        </p:nvSpPr>
        <p:spPr>
          <a:xfrm>
            <a:off x="457200" y="822960"/>
            <a:ext cx="8229600" cy="27432"/>
          </a:xfrm>
          <a:prstGeom prst="rect">
            <a:avLst/>
          </a:prstGeom>
          <a:solidFill>
            <a:srgbClr val="BBCE8E"/>
          </a:solidFill>
          <a:ln w="12700">
            <a:solidFill>
              <a:srgbClr val="BBCE8E"/>
            </a:solidFill>
            <a:prstDash val="solid"/>
          </a:ln>
        </p:spPr>
        <p:txBody>
          <a:bodyPr/>
          <a:lstStyle/>
          <a:p>
            <a:endParaRPr lang="en-US"/>
          </a:p>
        </p:txBody>
      </p:sp>
      <p:sp>
        <p:nvSpPr>
          <p:cNvPr id="4" name="Shape 2"/>
          <p:cNvSpPr/>
          <p:nvPr/>
        </p:nvSpPr>
        <p:spPr>
          <a:xfrm>
            <a:off x="0" y="4919472"/>
            <a:ext cx="9144000" cy="224028"/>
          </a:xfrm>
          <a:prstGeom prst="rect">
            <a:avLst/>
          </a:prstGeom>
          <a:solidFill>
            <a:srgbClr val="BBCE8E"/>
          </a:solidFill>
          <a:ln w="12700">
            <a:solidFill>
              <a:srgbClr val="BBCE8E"/>
            </a:solidFill>
            <a:prstDash val="solid"/>
          </a:ln>
        </p:spPr>
        <p:txBody>
          <a:bodyPr/>
          <a:lstStyle/>
          <a:p>
            <a:endParaRPr lang="en-US"/>
          </a:p>
        </p:txBody>
      </p:sp>
      <p:sp>
        <p:nvSpPr>
          <p:cNvPr id="5" name="Text 3"/>
          <p:cNvSpPr/>
          <p:nvPr/>
        </p:nvSpPr>
        <p:spPr>
          <a:xfrm>
            <a:off x="274320" y="4928616"/>
            <a:ext cx="8595360" cy="201168"/>
          </a:xfrm>
          <a:prstGeom prst="rect">
            <a:avLst/>
          </a:prstGeom>
          <a:noFill/>
          <a:ln/>
        </p:spPr>
        <p:txBody>
          <a:bodyPr wrap="square" lIns="0" tIns="0" rIns="0" bIns="0" rtlCol="0" anchor="ctr"/>
          <a:lstStyle/>
          <a:p>
            <a:pPr marL="0" indent="0">
              <a:buNone/>
            </a:pPr>
            <a:r>
              <a:rPr lang="en-US" sz="900" dirty="0">
                <a:solidFill>
                  <a:srgbClr val="4A7A82"/>
                </a:solidFill>
                <a:latin typeface="Calibri" pitchFamily="34" charset="0"/>
                <a:ea typeface="Calibri" pitchFamily="34" charset="-122"/>
                <a:cs typeface="Calibri" pitchFamily="34" charset="-120"/>
              </a:rPr>
              <a:t>Blockstruct GmbH  ·  AI Demystified Workshop  ·  UniCredit  ·  April 2026</a:t>
            </a:r>
            <a:endParaRPr lang="en-US" sz="900" dirty="0"/>
          </a:p>
        </p:txBody>
      </p:sp>
      <p:sp>
        <p:nvSpPr>
          <p:cNvPr id="6" name="Shape 4"/>
          <p:cNvSpPr/>
          <p:nvPr/>
        </p:nvSpPr>
        <p:spPr>
          <a:xfrm>
            <a:off x="457200" y="960120"/>
            <a:ext cx="8229600" cy="658368"/>
          </a:xfrm>
          <a:prstGeom prst="rect">
            <a:avLst/>
          </a:prstGeom>
          <a:solidFill>
            <a:srgbClr val="8D0D21"/>
          </a:solidFill>
          <a:ln w="12700">
            <a:solidFill>
              <a:srgbClr val="8D0D21"/>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548640" y="1024128"/>
            <a:ext cx="502920" cy="502920"/>
          </a:xfrm>
          <a:prstGeom prst="rect">
            <a:avLst/>
          </a:prstGeom>
        </p:spPr>
      </p:pic>
      <p:sp>
        <p:nvSpPr>
          <p:cNvPr id="8" name="Text 5"/>
          <p:cNvSpPr/>
          <p:nvPr/>
        </p:nvSpPr>
        <p:spPr>
          <a:xfrm>
            <a:off x="1188720" y="1005840"/>
            <a:ext cx="7406640" cy="612648"/>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The stakes: wrong regulatory citation, fabricated client history, incorrect product terms — all delivered with complete confidence.</a:t>
            </a:r>
            <a:endParaRPr lang="en-US" sz="1250" dirty="0"/>
          </a:p>
        </p:txBody>
      </p:sp>
      <p:sp>
        <p:nvSpPr>
          <p:cNvPr id="9" name="Shape 6"/>
          <p:cNvSpPr/>
          <p:nvPr/>
        </p:nvSpPr>
        <p:spPr>
          <a:xfrm>
            <a:off x="457200" y="1783080"/>
            <a:ext cx="4114800" cy="1371600"/>
          </a:xfrm>
          <a:prstGeom prst="rect">
            <a:avLst/>
          </a:prstGeom>
          <a:solidFill>
            <a:srgbClr val="FFFFFF"/>
          </a:solidFill>
          <a:ln w="12700">
            <a:solidFill>
              <a:srgbClr val="FFFFFF"/>
            </a:solidFill>
            <a:prstDash val="solid"/>
          </a:ln>
          <a:effectLst>
            <a:outerShdw blurRad="63500" dist="25400" dir="8100000" algn="bl" rotWithShape="0">
              <a:srgbClr val="000000">
                <a:alpha val="8000"/>
              </a:srgbClr>
            </a:outerShdw>
          </a:effectLst>
        </p:spPr>
        <p:txBody>
          <a:bodyPr/>
          <a:lstStyle/>
          <a:p>
            <a:endParaRPr lang="en-US"/>
          </a:p>
        </p:txBody>
      </p:sp>
      <p:sp>
        <p:nvSpPr>
          <p:cNvPr id="10" name="Shape 7"/>
          <p:cNvSpPr/>
          <p:nvPr/>
        </p:nvSpPr>
        <p:spPr>
          <a:xfrm>
            <a:off x="594360" y="1874520"/>
            <a:ext cx="640080" cy="640080"/>
          </a:xfrm>
          <a:prstGeom prst="line">
            <a:avLst/>
          </a:prstGeom>
          <a:solidFill>
            <a:srgbClr val="626EFF"/>
          </a:solidFill>
          <a:ln w="12700">
            <a:solidFill>
              <a:srgbClr val="626EFF"/>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658368" y="1938528"/>
            <a:ext cx="512064" cy="512064"/>
          </a:xfrm>
          <a:prstGeom prst="rect">
            <a:avLst/>
          </a:prstGeom>
        </p:spPr>
      </p:pic>
      <p:sp>
        <p:nvSpPr>
          <p:cNvPr id="12" name="Text 8"/>
          <p:cNvSpPr/>
          <p:nvPr/>
        </p:nvSpPr>
        <p:spPr>
          <a:xfrm>
            <a:off x="1371600" y="1856232"/>
            <a:ext cx="3017520" cy="347472"/>
          </a:xfrm>
          <a:prstGeom prst="rect">
            <a:avLst/>
          </a:prstGeom>
          <a:noFill/>
          <a:ln/>
        </p:spPr>
        <p:txBody>
          <a:bodyPr wrap="square" lIns="0" tIns="0" rIns="0" bIns="0" rtlCol="0" anchor="ctr"/>
          <a:lstStyle/>
          <a:p>
            <a:pPr marL="0" indent="0">
              <a:buNone/>
            </a:pPr>
            <a:r>
              <a:rPr lang="en-US" sz="1300" b="1" dirty="0">
                <a:solidFill>
                  <a:srgbClr val="211B41"/>
                </a:solidFill>
                <a:latin typeface="Calibri" pitchFamily="34" charset="0"/>
                <a:ea typeface="Calibri" pitchFamily="34" charset="-122"/>
                <a:cs typeface="Calibri" pitchFamily="34" charset="-120"/>
              </a:rPr>
              <a:t>RAG grounding</a:t>
            </a:r>
            <a:endParaRPr lang="en-US" sz="1300" dirty="0"/>
          </a:p>
        </p:txBody>
      </p:sp>
      <p:sp>
        <p:nvSpPr>
          <p:cNvPr id="13" name="Text 9"/>
          <p:cNvSpPr/>
          <p:nvPr/>
        </p:nvSpPr>
        <p:spPr>
          <a:xfrm>
            <a:off x="1371600" y="2240280"/>
            <a:ext cx="3063240" cy="822960"/>
          </a:xfrm>
          <a:prstGeom prst="rect">
            <a:avLst/>
          </a:prstGeom>
          <a:noFill/>
          <a:ln/>
        </p:spPr>
        <p:txBody>
          <a:bodyPr wrap="square" lIns="0" tIns="0" rIns="0" bIns="0" rtlCol="0" anchor="ctr"/>
          <a:lstStyle/>
          <a:p>
            <a:pPr marL="0" indent="0">
              <a:buNone/>
            </a:pPr>
            <a:r>
              <a:rPr lang="en-US" sz="1100" dirty="0">
                <a:solidFill>
                  <a:srgbClr val="211B41"/>
                </a:solidFill>
                <a:latin typeface="Calibri" pitchFamily="34" charset="0"/>
                <a:ea typeface="Calibri" pitchFamily="34" charset="-122"/>
                <a:cs typeface="Calibri" pitchFamily="34" charset="-120"/>
              </a:rPr>
              <a:t>Force the AI to retrieve and cite sources. If it can't find a source, it says so. Answers are traceable — and auditable.</a:t>
            </a:r>
            <a:endParaRPr lang="en-US" sz="1100" dirty="0"/>
          </a:p>
        </p:txBody>
      </p:sp>
      <p:sp>
        <p:nvSpPr>
          <p:cNvPr id="14" name="Shape 10"/>
          <p:cNvSpPr/>
          <p:nvPr/>
        </p:nvSpPr>
        <p:spPr>
          <a:xfrm>
            <a:off x="4800600" y="1783080"/>
            <a:ext cx="4114800" cy="1371600"/>
          </a:xfrm>
          <a:prstGeom prst="rect">
            <a:avLst/>
          </a:prstGeom>
          <a:solidFill>
            <a:srgbClr val="FFFFFF"/>
          </a:solidFill>
          <a:ln w="12700">
            <a:solidFill>
              <a:srgbClr val="FFFFFF"/>
            </a:solidFill>
            <a:prstDash val="solid"/>
          </a:ln>
          <a:effectLst>
            <a:outerShdw blurRad="63500" dist="25400" dir="8100000" algn="bl" rotWithShape="0">
              <a:srgbClr val="000000">
                <a:alpha val="8000"/>
              </a:srgbClr>
            </a:outerShdw>
          </a:effectLst>
        </p:spPr>
        <p:txBody>
          <a:bodyPr/>
          <a:lstStyle/>
          <a:p>
            <a:endParaRPr lang="en-US"/>
          </a:p>
        </p:txBody>
      </p:sp>
      <p:sp>
        <p:nvSpPr>
          <p:cNvPr id="15" name="Shape 11"/>
          <p:cNvSpPr/>
          <p:nvPr/>
        </p:nvSpPr>
        <p:spPr>
          <a:xfrm>
            <a:off x="4937760" y="1874520"/>
            <a:ext cx="640080" cy="640080"/>
          </a:xfrm>
          <a:prstGeom prst="line">
            <a:avLst/>
          </a:prstGeom>
          <a:solidFill>
            <a:srgbClr val="626EFF"/>
          </a:solidFill>
          <a:ln w="12700">
            <a:solidFill>
              <a:srgbClr val="626EFF"/>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5001768" y="1938528"/>
            <a:ext cx="512064" cy="512064"/>
          </a:xfrm>
          <a:prstGeom prst="rect">
            <a:avLst/>
          </a:prstGeom>
        </p:spPr>
      </p:pic>
      <p:sp>
        <p:nvSpPr>
          <p:cNvPr id="17" name="Text 12"/>
          <p:cNvSpPr/>
          <p:nvPr/>
        </p:nvSpPr>
        <p:spPr>
          <a:xfrm>
            <a:off x="5715000" y="1856232"/>
            <a:ext cx="3017520" cy="347472"/>
          </a:xfrm>
          <a:prstGeom prst="rect">
            <a:avLst/>
          </a:prstGeom>
          <a:noFill/>
          <a:ln/>
        </p:spPr>
        <p:txBody>
          <a:bodyPr wrap="square" lIns="0" tIns="0" rIns="0" bIns="0" rtlCol="0" anchor="ctr"/>
          <a:lstStyle/>
          <a:p>
            <a:pPr marL="0" indent="0">
              <a:buNone/>
            </a:pPr>
            <a:r>
              <a:rPr lang="en-US" sz="1300" b="1" dirty="0">
                <a:solidFill>
                  <a:srgbClr val="211B41"/>
                </a:solidFill>
                <a:latin typeface="Calibri" pitchFamily="34" charset="0"/>
                <a:ea typeface="Calibri" pitchFamily="34" charset="-122"/>
                <a:cs typeface="Calibri" pitchFamily="34" charset="-120"/>
              </a:rPr>
              <a:t>Structured outputs</a:t>
            </a:r>
            <a:endParaRPr lang="en-US" sz="1300" dirty="0"/>
          </a:p>
        </p:txBody>
      </p:sp>
      <p:sp>
        <p:nvSpPr>
          <p:cNvPr id="18" name="Text 13"/>
          <p:cNvSpPr/>
          <p:nvPr/>
        </p:nvSpPr>
        <p:spPr>
          <a:xfrm>
            <a:off x="5715000" y="2240280"/>
            <a:ext cx="3063240" cy="822960"/>
          </a:xfrm>
          <a:prstGeom prst="rect">
            <a:avLst/>
          </a:prstGeom>
          <a:noFill/>
          <a:ln/>
        </p:spPr>
        <p:txBody>
          <a:bodyPr wrap="square" lIns="0" tIns="0" rIns="0" bIns="0" rtlCol="0" anchor="ctr"/>
          <a:lstStyle/>
          <a:p>
            <a:pPr marL="0" indent="0">
              <a:buNone/>
            </a:pPr>
            <a:r>
              <a:rPr lang="en-US" sz="1100" dirty="0">
                <a:solidFill>
                  <a:srgbClr val="211B41"/>
                </a:solidFill>
                <a:latin typeface="Calibri" pitchFamily="34" charset="0"/>
                <a:ea typeface="Calibri" pitchFamily="34" charset="-122"/>
                <a:cs typeface="Calibri" pitchFamily="34" charset="-120"/>
              </a:rPr>
              <a:t>Constrain the answer format. A response with 'Confidence: 87% | Source: Product Manual p.12' is much harder to hallucinate convincingly.</a:t>
            </a:r>
            <a:endParaRPr lang="en-US" sz="1100" dirty="0"/>
          </a:p>
        </p:txBody>
      </p:sp>
      <p:sp>
        <p:nvSpPr>
          <p:cNvPr id="19" name="Shape 14"/>
          <p:cNvSpPr/>
          <p:nvPr/>
        </p:nvSpPr>
        <p:spPr>
          <a:xfrm>
            <a:off x="457200" y="3291840"/>
            <a:ext cx="4114800" cy="1371600"/>
          </a:xfrm>
          <a:prstGeom prst="rect">
            <a:avLst/>
          </a:prstGeom>
          <a:solidFill>
            <a:srgbClr val="FFFFFF"/>
          </a:solidFill>
          <a:ln w="12700">
            <a:solidFill>
              <a:srgbClr val="FFFFFF"/>
            </a:solidFill>
            <a:prstDash val="solid"/>
          </a:ln>
          <a:effectLst>
            <a:outerShdw blurRad="63500" dist="25400" dir="8100000" algn="bl" rotWithShape="0">
              <a:srgbClr val="000000">
                <a:alpha val="8000"/>
              </a:srgbClr>
            </a:outerShdw>
          </a:effectLst>
        </p:spPr>
        <p:txBody>
          <a:bodyPr/>
          <a:lstStyle/>
          <a:p>
            <a:endParaRPr lang="en-US"/>
          </a:p>
        </p:txBody>
      </p:sp>
      <p:sp>
        <p:nvSpPr>
          <p:cNvPr id="20" name="Shape 15"/>
          <p:cNvSpPr/>
          <p:nvPr/>
        </p:nvSpPr>
        <p:spPr>
          <a:xfrm>
            <a:off x="594360" y="3383280"/>
            <a:ext cx="640080" cy="640080"/>
          </a:xfrm>
          <a:prstGeom prst="line">
            <a:avLst/>
          </a:prstGeom>
          <a:solidFill>
            <a:srgbClr val="626EFF"/>
          </a:solidFill>
          <a:ln w="12700">
            <a:solidFill>
              <a:srgbClr val="626EFF"/>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658368" y="3447288"/>
            <a:ext cx="512064" cy="512064"/>
          </a:xfrm>
          <a:prstGeom prst="rect">
            <a:avLst/>
          </a:prstGeom>
        </p:spPr>
      </p:pic>
      <p:sp>
        <p:nvSpPr>
          <p:cNvPr id="22" name="Text 16"/>
          <p:cNvSpPr/>
          <p:nvPr/>
        </p:nvSpPr>
        <p:spPr>
          <a:xfrm>
            <a:off x="1371600" y="3364992"/>
            <a:ext cx="3017520" cy="347472"/>
          </a:xfrm>
          <a:prstGeom prst="rect">
            <a:avLst/>
          </a:prstGeom>
          <a:noFill/>
          <a:ln/>
        </p:spPr>
        <p:txBody>
          <a:bodyPr wrap="square" lIns="0" tIns="0" rIns="0" bIns="0" rtlCol="0" anchor="ctr"/>
          <a:lstStyle/>
          <a:p>
            <a:pPr marL="0" indent="0">
              <a:buNone/>
            </a:pPr>
            <a:r>
              <a:rPr lang="en-US" sz="1300" b="1" dirty="0">
                <a:solidFill>
                  <a:srgbClr val="211B41"/>
                </a:solidFill>
                <a:latin typeface="Calibri" pitchFamily="34" charset="0"/>
                <a:ea typeface="Calibri" pitchFamily="34" charset="-122"/>
                <a:cs typeface="Calibri" pitchFamily="34" charset="-120"/>
              </a:rPr>
              <a:t>Human-in-the-loop</a:t>
            </a:r>
            <a:endParaRPr lang="en-US" sz="1300" dirty="0"/>
          </a:p>
        </p:txBody>
      </p:sp>
      <p:sp>
        <p:nvSpPr>
          <p:cNvPr id="23" name="Text 17"/>
          <p:cNvSpPr/>
          <p:nvPr/>
        </p:nvSpPr>
        <p:spPr>
          <a:xfrm>
            <a:off x="1371600" y="3749040"/>
            <a:ext cx="3063240" cy="822960"/>
          </a:xfrm>
          <a:prstGeom prst="rect">
            <a:avLst/>
          </a:prstGeom>
          <a:noFill/>
          <a:ln/>
        </p:spPr>
        <p:txBody>
          <a:bodyPr wrap="square" lIns="0" tIns="0" rIns="0" bIns="0" rtlCol="0" anchor="ctr"/>
          <a:lstStyle/>
          <a:p>
            <a:pPr marL="0" indent="0">
              <a:buNone/>
            </a:pPr>
            <a:r>
              <a:rPr lang="en-US" sz="1100" dirty="0">
                <a:solidFill>
                  <a:srgbClr val="211B41"/>
                </a:solidFill>
                <a:latin typeface="Calibri" pitchFamily="34" charset="0"/>
                <a:ea typeface="Calibri" pitchFamily="34" charset="-122"/>
                <a:cs typeface="Calibri" pitchFamily="34" charset="-120"/>
              </a:rPr>
              <a:t>For high-stakes outputs (credit decisions, compliance advice), AI drafts — human approves. Not a workaround. A design principle.</a:t>
            </a:r>
            <a:endParaRPr lang="en-US" sz="1100" dirty="0"/>
          </a:p>
        </p:txBody>
      </p:sp>
      <p:sp>
        <p:nvSpPr>
          <p:cNvPr id="24" name="Shape 18"/>
          <p:cNvSpPr/>
          <p:nvPr/>
        </p:nvSpPr>
        <p:spPr>
          <a:xfrm>
            <a:off x="4800600" y="3291840"/>
            <a:ext cx="4114800" cy="1371600"/>
          </a:xfrm>
          <a:prstGeom prst="rect">
            <a:avLst/>
          </a:prstGeom>
          <a:solidFill>
            <a:srgbClr val="FFFFFF"/>
          </a:solidFill>
          <a:ln w="12700">
            <a:solidFill>
              <a:srgbClr val="FFFFFF"/>
            </a:solidFill>
            <a:prstDash val="solid"/>
          </a:ln>
          <a:effectLst>
            <a:outerShdw blurRad="63500" dist="25400" dir="8100000" algn="bl" rotWithShape="0">
              <a:srgbClr val="000000">
                <a:alpha val="8000"/>
              </a:srgbClr>
            </a:outerShdw>
          </a:effectLst>
        </p:spPr>
        <p:txBody>
          <a:bodyPr/>
          <a:lstStyle/>
          <a:p>
            <a:endParaRPr lang="en-US"/>
          </a:p>
        </p:txBody>
      </p:sp>
      <p:sp>
        <p:nvSpPr>
          <p:cNvPr id="25" name="Shape 19"/>
          <p:cNvSpPr/>
          <p:nvPr/>
        </p:nvSpPr>
        <p:spPr>
          <a:xfrm>
            <a:off x="4937760" y="3383280"/>
            <a:ext cx="640080" cy="640080"/>
          </a:xfrm>
          <a:prstGeom prst="line">
            <a:avLst/>
          </a:prstGeom>
          <a:solidFill>
            <a:srgbClr val="626EFF"/>
          </a:solidFill>
          <a:ln w="12700">
            <a:solidFill>
              <a:srgbClr val="626EFF"/>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5001768" y="3447288"/>
            <a:ext cx="512064" cy="512064"/>
          </a:xfrm>
          <a:prstGeom prst="rect">
            <a:avLst/>
          </a:prstGeom>
        </p:spPr>
      </p:pic>
      <p:sp>
        <p:nvSpPr>
          <p:cNvPr id="27" name="Text 20"/>
          <p:cNvSpPr/>
          <p:nvPr/>
        </p:nvSpPr>
        <p:spPr>
          <a:xfrm>
            <a:off x="5715000" y="3364992"/>
            <a:ext cx="3017520" cy="347472"/>
          </a:xfrm>
          <a:prstGeom prst="rect">
            <a:avLst/>
          </a:prstGeom>
          <a:noFill/>
          <a:ln/>
        </p:spPr>
        <p:txBody>
          <a:bodyPr wrap="square" lIns="0" tIns="0" rIns="0" bIns="0" rtlCol="0" anchor="ctr"/>
          <a:lstStyle/>
          <a:p>
            <a:pPr marL="0" indent="0">
              <a:buNone/>
            </a:pPr>
            <a:r>
              <a:rPr lang="en-US" sz="1300" b="1" dirty="0">
                <a:solidFill>
                  <a:srgbClr val="211B41"/>
                </a:solidFill>
                <a:latin typeface="Calibri" pitchFamily="34" charset="0"/>
                <a:ea typeface="Calibri" pitchFamily="34" charset="-122"/>
                <a:cs typeface="Calibri" pitchFamily="34" charset="-120"/>
              </a:rPr>
              <a:t>Eval &amp; testing</a:t>
            </a:r>
            <a:endParaRPr lang="en-US" sz="1300" dirty="0"/>
          </a:p>
        </p:txBody>
      </p:sp>
      <p:sp>
        <p:nvSpPr>
          <p:cNvPr id="28" name="Text 21"/>
          <p:cNvSpPr/>
          <p:nvPr/>
        </p:nvSpPr>
        <p:spPr>
          <a:xfrm>
            <a:off x="5715000" y="3749040"/>
            <a:ext cx="3063240" cy="822960"/>
          </a:xfrm>
          <a:prstGeom prst="rect">
            <a:avLst/>
          </a:prstGeom>
          <a:noFill/>
          <a:ln/>
        </p:spPr>
        <p:txBody>
          <a:bodyPr wrap="square" lIns="0" tIns="0" rIns="0" bIns="0" rtlCol="0" anchor="ctr"/>
          <a:lstStyle/>
          <a:p>
            <a:pPr marL="0" indent="0">
              <a:buNone/>
            </a:pPr>
            <a:r>
              <a:rPr lang="en-US" sz="1100" dirty="0">
                <a:solidFill>
                  <a:srgbClr val="211B41"/>
                </a:solidFill>
                <a:latin typeface="Calibri" pitchFamily="34" charset="0"/>
                <a:ea typeface="Calibri" pitchFamily="34" charset="-122"/>
                <a:cs typeface="Calibri" pitchFamily="34" charset="-120"/>
              </a:rPr>
              <a:t>Build test sets of known-correct answers. Run them regularly. Measure hallucination rates. Treat it like any other quality metric.</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211B41"/>
        </a:solidFill>
        <a:effectLst/>
      </p:bgPr>
    </p:bg>
    <p:spTree>
      <p:nvGrpSpPr>
        <p:cNvPr id="1" name=""/>
        <p:cNvGrpSpPr/>
        <p:nvPr/>
      </p:nvGrpSpPr>
      <p:grpSpPr>
        <a:xfrm>
          <a:off x="0" y="0"/>
          <a:ext cx="0" cy="0"/>
          <a:chOff x="0" y="0"/>
          <a:chExt cx="0" cy="0"/>
        </a:xfrm>
      </p:grpSpPr>
      <p:sp>
        <p:nvSpPr>
          <p:cNvPr id="2" name="Text 0"/>
          <p:cNvSpPr/>
          <p:nvPr/>
        </p:nvSpPr>
        <p:spPr>
          <a:xfrm>
            <a:off x="5943600" y="-365760"/>
            <a:ext cx="3474720" cy="4572000"/>
          </a:xfrm>
          <a:prstGeom prst="rect">
            <a:avLst/>
          </a:prstGeom>
          <a:noFill/>
          <a:ln/>
        </p:spPr>
        <p:txBody>
          <a:bodyPr wrap="square" lIns="0" tIns="0" rIns="0" bIns="0" rtlCol="0" anchor="ctr"/>
          <a:lstStyle/>
          <a:p>
            <a:pPr marL="0" indent="0" algn="r">
              <a:buNone/>
            </a:pPr>
            <a:r>
              <a:rPr lang="en-US" sz="32000" b="1" dirty="0">
                <a:solidFill>
                  <a:srgbClr val="2E2458"/>
                </a:solidFill>
                <a:latin typeface="Georgia" pitchFamily="34" charset="0"/>
                <a:ea typeface="Georgia" pitchFamily="34" charset="-122"/>
                <a:cs typeface="Georgia" pitchFamily="34" charset="-120"/>
              </a:rPr>
              <a:t>6</a:t>
            </a:r>
            <a:endParaRPr lang="en-US" sz="32000" dirty="0"/>
          </a:p>
        </p:txBody>
      </p:sp>
      <p:sp>
        <p:nvSpPr>
          <p:cNvPr id="3" name="Shape 1"/>
          <p:cNvSpPr/>
          <p:nvPr/>
        </p:nvSpPr>
        <p:spPr>
          <a:xfrm>
            <a:off x="0" y="0"/>
            <a:ext cx="109728" cy="5143500"/>
          </a:xfrm>
          <a:prstGeom prst="rect">
            <a:avLst/>
          </a:prstGeom>
          <a:solidFill>
            <a:srgbClr val="626EFF"/>
          </a:solidFill>
          <a:ln w="12700">
            <a:solidFill>
              <a:srgbClr val="626EFF"/>
            </a:solidFill>
            <a:prstDash val="solid"/>
          </a:ln>
        </p:spPr>
        <p:txBody>
          <a:bodyPr/>
          <a:lstStyle/>
          <a:p>
            <a:endParaRPr lang="en-US"/>
          </a:p>
        </p:txBody>
      </p:sp>
      <p:sp>
        <p:nvSpPr>
          <p:cNvPr id="4" name="Text 2"/>
          <p:cNvSpPr/>
          <p:nvPr/>
        </p:nvSpPr>
        <p:spPr>
          <a:xfrm>
            <a:off x="320040" y="1280160"/>
            <a:ext cx="5486400" cy="411480"/>
          </a:xfrm>
          <a:prstGeom prst="rect">
            <a:avLst/>
          </a:prstGeom>
          <a:noFill/>
          <a:ln/>
        </p:spPr>
        <p:txBody>
          <a:bodyPr wrap="square" lIns="0" tIns="0" rIns="0" bIns="0" rtlCol="0" anchor="ctr"/>
          <a:lstStyle/>
          <a:p>
            <a:pPr marL="0" indent="0">
              <a:buNone/>
            </a:pPr>
            <a:r>
              <a:rPr lang="en-US" sz="1300" b="1" kern="0" spc="400" dirty="0">
                <a:solidFill>
                  <a:srgbClr val="F0B20D"/>
                </a:solidFill>
                <a:latin typeface="Calibri" pitchFamily="34" charset="0"/>
                <a:ea typeface="Calibri" pitchFamily="34" charset="-122"/>
                <a:cs typeface="Calibri" pitchFamily="34" charset="-120"/>
              </a:rPr>
              <a:t>MODULE 6</a:t>
            </a:r>
            <a:endParaRPr lang="en-US" sz="1300" dirty="0"/>
          </a:p>
        </p:txBody>
      </p:sp>
      <p:sp>
        <p:nvSpPr>
          <p:cNvPr id="5" name="Text 3"/>
          <p:cNvSpPr/>
          <p:nvPr/>
        </p:nvSpPr>
        <p:spPr>
          <a:xfrm>
            <a:off x="320040" y="1737360"/>
            <a:ext cx="6858000" cy="1645920"/>
          </a:xfrm>
          <a:prstGeom prst="rect">
            <a:avLst/>
          </a:prstGeom>
          <a:noFill/>
          <a:ln/>
        </p:spPr>
        <p:txBody>
          <a:bodyPr wrap="square" lIns="0" tIns="0" rIns="0" bIns="0" rtlCol="0" anchor="ctr"/>
          <a:lstStyle/>
          <a:p>
            <a:pPr marL="0" indent="0">
              <a:buNone/>
            </a:pPr>
            <a:r>
              <a:rPr lang="en-US" sz="4200" b="1" dirty="0">
                <a:solidFill>
                  <a:srgbClr val="FFFFFF"/>
                </a:solidFill>
                <a:latin typeface="Georgia" pitchFamily="34" charset="0"/>
                <a:ea typeface="Georgia" pitchFamily="34" charset="-122"/>
                <a:cs typeface="Georgia" pitchFamily="34" charset="-120"/>
              </a:rPr>
              <a:t>Talking to AI</a:t>
            </a:r>
            <a:endParaRPr lang="en-US" sz="4200" dirty="0"/>
          </a:p>
          <a:p>
            <a:pPr marL="0" indent="0">
              <a:buNone/>
            </a:pPr>
            <a:r>
              <a:rPr lang="en-US" sz="4200" b="1" dirty="0">
                <a:solidFill>
                  <a:srgbClr val="FFFFFF"/>
                </a:solidFill>
                <a:latin typeface="Georgia" pitchFamily="34" charset="0"/>
                <a:ea typeface="Georgia" pitchFamily="34" charset="-122"/>
                <a:cs typeface="Georgia" pitchFamily="34" charset="-120"/>
              </a:rPr>
              <a:t>Like a Pro</a:t>
            </a:r>
            <a:endParaRPr lang="en-US" sz="4200" dirty="0"/>
          </a:p>
        </p:txBody>
      </p:sp>
      <p:sp>
        <p:nvSpPr>
          <p:cNvPr id="6" name="Text 4"/>
          <p:cNvSpPr/>
          <p:nvPr/>
        </p:nvSpPr>
        <p:spPr>
          <a:xfrm>
            <a:off x="320040" y="3429000"/>
            <a:ext cx="5943600" cy="640080"/>
          </a:xfrm>
          <a:prstGeom prst="rect">
            <a:avLst/>
          </a:prstGeom>
          <a:noFill/>
          <a:ln/>
        </p:spPr>
        <p:txBody>
          <a:bodyPr wrap="square" lIns="0" tIns="0" rIns="0" bIns="0" rtlCol="0" anchor="ctr"/>
          <a:lstStyle/>
          <a:p>
            <a:pPr marL="0" indent="0">
              <a:buNone/>
            </a:pPr>
            <a:r>
              <a:rPr lang="en-US" sz="1600" i="1" dirty="0">
                <a:solidFill>
                  <a:srgbClr val="8F96FF"/>
                </a:solidFill>
                <a:latin typeface="Calibri" pitchFamily="34" charset="0"/>
                <a:ea typeface="Calibri" pitchFamily="34" charset="-122"/>
                <a:cs typeface="Calibri" pitchFamily="34" charset="-120"/>
              </a:rPr>
              <a:t>Prompt engineering, context engineering, and the art of the well-placed nudge</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FF4E0"/>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600" b="1" dirty="0">
                <a:solidFill>
                  <a:srgbClr val="211B41"/>
                </a:solidFill>
                <a:latin typeface="Georgia" pitchFamily="34" charset="0"/>
                <a:ea typeface="Georgia" pitchFamily="34" charset="-122"/>
                <a:cs typeface="Georgia" pitchFamily="34" charset="-120"/>
              </a:rPr>
              <a:t>Prompt Engineering: The Brief That Actually Gets the Job Done</a:t>
            </a:r>
            <a:endParaRPr lang="en-US" sz="2600" dirty="0"/>
          </a:p>
        </p:txBody>
      </p:sp>
      <p:sp>
        <p:nvSpPr>
          <p:cNvPr id="3" name="Shape 1"/>
          <p:cNvSpPr/>
          <p:nvPr/>
        </p:nvSpPr>
        <p:spPr>
          <a:xfrm>
            <a:off x="457200" y="822960"/>
            <a:ext cx="8229600" cy="27432"/>
          </a:xfrm>
          <a:prstGeom prst="rect">
            <a:avLst/>
          </a:prstGeom>
          <a:solidFill>
            <a:srgbClr val="BBCE8E"/>
          </a:solidFill>
          <a:ln w="12700">
            <a:solidFill>
              <a:srgbClr val="BBCE8E"/>
            </a:solidFill>
            <a:prstDash val="solid"/>
          </a:ln>
        </p:spPr>
        <p:txBody>
          <a:bodyPr/>
          <a:lstStyle/>
          <a:p>
            <a:endParaRPr lang="en-US"/>
          </a:p>
        </p:txBody>
      </p:sp>
      <p:sp>
        <p:nvSpPr>
          <p:cNvPr id="4" name="Shape 2"/>
          <p:cNvSpPr/>
          <p:nvPr/>
        </p:nvSpPr>
        <p:spPr>
          <a:xfrm>
            <a:off x="0" y="4919472"/>
            <a:ext cx="9144000" cy="224028"/>
          </a:xfrm>
          <a:prstGeom prst="rect">
            <a:avLst/>
          </a:prstGeom>
          <a:solidFill>
            <a:srgbClr val="BBCE8E"/>
          </a:solidFill>
          <a:ln w="12700">
            <a:solidFill>
              <a:srgbClr val="BBCE8E"/>
            </a:solidFill>
            <a:prstDash val="solid"/>
          </a:ln>
        </p:spPr>
        <p:txBody>
          <a:bodyPr/>
          <a:lstStyle/>
          <a:p>
            <a:endParaRPr lang="en-US"/>
          </a:p>
        </p:txBody>
      </p:sp>
      <p:sp>
        <p:nvSpPr>
          <p:cNvPr id="5" name="Text 3"/>
          <p:cNvSpPr/>
          <p:nvPr/>
        </p:nvSpPr>
        <p:spPr>
          <a:xfrm>
            <a:off x="274320" y="4928616"/>
            <a:ext cx="8595360" cy="201168"/>
          </a:xfrm>
          <a:prstGeom prst="rect">
            <a:avLst/>
          </a:prstGeom>
          <a:noFill/>
          <a:ln/>
        </p:spPr>
        <p:txBody>
          <a:bodyPr wrap="square" lIns="0" tIns="0" rIns="0" bIns="0" rtlCol="0" anchor="ctr"/>
          <a:lstStyle/>
          <a:p>
            <a:pPr marL="0" indent="0">
              <a:buNone/>
            </a:pPr>
            <a:r>
              <a:rPr lang="en-US" sz="900" dirty="0">
                <a:solidFill>
                  <a:srgbClr val="4A7A82"/>
                </a:solidFill>
                <a:latin typeface="Calibri" pitchFamily="34" charset="0"/>
                <a:ea typeface="Calibri" pitchFamily="34" charset="-122"/>
                <a:cs typeface="Calibri" pitchFamily="34" charset="-120"/>
              </a:rPr>
              <a:t>Blockstruct GmbH  ·  AI Demystified Workshop  ·  UniCredit  ·  April 2026</a:t>
            </a:r>
            <a:endParaRPr lang="en-US" sz="900" dirty="0"/>
          </a:p>
        </p:txBody>
      </p:sp>
      <p:sp>
        <p:nvSpPr>
          <p:cNvPr id="6" name="Text 4"/>
          <p:cNvSpPr/>
          <p:nvPr/>
        </p:nvSpPr>
        <p:spPr>
          <a:xfrm>
            <a:off x="457200" y="914400"/>
            <a:ext cx="8229600" cy="548640"/>
          </a:xfrm>
          <a:prstGeom prst="rect">
            <a:avLst/>
          </a:prstGeom>
          <a:noFill/>
          <a:ln/>
        </p:spPr>
        <p:txBody>
          <a:bodyPr wrap="square" lIns="0" tIns="0" rIns="0" bIns="0" rtlCol="0" anchor="ctr"/>
          <a:lstStyle/>
          <a:p>
            <a:pPr marL="0" indent="0">
              <a:buNone/>
            </a:pPr>
            <a:r>
              <a:rPr lang="en-US" sz="1300" dirty="0">
                <a:solidFill>
                  <a:srgbClr val="211B41"/>
                </a:solidFill>
                <a:latin typeface="Calibri" pitchFamily="34" charset="0"/>
                <a:ea typeface="Calibri" pitchFamily="34" charset="-122"/>
                <a:cs typeface="Calibri" pitchFamily="34" charset="-120"/>
              </a:rPr>
              <a:t>You wouldn't tell a new analyst 'make this better.' You'd give context, objectives, constraints, and examples.</a:t>
            </a:r>
            <a:endParaRPr lang="en-US" sz="1300" dirty="0"/>
          </a:p>
          <a:p>
            <a:pPr marL="0" indent="0">
              <a:buNone/>
            </a:pPr>
            <a:r>
              <a:rPr lang="en-US" sz="1300" dirty="0">
                <a:solidFill>
                  <a:srgbClr val="211B41"/>
                </a:solidFill>
                <a:latin typeface="Calibri" pitchFamily="34" charset="0"/>
                <a:ea typeface="Calibri" pitchFamily="34" charset="-122"/>
                <a:cs typeface="Calibri" pitchFamily="34" charset="-120"/>
              </a:rPr>
              <a:t>Prompt engineering is exactly that — applied to AI.</a:t>
            </a:r>
            <a:endParaRPr lang="en-US" sz="1300" dirty="0"/>
          </a:p>
        </p:txBody>
      </p:sp>
      <p:sp>
        <p:nvSpPr>
          <p:cNvPr id="7" name="Shape 5"/>
          <p:cNvSpPr/>
          <p:nvPr/>
        </p:nvSpPr>
        <p:spPr>
          <a:xfrm>
            <a:off x="457200" y="1600200"/>
            <a:ext cx="4114800" cy="3154680"/>
          </a:xfrm>
          <a:prstGeom prst="rect">
            <a:avLst/>
          </a:prstGeom>
          <a:solidFill>
            <a:srgbClr val="F8F9F4"/>
          </a:solidFill>
          <a:ln w="12700">
            <a:solidFill>
              <a:srgbClr val="BBCE8E"/>
            </a:solidFill>
            <a:prstDash val="solid"/>
          </a:ln>
          <a:effectLst>
            <a:outerShdw blurRad="63500" dist="25400" dir="8100000" algn="bl" rotWithShape="0">
              <a:srgbClr val="000000">
                <a:alpha val="8000"/>
              </a:srgbClr>
            </a:outerShdw>
          </a:effectLst>
        </p:spPr>
        <p:txBody>
          <a:bodyPr/>
          <a:lstStyle/>
          <a:p>
            <a:endParaRPr lang="en-US"/>
          </a:p>
        </p:txBody>
      </p:sp>
      <p:sp>
        <p:nvSpPr>
          <p:cNvPr id="8" name="Text 6"/>
          <p:cNvSpPr/>
          <p:nvPr/>
        </p:nvSpPr>
        <p:spPr>
          <a:xfrm>
            <a:off x="566928" y="1673352"/>
            <a:ext cx="3840480" cy="384048"/>
          </a:xfrm>
          <a:prstGeom prst="rect">
            <a:avLst/>
          </a:prstGeom>
          <a:noFill/>
          <a:ln/>
        </p:spPr>
        <p:txBody>
          <a:bodyPr wrap="square" lIns="0" tIns="0" rIns="0" bIns="0" rtlCol="0" anchor="ctr"/>
          <a:lstStyle/>
          <a:p>
            <a:pPr marL="0" indent="0">
              <a:buNone/>
            </a:pPr>
            <a:r>
              <a:rPr lang="en-US" sz="1350" b="1" dirty="0">
                <a:solidFill>
                  <a:srgbClr val="211B41"/>
                </a:solidFill>
                <a:latin typeface="Calibri" pitchFamily="34" charset="0"/>
                <a:ea typeface="Calibri" pitchFamily="34" charset="-122"/>
                <a:cs typeface="Calibri" pitchFamily="34" charset="-120"/>
              </a:rPr>
              <a:t>❌  Vague prompt</a:t>
            </a:r>
            <a:endParaRPr lang="en-US" sz="1350" dirty="0"/>
          </a:p>
        </p:txBody>
      </p:sp>
      <p:sp>
        <p:nvSpPr>
          <p:cNvPr id="9" name="Shape 7"/>
          <p:cNvSpPr/>
          <p:nvPr/>
        </p:nvSpPr>
        <p:spPr>
          <a:xfrm>
            <a:off x="566928" y="2084832"/>
            <a:ext cx="3749040" cy="27432"/>
          </a:xfrm>
          <a:prstGeom prst="rect">
            <a:avLst/>
          </a:prstGeom>
          <a:solidFill>
            <a:srgbClr val="BBCE8E"/>
          </a:solidFill>
          <a:ln w="12700">
            <a:solidFill>
              <a:srgbClr val="BBCE8E"/>
            </a:solidFill>
            <a:prstDash val="solid"/>
          </a:ln>
        </p:spPr>
        <p:txBody>
          <a:bodyPr/>
          <a:lstStyle/>
          <a:p>
            <a:endParaRPr lang="en-US"/>
          </a:p>
        </p:txBody>
      </p:sp>
      <p:sp>
        <p:nvSpPr>
          <p:cNvPr id="10" name="Text 8"/>
          <p:cNvSpPr/>
          <p:nvPr/>
        </p:nvSpPr>
        <p:spPr>
          <a:xfrm>
            <a:off x="566928" y="2176272"/>
            <a:ext cx="3840480" cy="1828800"/>
          </a:xfrm>
          <a:prstGeom prst="rect">
            <a:avLst/>
          </a:prstGeom>
          <a:noFill/>
          <a:ln/>
        </p:spPr>
        <p:txBody>
          <a:bodyPr wrap="square" lIns="0" tIns="0" rIns="0" bIns="0" rtlCol="0" anchor="ctr"/>
          <a:lstStyle/>
          <a:p>
            <a:pPr marL="0" indent="0">
              <a:buNone/>
            </a:pPr>
            <a:r>
              <a:rPr lang="en-US" sz="1200" i="1" dirty="0">
                <a:solidFill>
                  <a:srgbClr val="211B41"/>
                </a:solidFill>
                <a:latin typeface="Georgia" pitchFamily="34" charset="0"/>
                <a:ea typeface="Georgia" pitchFamily="34" charset="-122"/>
                <a:cs typeface="Georgia" pitchFamily="34" charset="-120"/>
              </a:rPr>
              <a:t>"Summarise this client meeting."</a:t>
            </a:r>
            <a:endParaRPr lang="en-US" sz="1200" dirty="0"/>
          </a:p>
        </p:txBody>
      </p:sp>
      <p:sp>
        <p:nvSpPr>
          <p:cNvPr id="11" name="Text 9"/>
          <p:cNvSpPr/>
          <p:nvPr/>
        </p:nvSpPr>
        <p:spPr>
          <a:xfrm>
            <a:off x="566928" y="4005072"/>
            <a:ext cx="3840480" cy="658368"/>
          </a:xfrm>
          <a:prstGeom prst="rect">
            <a:avLst/>
          </a:prstGeom>
          <a:noFill/>
          <a:ln/>
        </p:spPr>
        <p:txBody>
          <a:bodyPr wrap="square" lIns="0" tIns="0" rIns="0" bIns="0" rtlCol="0" anchor="ctr"/>
          <a:lstStyle/>
          <a:p>
            <a:pPr marL="0" indent="0">
              <a:buNone/>
            </a:pPr>
            <a:r>
              <a:rPr lang="en-US" sz="1050" i="1" dirty="0">
                <a:solidFill>
                  <a:srgbClr val="4A7A82"/>
                </a:solidFill>
                <a:latin typeface="Calibri" pitchFamily="34" charset="0"/>
                <a:ea typeface="Calibri" pitchFamily="34" charset="-122"/>
                <a:cs typeface="Calibri" pitchFamily="34" charset="-120"/>
              </a:rPr>
              <a:t>Result: generic 3-line paragraph that misses the point, invents a next step, and doesn't match your format.</a:t>
            </a:r>
            <a:endParaRPr lang="en-US" sz="1050" dirty="0"/>
          </a:p>
        </p:txBody>
      </p:sp>
      <p:sp>
        <p:nvSpPr>
          <p:cNvPr id="12" name="Shape 10"/>
          <p:cNvSpPr/>
          <p:nvPr/>
        </p:nvSpPr>
        <p:spPr>
          <a:xfrm>
            <a:off x="4800600" y="1600200"/>
            <a:ext cx="4114800" cy="3154680"/>
          </a:xfrm>
          <a:prstGeom prst="rect">
            <a:avLst/>
          </a:prstGeom>
          <a:solidFill>
            <a:srgbClr val="626EFF"/>
          </a:solidFill>
          <a:ln w="12700">
            <a:solidFill>
              <a:srgbClr val="626EFF"/>
            </a:solidFill>
            <a:prstDash val="solid"/>
          </a:ln>
          <a:effectLst>
            <a:outerShdw blurRad="63500" dist="25400" dir="8100000" algn="bl" rotWithShape="0">
              <a:srgbClr val="000000">
                <a:alpha val="8000"/>
              </a:srgbClr>
            </a:outerShdw>
          </a:effectLst>
        </p:spPr>
        <p:txBody>
          <a:bodyPr/>
          <a:lstStyle/>
          <a:p>
            <a:endParaRPr lang="en-US"/>
          </a:p>
        </p:txBody>
      </p:sp>
      <p:sp>
        <p:nvSpPr>
          <p:cNvPr id="13" name="Text 11"/>
          <p:cNvSpPr/>
          <p:nvPr/>
        </p:nvSpPr>
        <p:spPr>
          <a:xfrm>
            <a:off x="4910328" y="1673352"/>
            <a:ext cx="3840480" cy="384048"/>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  Engineered prompt</a:t>
            </a:r>
            <a:endParaRPr lang="en-US" sz="1350" dirty="0"/>
          </a:p>
        </p:txBody>
      </p:sp>
      <p:sp>
        <p:nvSpPr>
          <p:cNvPr id="14" name="Shape 12"/>
          <p:cNvSpPr/>
          <p:nvPr/>
        </p:nvSpPr>
        <p:spPr>
          <a:xfrm>
            <a:off x="4910328" y="2084832"/>
            <a:ext cx="3749040" cy="27432"/>
          </a:xfrm>
          <a:prstGeom prst="rect">
            <a:avLst/>
          </a:prstGeom>
          <a:solidFill>
            <a:srgbClr val="8F96FF"/>
          </a:solidFill>
          <a:ln w="12700">
            <a:solidFill>
              <a:srgbClr val="8F96FF"/>
            </a:solidFill>
            <a:prstDash val="solid"/>
          </a:ln>
        </p:spPr>
        <p:txBody>
          <a:bodyPr/>
          <a:lstStyle/>
          <a:p>
            <a:endParaRPr lang="en-US"/>
          </a:p>
        </p:txBody>
      </p:sp>
      <p:sp>
        <p:nvSpPr>
          <p:cNvPr id="15" name="Text 13"/>
          <p:cNvSpPr/>
          <p:nvPr/>
        </p:nvSpPr>
        <p:spPr>
          <a:xfrm>
            <a:off x="4910328" y="2176272"/>
            <a:ext cx="3840480" cy="1828800"/>
          </a:xfrm>
          <a:prstGeom prst="rect">
            <a:avLst/>
          </a:prstGeom>
          <a:noFill/>
          <a:ln/>
        </p:spPr>
        <p:txBody>
          <a:bodyPr wrap="square" lIns="0" tIns="0" rIns="0" bIns="0" rtlCol="0" anchor="ctr"/>
          <a:lstStyle/>
          <a:p>
            <a:pPr marL="0" indent="0">
              <a:buNone/>
            </a:pPr>
            <a:r>
              <a:rPr lang="en-US" sz="1200" i="1" dirty="0">
                <a:solidFill>
                  <a:srgbClr val="FFFFFF"/>
                </a:solidFill>
                <a:latin typeface="Georgia" pitchFamily="34" charset="0"/>
                <a:ea typeface="Georgia" pitchFamily="34" charset="-122"/>
                <a:cs typeface="Georgia" pitchFamily="34" charset="-120"/>
              </a:rPr>
              <a:t>"You are a senior relationship manager at UniCredit. Summarise this client meeting in 5 bullet points: client concerns raised, products discussed, commitments made, risks noted, and next actions with dates. Tone: professional, concise. Output in English."</a:t>
            </a:r>
            <a:endParaRPr lang="en-US" sz="1200" dirty="0"/>
          </a:p>
        </p:txBody>
      </p:sp>
      <p:sp>
        <p:nvSpPr>
          <p:cNvPr id="16" name="Text 14"/>
          <p:cNvSpPr/>
          <p:nvPr/>
        </p:nvSpPr>
        <p:spPr>
          <a:xfrm>
            <a:off x="4910328" y="4005072"/>
            <a:ext cx="3840480" cy="658368"/>
          </a:xfrm>
          <a:prstGeom prst="rect">
            <a:avLst/>
          </a:prstGeom>
          <a:noFill/>
          <a:ln/>
        </p:spPr>
        <p:txBody>
          <a:bodyPr wrap="square" lIns="0" tIns="0" rIns="0" bIns="0" rtlCol="0" anchor="ctr"/>
          <a:lstStyle/>
          <a:p>
            <a:pPr marL="0" indent="0">
              <a:buNone/>
            </a:pPr>
            <a:r>
              <a:rPr lang="en-US" sz="1050" i="1" dirty="0">
                <a:solidFill>
                  <a:srgbClr val="F8CE5A"/>
                </a:solidFill>
                <a:latin typeface="Calibri" pitchFamily="34" charset="0"/>
                <a:ea typeface="Calibri" pitchFamily="34" charset="-122"/>
                <a:cs typeface="Calibri" pitchFamily="34" charset="-120"/>
              </a:rPr>
              <a:t>Result: structured, accurate, immediately usable. Same model. Completely different output.</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211B41"/>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Context Engineering: The Next Frontier</a:t>
            </a:r>
            <a:endParaRPr lang="en-US" sz="2600" dirty="0"/>
          </a:p>
        </p:txBody>
      </p:sp>
      <p:sp>
        <p:nvSpPr>
          <p:cNvPr id="3" name="Shape 1"/>
          <p:cNvSpPr/>
          <p:nvPr/>
        </p:nvSpPr>
        <p:spPr>
          <a:xfrm>
            <a:off x="457200" y="822960"/>
            <a:ext cx="8229600" cy="27432"/>
          </a:xfrm>
          <a:prstGeom prst="rect">
            <a:avLst/>
          </a:prstGeom>
          <a:solidFill>
            <a:srgbClr val="2E2458"/>
          </a:solidFill>
          <a:ln w="12700">
            <a:solidFill>
              <a:srgbClr val="2E2458"/>
            </a:solidFill>
            <a:prstDash val="solid"/>
          </a:ln>
        </p:spPr>
        <p:txBody>
          <a:bodyPr/>
          <a:lstStyle/>
          <a:p>
            <a:endParaRPr lang="en-US"/>
          </a:p>
        </p:txBody>
      </p:sp>
      <p:sp>
        <p:nvSpPr>
          <p:cNvPr id="4" name="Shape 2"/>
          <p:cNvSpPr/>
          <p:nvPr/>
        </p:nvSpPr>
        <p:spPr>
          <a:xfrm>
            <a:off x="0" y="4919472"/>
            <a:ext cx="9144000" cy="224028"/>
          </a:xfrm>
          <a:prstGeom prst="rect">
            <a:avLst/>
          </a:prstGeom>
          <a:solidFill>
            <a:srgbClr val="2E2458"/>
          </a:solidFill>
          <a:ln w="12700">
            <a:solidFill>
              <a:srgbClr val="2E2458"/>
            </a:solidFill>
            <a:prstDash val="solid"/>
          </a:ln>
        </p:spPr>
        <p:txBody>
          <a:bodyPr/>
          <a:lstStyle/>
          <a:p>
            <a:endParaRPr lang="en-US"/>
          </a:p>
        </p:txBody>
      </p:sp>
      <p:sp>
        <p:nvSpPr>
          <p:cNvPr id="5" name="Text 3"/>
          <p:cNvSpPr/>
          <p:nvPr/>
        </p:nvSpPr>
        <p:spPr>
          <a:xfrm>
            <a:off x="274320" y="4928616"/>
            <a:ext cx="8595360" cy="201168"/>
          </a:xfrm>
          <a:prstGeom prst="rect">
            <a:avLst/>
          </a:prstGeom>
          <a:noFill/>
          <a:ln/>
        </p:spPr>
        <p:txBody>
          <a:bodyPr wrap="square" lIns="0" tIns="0" rIns="0" bIns="0" rtlCol="0" anchor="ctr"/>
          <a:lstStyle/>
          <a:p>
            <a:pPr marL="0" indent="0">
              <a:buNone/>
            </a:pPr>
            <a:r>
              <a:rPr lang="en-US" sz="900" dirty="0">
                <a:solidFill>
                  <a:srgbClr val="4A7A82"/>
                </a:solidFill>
                <a:latin typeface="Calibri" pitchFamily="34" charset="0"/>
                <a:ea typeface="Calibri" pitchFamily="34" charset="-122"/>
                <a:cs typeface="Calibri" pitchFamily="34" charset="-120"/>
              </a:rPr>
              <a:t>Blockstruct GmbH  ·  AI Demystified Workshop  ·  UniCredit  ·  April 2026</a:t>
            </a:r>
            <a:endParaRPr lang="en-US" sz="900" dirty="0"/>
          </a:p>
        </p:txBody>
      </p:sp>
      <p:sp>
        <p:nvSpPr>
          <p:cNvPr id="6" name="Text 4"/>
          <p:cNvSpPr/>
          <p:nvPr/>
        </p:nvSpPr>
        <p:spPr>
          <a:xfrm>
            <a:off x="457200" y="914400"/>
            <a:ext cx="8229600" cy="411480"/>
          </a:xfrm>
          <a:prstGeom prst="rect">
            <a:avLst/>
          </a:prstGeom>
          <a:noFill/>
          <a:ln/>
        </p:spPr>
        <p:txBody>
          <a:bodyPr wrap="square" lIns="0" tIns="0" rIns="0" bIns="0" rtlCol="0" anchor="ctr"/>
          <a:lstStyle/>
          <a:p>
            <a:pPr marL="0" indent="0">
              <a:buNone/>
            </a:pPr>
            <a:r>
              <a:rPr lang="en-US" sz="1500" i="1" dirty="0">
                <a:solidFill>
                  <a:srgbClr val="F0B20D"/>
                </a:solidFill>
                <a:latin typeface="Georgia" pitchFamily="34" charset="0"/>
                <a:ea typeface="Georgia" pitchFamily="34" charset="-122"/>
                <a:cs typeface="Georgia" pitchFamily="34" charset="-120"/>
              </a:rPr>
              <a:t>Prompt engineering is writing a good brief. Context engineering is designing the entire office.</a:t>
            </a:r>
            <a:endParaRPr lang="en-US" sz="1500" dirty="0"/>
          </a:p>
        </p:txBody>
      </p:sp>
      <p:sp>
        <p:nvSpPr>
          <p:cNvPr id="7" name="Text 5"/>
          <p:cNvSpPr/>
          <p:nvPr/>
        </p:nvSpPr>
        <p:spPr>
          <a:xfrm>
            <a:off x="457200" y="1417320"/>
            <a:ext cx="8229600" cy="41148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Everything the AI 'sees' shapes its response. Context engineering is the deliberate design of that entire environment.</a:t>
            </a:r>
            <a:endParaRPr lang="en-US" sz="1300" dirty="0"/>
          </a:p>
        </p:txBody>
      </p:sp>
      <p:sp>
        <p:nvSpPr>
          <p:cNvPr id="8" name="Shape 6"/>
          <p:cNvSpPr/>
          <p:nvPr/>
        </p:nvSpPr>
        <p:spPr>
          <a:xfrm>
            <a:off x="457200" y="1920240"/>
            <a:ext cx="8229600" cy="502920"/>
          </a:xfrm>
          <a:prstGeom prst="rect">
            <a:avLst/>
          </a:prstGeom>
          <a:solidFill>
            <a:srgbClr val="626EFF"/>
          </a:solidFill>
          <a:ln w="12700">
            <a:solidFill>
              <a:srgbClr val="626EFF"/>
            </a:solidFill>
            <a:prstDash val="solid"/>
          </a:ln>
        </p:spPr>
        <p:txBody>
          <a:bodyPr/>
          <a:lstStyle/>
          <a:p>
            <a:endParaRPr lang="en-US"/>
          </a:p>
        </p:txBody>
      </p:sp>
      <p:sp>
        <p:nvSpPr>
          <p:cNvPr id="9" name="Text 7"/>
          <p:cNvSpPr/>
          <p:nvPr/>
        </p:nvSpPr>
        <p:spPr>
          <a:xfrm>
            <a:off x="594360" y="1947672"/>
            <a:ext cx="2926080" cy="4480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5  System instructions</a:t>
            </a:r>
            <a:endParaRPr lang="en-US" sz="1200" dirty="0"/>
          </a:p>
        </p:txBody>
      </p:sp>
      <p:sp>
        <p:nvSpPr>
          <p:cNvPr id="10" name="Text 8"/>
          <p:cNvSpPr/>
          <p:nvPr/>
        </p:nvSpPr>
        <p:spPr>
          <a:xfrm>
            <a:off x="3566160" y="1965960"/>
            <a:ext cx="4937760" cy="420624"/>
          </a:xfrm>
          <a:prstGeom prst="rect">
            <a:avLst/>
          </a:prstGeom>
          <a:noFill/>
          <a:ln/>
        </p:spPr>
        <p:txBody>
          <a:bodyPr wrap="square" lIns="0" tIns="0" rIns="0" bIns="0" rtlCol="0" anchor="ctr"/>
          <a:lstStyle/>
          <a:p>
            <a:pPr marL="0" indent="0">
              <a:buNone/>
            </a:pPr>
            <a:r>
              <a:rPr lang="en-US" sz="1100" dirty="0">
                <a:solidFill>
                  <a:srgbClr val="8F96FF"/>
                </a:solidFill>
                <a:latin typeface="Calibri" pitchFamily="34" charset="0"/>
                <a:ea typeface="Calibri" pitchFamily="34" charset="-122"/>
                <a:cs typeface="Calibri" pitchFamily="34" charset="-120"/>
              </a:rPr>
              <a:t>Role, tone, output format, constraints, what to refuse — defined once, applied always</a:t>
            </a:r>
            <a:endParaRPr lang="en-US" sz="1100" dirty="0"/>
          </a:p>
        </p:txBody>
      </p:sp>
      <p:sp>
        <p:nvSpPr>
          <p:cNvPr id="11" name="Shape 9"/>
          <p:cNvSpPr/>
          <p:nvPr/>
        </p:nvSpPr>
        <p:spPr>
          <a:xfrm>
            <a:off x="457200" y="2487168"/>
            <a:ext cx="8229600" cy="502920"/>
          </a:xfrm>
          <a:prstGeom prst="rect">
            <a:avLst/>
          </a:prstGeom>
          <a:solidFill>
            <a:srgbClr val="5E4692"/>
          </a:solidFill>
          <a:ln w="12700">
            <a:solidFill>
              <a:srgbClr val="5E4692"/>
            </a:solidFill>
            <a:prstDash val="solid"/>
          </a:ln>
        </p:spPr>
        <p:txBody>
          <a:bodyPr/>
          <a:lstStyle/>
          <a:p>
            <a:endParaRPr lang="en-US"/>
          </a:p>
        </p:txBody>
      </p:sp>
      <p:sp>
        <p:nvSpPr>
          <p:cNvPr id="12" name="Text 10"/>
          <p:cNvSpPr/>
          <p:nvPr/>
        </p:nvSpPr>
        <p:spPr>
          <a:xfrm>
            <a:off x="594360" y="2514600"/>
            <a:ext cx="2926080" cy="4480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4  Conversation history</a:t>
            </a:r>
            <a:endParaRPr lang="en-US" sz="1200" dirty="0"/>
          </a:p>
        </p:txBody>
      </p:sp>
      <p:sp>
        <p:nvSpPr>
          <p:cNvPr id="13" name="Text 11"/>
          <p:cNvSpPr/>
          <p:nvPr/>
        </p:nvSpPr>
        <p:spPr>
          <a:xfrm>
            <a:off x="3566160" y="2532888"/>
            <a:ext cx="4937760" cy="420624"/>
          </a:xfrm>
          <a:prstGeom prst="rect">
            <a:avLst/>
          </a:prstGeom>
          <a:noFill/>
          <a:ln/>
        </p:spPr>
        <p:txBody>
          <a:bodyPr wrap="square" lIns="0" tIns="0" rIns="0" bIns="0" rtlCol="0" anchor="ctr"/>
          <a:lstStyle/>
          <a:p>
            <a:pPr marL="0" indent="0">
              <a:buNone/>
            </a:pPr>
            <a:r>
              <a:rPr lang="en-US" sz="1100" dirty="0">
                <a:solidFill>
                  <a:srgbClr val="8F96FF"/>
                </a:solidFill>
                <a:latin typeface="Calibri" pitchFamily="34" charset="0"/>
                <a:ea typeface="Calibri" pitchFamily="34" charset="-122"/>
                <a:cs typeface="Calibri" pitchFamily="34" charset="-120"/>
              </a:rPr>
              <a:t>Everything said so far — what the AI 'remembers' in this session</a:t>
            </a:r>
            <a:endParaRPr lang="en-US" sz="1100" dirty="0"/>
          </a:p>
        </p:txBody>
      </p:sp>
      <p:sp>
        <p:nvSpPr>
          <p:cNvPr id="14" name="Shape 12"/>
          <p:cNvSpPr/>
          <p:nvPr/>
        </p:nvSpPr>
        <p:spPr>
          <a:xfrm>
            <a:off x="457200" y="3054096"/>
            <a:ext cx="8229600" cy="502920"/>
          </a:xfrm>
          <a:prstGeom prst="rect">
            <a:avLst/>
          </a:prstGeom>
          <a:solidFill>
            <a:srgbClr val="2E2458"/>
          </a:solidFill>
          <a:ln w="12700">
            <a:solidFill>
              <a:srgbClr val="2E2458"/>
            </a:solidFill>
            <a:prstDash val="solid"/>
          </a:ln>
        </p:spPr>
        <p:txBody>
          <a:bodyPr/>
          <a:lstStyle/>
          <a:p>
            <a:endParaRPr lang="en-US"/>
          </a:p>
        </p:txBody>
      </p:sp>
      <p:sp>
        <p:nvSpPr>
          <p:cNvPr id="15" name="Text 13"/>
          <p:cNvSpPr/>
          <p:nvPr/>
        </p:nvSpPr>
        <p:spPr>
          <a:xfrm>
            <a:off x="594360" y="3081528"/>
            <a:ext cx="2926080" cy="4480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3  Retrieved documents</a:t>
            </a:r>
            <a:endParaRPr lang="en-US" sz="1200" dirty="0"/>
          </a:p>
        </p:txBody>
      </p:sp>
      <p:sp>
        <p:nvSpPr>
          <p:cNvPr id="16" name="Text 14"/>
          <p:cNvSpPr/>
          <p:nvPr/>
        </p:nvSpPr>
        <p:spPr>
          <a:xfrm>
            <a:off x="3566160" y="3099816"/>
            <a:ext cx="4937760" cy="420624"/>
          </a:xfrm>
          <a:prstGeom prst="rect">
            <a:avLst/>
          </a:prstGeom>
          <a:noFill/>
          <a:ln/>
        </p:spPr>
        <p:txBody>
          <a:bodyPr wrap="square" lIns="0" tIns="0" rIns="0" bIns="0" rtlCol="0" anchor="ctr"/>
          <a:lstStyle/>
          <a:p>
            <a:pPr marL="0" indent="0">
              <a:buNone/>
            </a:pPr>
            <a:r>
              <a:rPr lang="en-US" sz="1100" dirty="0">
                <a:solidFill>
                  <a:srgbClr val="8F96FF"/>
                </a:solidFill>
                <a:latin typeface="Calibri" pitchFamily="34" charset="0"/>
                <a:ea typeface="Calibri" pitchFamily="34" charset="-122"/>
                <a:cs typeface="Calibri" pitchFamily="34" charset="-120"/>
              </a:rPr>
              <a:t>Your RAG output — the specific chunks fetched for this question</a:t>
            </a:r>
            <a:endParaRPr lang="en-US" sz="1100" dirty="0"/>
          </a:p>
        </p:txBody>
      </p:sp>
      <p:sp>
        <p:nvSpPr>
          <p:cNvPr id="17" name="Shape 15"/>
          <p:cNvSpPr/>
          <p:nvPr/>
        </p:nvSpPr>
        <p:spPr>
          <a:xfrm>
            <a:off x="457200" y="3621024"/>
            <a:ext cx="8229600" cy="502920"/>
          </a:xfrm>
          <a:prstGeom prst="rect">
            <a:avLst/>
          </a:prstGeom>
          <a:solidFill>
            <a:srgbClr val="2E2458"/>
          </a:solidFill>
          <a:ln w="12700">
            <a:solidFill>
              <a:srgbClr val="2E2458"/>
            </a:solidFill>
            <a:prstDash val="solid"/>
          </a:ln>
        </p:spPr>
        <p:txBody>
          <a:bodyPr/>
          <a:lstStyle/>
          <a:p>
            <a:endParaRPr lang="en-US"/>
          </a:p>
        </p:txBody>
      </p:sp>
      <p:sp>
        <p:nvSpPr>
          <p:cNvPr id="18" name="Text 16"/>
          <p:cNvSpPr/>
          <p:nvPr/>
        </p:nvSpPr>
        <p:spPr>
          <a:xfrm>
            <a:off x="594360" y="3648456"/>
            <a:ext cx="2926080" cy="4480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2  User message</a:t>
            </a:r>
            <a:endParaRPr lang="en-US" sz="1200" dirty="0"/>
          </a:p>
        </p:txBody>
      </p:sp>
      <p:sp>
        <p:nvSpPr>
          <p:cNvPr id="19" name="Text 17"/>
          <p:cNvSpPr/>
          <p:nvPr/>
        </p:nvSpPr>
        <p:spPr>
          <a:xfrm>
            <a:off x="3566160" y="3666744"/>
            <a:ext cx="4937760" cy="420624"/>
          </a:xfrm>
          <a:prstGeom prst="rect">
            <a:avLst/>
          </a:prstGeom>
          <a:noFill/>
          <a:ln/>
        </p:spPr>
        <p:txBody>
          <a:bodyPr wrap="square" lIns="0" tIns="0" rIns="0" bIns="0" rtlCol="0" anchor="ctr"/>
          <a:lstStyle/>
          <a:p>
            <a:pPr marL="0" indent="0">
              <a:buNone/>
            </a:pPr>
            <a:r>
              <a:rPr lang="en-US" sz="1100" dirty="0">
                <a:solidFill>
                  <a:srgbClr val="8F96FF"/>
                </a:solidFill>
                <a:latin typeface="Calibri" pitchFamily="34" charset="0"/>
                <a:ea typeface="Calibri" pitchFamily="34" charset="-122"/>
                <a:cs typeface="Calibri" pitchFamily="34" charset="-120"/>
              </a:rPr>
              <a:t>The actual prompt — just the top layer of a much richer stack</a:t>
            </a:r>
            <a:endParaRPr lang="en-US" sz="1100" dirty="0"/>
          </a:p>
        </p:txBody>
      </p:sp>
      <p:sp>
        <p:nvSpPr>
          <p:cNvPr id="20" name="Shape 18"/>
          <p:cNvSpPr/>
          <p:nvPr/>
        </p:nvSpPr>
        <p:spPr>
          <a:xfrm>
            <a:off x="457200" y="4187952"/>
            <a:ext cx="8229600" cy="502920"/>
          </a:xfrm>
          <a:prstGeom prst="rect">
            <a:avLst/>
          </a:prstGeom>
          <a:solidFill>
            <a:srgbClr val="211B41"/>
          </a:solidFill>
          <a:ln w="12700">
            <a:solidFill>
              <a:srgbClr val="211B41"/>
            </a:solidFill>
            <a:prstDash val="solid"/>
          </a:ln>
        </p:spPr>
        <p:txBody>
          <a:bodyPr/>
          <a:lstStyle/>
          <a:p>
            <a:endParaRPr lang="en-US"/>
          </a:p>
        </p:txBody>
      </p:sp>
      <p:sp>
        <p:nvSpPr>
          <p:cNvPr id="21" name="Text 19"/>
          <p:cNvSpPr/>
          <p:nvPr/>
        </p:nvSpPr>
        <p:spPr>
          <a:xfrm>
            <a:off x="594360" y="4215384"/>
            <a:ext cx="2926080" cy="448056"/>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1  Examples</a:t>
            </a:r>
            <a:endParaRPr lang="en-US" sz="1200" dirty="0"/>
          </a:p>
        </p:txBody>
      </p:sp>
      <p:sp>
        <p:nvSpPr>
          <p:cNvPr id="22" name="Text 20"/>
          <p:cNvSpPr/>
          <p:nvPr/>
        </p:nvSpPr>
        <p:spPr>
          <a:xfrm>
            <a:off x="3566160" y="4233672"/>
            <a:ext cx="4937760" cy="420624"/>
          </a:xfrm>
          <a:prstGeom prst="rect">
            <a:avLst/>
          </a:prstGeom>
          <a:noFill/>
          <a:ln/>
        </p:spPr>
        <p:txBody>
          <a:bodyPr wrap="square" lIns="0" tIns="0" rIns="0" bIns="0" rtlCol="0" anchor="ctr"/>
          <a:lstStyle/>
          <a:p>
            <a:pPr marL="0" indent="0">
              <a:buNone/>
            </a:pPr>
            <a:r>
              <a:rPr lang="en-US" sz="1100" dirty="0">
                <a:solidFill>
                  <a:srgbClr val="8F96FF"/>
                </a:solidFill>
                <a:latin typeface="Calibri" pitchFamily="34" charset="0"/>
                <a:ea typeface="Calibri" pitchFamily="34" charset="-122"/>
                <a:cs typeface="Calibri" pitchFamily="34" charset="-120"/>
              </a:rPr>
              <a:t>Demonstrating the desired output format through examples (few-shot learning)</a:t>
            </a:r>
            <a:endParaRPr lang="en-US" sz="1100" dirty="0"/>
          </a:p>
        </p:txBody>
      </p:sp>
      <p:sp>
        <p:nvSpPr>
          <p:cNvPr id="23" name="Text 21"/>
          <p:cNvSpPr/>
          <p:nvPr/>
        </p:nvSpPr>
        <p:spPr>
          <a:xfrm>
            <a:off x="457200" y="4754880"/>
            <a:ext cx="8229600" cy="256032"/>
          </a:xfrm>
          <a:prstGeom prst="rect">
            <a:avLst/>
          </a:prstGeom>
          <a:noFill/>
          <a:ln/>
        </p:spPr>
        <p:txBody>
          <a:bodyPr wrap="square" lIns="0" tIns="0" rIns="0" bIns="0" rtlCol="0" anchor="ctr"/>
          <a:lstStyle/>
          <a:p>
            <a:pPr marL="0" indent="0">
              <a:buNone/>
            </a:pPr>
            <a:r>
              <a:rPr lang="en-US" sz="1150" i="1" dirty="0">
                <a:solidFill>
                  <a:srgbClr val="F0B20D"/>
                </a:solidFill>
                <a:latin typeface="Calibri" pitchFamily="34" charset="0"/>
                <a:ea typeface="Calibri" pitchFamily="34" charset="-122"/>
                <a:cs typeface="Calibri" pitchFamily="34" charset="-120"/>
              </a:rPr>
              <a:t>The teams that master context engineering will produce AI outputs that feel custom-built — because they are.</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211B41"/>
        </a:solidFill>
        <a:effectLst/>
      </p:bgPr>
    </p:bg>
    <p:spTree>
      <p:nvGrpSpPr>
        <p:cNvPr id="1" name=""/>
        <p:cNvGrpSpPr/>
        <p:nvPr/>
      </p:nvGrpSpPr>
      <p:grpSpPr>
        <a:xfrm>
          <a:off x="0" y="0"/>
          <a:ext cx="0" cy="0"/>
          <a:chOff x="0" y="0"/>
          <a:chExt cx="0" cy="0"/>
        </a:xfrm>
      </p:grpSpPr>
      <p:sp>
        <p:nvSpPr>
          <p:cNvPr id="2" name="Text 0"/>
          <p:cNvSpPr/>
          <p:nvPr/>
        </p:nvSpPr>
        <p:spPr>
          <a:xfrm>
            <a:off x="5943600" y="-365760"/>
            <a:ext cx="3474720" cy="4572000"/>
          </a:xfrm>
          <a:prstGeom prst="rect">
            <a:avLst/>
          </a:prstGeom>
          <a:noFill/>
          <a:ln/>
        </p:spPr>
        <p:txBody>
          <a:bodyPr wrap="square" lIns="0" tIns="0" rIns="0" bIns="0" rtlCol="0" anchor="ctr"/>
          <a:lstStyle/>
          <a:p>
            <a:pPr marL="0" indent="0" algn="r">
              <a:buNone/>
            </a:pPr>
            <a:r>
              <a:rPr lang="en-US" sz="32000" b="1" dirty="0">
                <a:solidFill>
                  <a:srgbClr val="2E2458"/>
                </a:solidFill>
                <a:latin typeface="Georgia" pitchFamily="34" charset="0"/>
                <a:ea typeface="Georgia" pitchFamily="34" charset="-122"/>
                <a:cs typeface="Georgia" pitchFamily="34" charset="-120"/>
              </a:rPr>
              <a:t>7</a:t>
            </a:r>
            <a:endParaRPr lang="en-US" sz="32000" dirty="0"/>
          </a:p>
        </p:txBody>
      </p:sp>
      <p:sp>
        <p:nvSpPr>
          <p:cNvPr id="3" name="Shape 1"/>
          <p:cNvSpPr/>
          <p:nvPr/>
        </p:nvSpPr>
        <p:spPr>
          <a:xfrm>
            <a:off x="0" y="0"/>
            <a:ext cx="109728" cy="5143500"/>
          </a:xfrm>
          <a:prstGeom prst="rect">
            <a:avLst/>
          </a:prstGeom>
          <a:solidFill>
            <a:srgbClr val="626EFF"/>
          </a:solidFill>
          <a:ln w="12700">
            <a:solidFill>
              <a:srgbClr val="626EFF"/>
            </a:solidFill>
            <a:prstDash val="solid"/>
          </a:ln>
        </p:spPr>
        <p:txBody>
          <a:bodyPr/>
          <a:lstStyle/>
          <a:p>
            <a:endParaRPr lang="en-US"/>
          </a:p>
        </p:txBody>
      </p:sp>
      <p:sp>
        <p:nvSpPr>
          <p:cNvPr id="4" name="Text 2"/>
          <p:cNvSpPr/>
          <p:nvPr/>
        </p:nvSpPr>
        <p:spPr>
          <a:xfrm>
            <a:off x="320040" y="1280160"/>
            <a:ext cx="5486400" cy="411480"/>
          </a:xfrm>
          <a:prstGeom prst="rect">
            <a:avLst/>
          </a:prstGeom>
          <a:noFill/>
          <a:ln/>
        </p:spPr>
        <p:txBody>
          <a:bodyPr wrap="square" lIns="0" tIns="0" rIns="0" bIns="0" rtlCol="0" anchor="ctr"/>
          <a:lstStyle/>
          <a:p>
            <a:pPr marL="0" indent="0">
              <a:buNone/>
            </a:pPr>
            <a:r>
              <a:rPr lang="en-US" sz="1300" b="1" kern="0" spc="400" dirty="0">
                <a:solidFill>
                  <a:srgbClr val="F0B20D"/>
                </a:solidFill>
                <a:latin typeface="Calibri" pitchFamily="34" charset="0"/>
                <a:ea typeface="Calibri" pitchFamily="34" charset="-122"/>
                <a:cs typeface="Calibri" pitchFamily="34" charset="-120"/>
              </a:rPr>
              <a:t>MODULE 7</a:t>
            </a:r>
            <a:endParaRPr lang="en-US" sz="1300" dirty="0"/>
          </a:p>
        </p:txBody>
      </p:sp>
      <p:sp>
        <p:nvSpPr>
          <p:cNvPr id="5" name="Text 3"/>
          <p:cNvSpPr/>
          <p:nvPr/>
        </p:nvSpPr>
        <p:spPr>
          <a:xfrm>
            <a:off x="320040" y="1737360"/>
            <a:ext cx="6858000" cy="1645920"/>
          </a:xfrm>
          <a:prstGeom prst="rect">
            <a:avLst/>
          </a:prstGeom>
          <a:noFill/>
          <a:ln/>
        </p:spPr>
        <p:txBody>
          <a:bodyPr wrap="square" lIns="0" tIns="0" rIns="0" bIns="0" rtlCol="0" anchor="ctr"/>
          <a:lstStyle/>
          <a:p>
            <a:pPr marL="0" indent="0">
              <a:buNone/>
            </a:pPr>
            <a:r>
              <a:rPr lang="en-US" sz="4200" b="1" dirty="0">
                <a:solidFill>
                  <a:srgbClr val="FFFFFF"/>
                </a:solidFill>
                <a:latin typeface="Georgia" pitchFamily="34" charset="0"/>
                <a:ea typeface="Georgia" pitchFamily="34" charset="-122"/>
                <a:cs typeface="Georgia" pitchFamily="34" charset="-120"/>
              </a:rPr>
              <a:t>AI That</a:t>
            </a:r>
            <a:endParaRPr lang="en-US" sz="4200" dirty="0"/>
          </a:p>
          <a:p>
            <a:pPr marL="0" indent="0">
              <a:buNone/>
            </a:pPr>
            <a:r>
              <a:rPr lang="en-US" sz="4200" b="1" dirty="0">
                <a:solidFill>
                  <a:srgbClr val="FFFFFF"/>
                </a:solidFill>
                <a:latin typeface="Georgia" pitchFamily="34" charset="0"/>
                <a:ea typeface="Georgia" pitchFamily="34" charset="-122"/>
                <a:cs typeface="Georgia" pitchFamily="34" charset="-120"/>
              </a:rPr>
              <a:t>Does Things</a:t>
            </a:r>
            <a:endParaRPr lang="en-US" sz="4200" dirty="0"/>
          </a:p>
        </p:txBody>
      </p:sp>
      <p:sp>
        <p:nvSpPr>
          <p:cNvPr id="6" name="Text 4"/>
          <p:cNvSpPr/>
          <p:nvPr/>
        </p:nvSpPr>
        <p:spPr>
          <a:xfrm>
            <a:off x="320040" y="3429000"/>
            <a:ext cx="5943600" cy="640080"/>
          </a:xfrm>
          <a:prstGeom prst="rect">
            <a:avLst/>
          </a:prstGeom>
          <a:noFill/>
          <a:ln/>
        </p:spPr>
        <p:txBody>
          <a:bodyPr wrap="square" lIns="0" tIns="0" rIns="0" bIns="0" rtlCol="0" anchor="ctr"/>
          <a:lstStyle/>
          <a:p>
            <a:pPr marL="0" indent="0">
              <a:buNone/>
            </a:pPr>
            <a:r>
              <a:rPr lang="en-US" sz="1600" i="1" dirty="0">
                <a:solidFill>
                  <a:srgbClr val="8F96FF"/>
                </a:solidFill>
                <a:latin typeface="Calibri" pitchFamily="34" charset="0"/>
                <a:ea typeface="Calibri" pitchFamily="34" charset="-122"/>
                <a:cs typeface="Calibri" pitchFamily="34" charset="-120"/>
              </a:rPr>
              <a:t>Agents, tools, MCP, skills — when AI stops answering and starts acting</a:t>
            </a:r>
            <a:endParaRPr lang="en-US" sz="1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EFF4E0"/>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600" b="1" dirty="0">
                <a:solidFill>
                  <a:srgbClr val="211B41"/>
                </a:solidFill>
                <a:latin typeface="Georgia" pitchFamily="34" charset="0"/>
                <a:ea typeface="Georgia" pitchFamily="34" charset="-122"/>
                <a:cs typeface="Georgia" pitchFamily="34" charset="-120"/>
              </a:rPr>
              <a:t>The Evolution: From Chatbot to Agent</a:t>
            </a:r>
            <a:endParaRPr lang="en-US" sz="2600" dirty="0"/>
          </a:p>
        </p:txBody>
      </p:sp>
      <p:sp>
        <p:nvSpPr>
          <p:cNvPr id="3" name="Shape 1"/>
          <p:cNvSpPr/>
          <p:nvPr/>
        </p:nvSpPr>
        <p:spPr>
          <a:xfrm>
            <a:off x="457200" y="822960"/>
            <a:ext cx="8229600" cy="27432"/>
          </a:xfrm>
          <a:prstGeom prst="rect">
            <a:avLst/>
          </a:prstGeom>
          <a:solidFill>
            <a:srgbClr val="BBCE8E"/>
          </a:solidFill>
          <a:ln w="12700">
            <a:solidFill>
              <a:srgbClr val="BBCE8E"/>
            </a:solidFill>
            <a:prstDash val="solid"/>
          </a:ln>
        </p:spPr>
        <p:txBody>
          <a:bodyPr/>
          <a:lstStyle/>
          <a:p>
            <a:endParaRPr lang="en-US"/>
          </a:p>
        </p:txBody>
      </p:sp>
      <p:sp>
        <p:nvSpPr>
          <p:cNvPr id="4" name="Shape 2"/>
          <p:cNvSpPr/>
          <p:nvPr/>
        </p:nvSpPr>
        <p:spPr>
          <a:xfrm>
            <a:off x="0" y="4919472"/>
            <a:ext cx="9144000" cy="224028"/>
          </a:xfrm>
          <a:prstGeom prst="rect">
            <a:avLst/>
          </a:prstGeom>
          <a:solidFill>
            <a:srgbClr val="BBCE8E"/>
          </a:solidFill>
          <a:ln w="12700">
            <a:solidFill>
              <a:srgbClr val="BBCE8E"/>
            </a:solidFill>
            <a:prstDash val="solid"/>
          </a:ln>
        </p:spPr>
        <p:txBody>
          <a:bodyPr/>
          <a:lstStyle/>
          <a:p>
            <a:endParaRPr lang="en-US"/>
          </a:p>
        </p:txBody>
      </p:sp>
      <p:sp>
        <p:nvSpPr>
          <p:cNvPr id="5" name="Text 3"/>
          <p:cNvSpPr/>
          <p:nvPr/>
        </p:nvSpPr>
        <p:spPr>
          <a:xfrm>
            <a:off x="274320" y="4928616"/>
            <a:ext cx="8595360" cy="201168"/>
          </a:xfrm>
          <a:prstGeom prst="rect">
            <a:avLst/>
          </a:prstGeom>
          <a:noFill/>
          <a:ln/>
        </p:spPr>
        <p:txBody>
          <a:bodyPr wrap="square" lIns="0" tIns="0" rIns="0" bIns="0" rtlCol="0" anchor="ctr"/>
          <a:lstStyle/>
          <a:p>
            <a:pPr marL="0" indent="0">
              <a:buNone/>
            </a:pPr>
            <a:r>
              <a:rPr lang="en-US" sz="900" dirty="0">
                <a:solidFill>
                  <a:srgbClr val="4A7A82"/>
                </a:solidFill>
                <a:latin typeface="Calibri" pitchFamily="34" charset="0"/>
                <a:ea typeface="Calibri" pitchFamily="34" charset="-122"/>
                <a:cs typeface="Calibri" pitchFamily="34" charset="-120"/>
              </a:rPr>
              <a:t>Blockstruct GmbH  ·  AI Demystified Workshop  ·  UniCredit  ·  April 2026</a:t>
            </a:r>
            <a:endParaRPr lang="en-US" sz="900" dirty="0"/>
          </a:p>
        </p:txBody>
      </p:sp>
      <p:sp>
        <p:nvSpPr>
          <p:cNvPr id="6" name="Shape 4"/>
          <p:cNvSpPr/>
          <p:nvPr/>
        </p:nvSpPr>
        <p:spPr>
          <a:xfrm>
            <a:off x="457200" y="1051560"/>
            <a:ext cx="2651760" cy="3520440"/>
          </a:xfrm>
          <a:prstGeom prst="rect">
            <a:avLst/>
          </a:prstGeom>
          <a:solidFill>
            <a:srgbClr val="F8F9F4"/>
          </a:solidFill>
          <a:ln w="12700">
            <a:solidFill>
              <a:srgbClr val="F8F9F4"/>
            </a:solidFill>
            <a:prstDash val="solid"/>
          </a:ln>
          <a:effectLst>
            <a:outerShdw blurRad="63500" dist="25400" dir="8100000" algn="bl" rotWithShape="0">
              <a:srgbClr val="000000">
                <a:alpha val="8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1417320" y="1170432"/>
            <a:ext cx="731520" cy="731520"/>
          </a:xfrm>
          <a:prstGeom prst="rect">
            <a:avLst/>
          </a:prstGeom>
        </p:spPr>
      </p:pic>
      <p:sp>
        <p:nvSpPr>
          <p:cNvPr id="8" name="Text 5"/>
          <p:cNvSpPr/>
          <p:nvPr/>
        </p:nvSpPr>
        <p:spPr>
          <a:xfrm>
            <a:off x="548640" y="2011680"/>
            <a:ext cx="2468880" cy="457200"/>
          </a:xfrm>
          <a:prstGeom prst="rect">
            <a:avLst/>
          </a:prstGeom>
          <a:noFill/>
          <a:ln/>
        </p:spPr>
        <p:txBody>
          <a:bodyPr wrap="square" lIns="0" tIns="0" rIns="0" bIns="0" rtlCol="0" anchor="ctr"/>
          <a:lstStyle/>
          <a:p>
            <a:pPr marL="0" indent="0" algn="ctr">
              <a:buNone/>
            </a:pPr>
            <a:r>
              <a:rPr lang="en-US" sz="1800" b="1" dirty="0">
                <a:solidFill>
                  <a:srgbClr val="211B41"/>
                </a:solidFill>
                <a:latin typeface="Georgia" pitchFamily="34" charset="0"/>
                <a:ea typeface="Georgia" pitchFamily="34" charset="-122"/>
                <a:cs typeface="Georgia" pitchFamily="34" charset="-120"/>
              </a:rPr>
              <a:t>Chatbot</a:t>
            </a:r>
            <a:endParaRPr lang="en-US" sz="1800" dirty="0"/>
          </a:p>
        </p:txBody>
      </p:sp>
      <p:sp>
        <p:nvSpPr>
          <p:cNvPr id="9" name="Text 6"/>
          <p:cNvSpPr/>
          <p:nvPr/>
        </p:nvSpPr>
        <p:spPr>
          <a:xfrm>
            <a:off x="566928" y="2542032"/>
            <a:ext cx="2432304" cy="1463040"/>
          </a:xfrm>
          <a:prstGeom prst="rect">
            <a:avLst/>
          </a:prstGeom>
          <a:noFill/>
          <a:ln/>
        </p:spPr>
        <p:txBody>
          <a:bodyPr wrap="square" rtlCol="0" anchor="ctr"/>
          <a:lstStyle/>
          <a:p>
            <a:pPr marL="0" indent="0" algn="ctr">
              <a:buNone/>
            </a:pPr>
            <a:r>
              <a:rPr lang="en-US" sz="1150" dirty="0">
                <a:solidFill>
                  <a:srgbClr val="211B41"/>
                </a:solidFill>
                <a:latin typeface="Calibri" pitchFamily="34" charset="0"/>
                <a:ea typeface="Calibri" pitchFamily="34" charset="-122"/>
                <a:cs typeface="Calibri" pitchFamily="34" charset="-120"/>
              </a:rPr>
              <a:t>You ask. It answers.</a:t>
            </a:r>
            <a:endParaRPr lang="en-US" sz="1150" dirty="0"/>
          </a:p>
          <a:p>
            <a:pPr marL="0" indent="0" algn="ctr">
              <a:buNone/>
            </a:pPr>
            <a:r>
              <a:rPr lang="en-US" sz="1150" dirty="0">
                <a:solidFill>
                  <a:srgbClr val="211B41"/>
                </a:solidFill>
                <a:latin typeface="Calibri" pitchFamily="34" charset="0"/>
                <a:ea typeface="Calibri" pitchFamily="34" charset="-122"/>
                <a:cs typeface="Calibri" pitchFamily="34" charset="-120"/>
              </a:rPr>
              <a:t>One question, one response, no memory.</a:t>
            </a:r>
            <a:endParaRPr lang="en-US" sz="1150" dirty="0"/>
          </a:p>
        </p:txBody>
      </p:sp>
      <p:sp>
        <p:nvSpPr>
          <p:cNvPr id="10" name="Shape 7"/>
          <p:cNvSpPr/>
          <p:nvPr/>
        </p:nvSpPr>
        <p:spPr>
          <a:xfrm>
            <a:off x="548640" y="4315968"/>
            <a:ext cx="640080" cy="228600"/>
          </a:xfrm>
          <a:prstGeom prst="rect">
            <a:avLst/>
          </a:prstGeom>
          <a:solidFill>
            <a:srgbClr val="F0B20D"/>
          </a:solidFill>
          <a:ln w="12700">
            <a:solidFill>
              <a:srgbClr val="F0B20D"/>
            </a:solidFill>
            <a:prstDash val="solid"/>
          </a:ln>
        </p:spPr>
        <p:txBody>
          <a:bodyPr/>
          <a:lstStyle/>
          <a:p>
            <a:endParaRPr lang="en-US"/>
          </a:p>
        </p:txBody>
      </p:sp>
      <p:sp>
        <p:nvSpPr>
          <p:cNvPr id="11" name="Text 8"/>
          <p:cNvSpPr/>
          <p:nvPr/>
        </p:nvSpPr>
        <p:spPr>
          <a:xfrm>
            <a:off x="548640" y="4315968"/>
            <a:ext cx="640080" cy="228600"/>
          </a:xfrm>
          <a:prstGeom prst="rect">
            <a:avLst/>
          </a:prstGeom>
          <a:noFill/>
          <a:ln/>
        </p:spPr>
        <p:txBody>
          <a:bodyPr wrap="square" lIns="0" tIns="0" rIns="0" bIns="0" rtlCol="0" anchor="ctr"/>
          <a:lstStyle/>
          <a:p>
            <a:pPr marL="0" indent="0" algn="ctr">
              <a:buNone/>
            </a:pPr>
            <a:r>
              <a:rPr lang="en-US" sz="900" b="1" dirty="0">
                <a:solidFill>
                  <a:srgbClr val="211B41"/>
                </a:solidFill>
                <a:latin typeface="Calibri" pitchFamily="34" charset="0"/>
                <a:ea typeface="Calibri" pitchFamily="34" charset="-122"/>
                <a:cs typeface="Calibri" pitchFamily="34" charset="-120"/>
              </a:rPr>
              <a:t>2022</a:t>
            </a:r>
            <a:endParaRPr lang="en-US" sz="900" dirty="0"/>
          </a:p>
        </p:txBody>
      </p:sp>
      <p:sp>
        <p:nvSpPr>
          <p:cNvPr id="12" name="Shape 9"/>
          <p:cNvSpPr/>
          <p:nvPr/>
        </p:nvSpPr>
        <p:spPr>
          <a:xfrm>
            <a:off x="3246120" y="1051560"/>
            <a:ext cx="2651760" cy="3520440"/>
          </a:xfrm>
          <a:prstGeom prst="rect">
            <a:avLst/>
          </a:prstGeom>
          <a:solidFill>
            <a:srgbClr val="2E2458"/>
          </a:solidFill>
          <a:ln w="12700">
            <a:solidFill>
              <a:srgbClr val="2E2458"/>
            </a:solidFill>
            <a:prstDash val="solid"/>
          </a:ln>
          <a:effectLst>
            <a:outerShdw blurRad="63500" dist="25400" dir="8100000" algn="bl" rotWithShape="0">
              <a:srgbClr val="000000">
                <a:alpha val="8000"/>
              </a:srgbClr>
            </a:outerShdw>
          </a:effectLst>
        </p:spPr>
        <p:txBody>
          <a:bodyPr/>
          <a:lstStyle/>
          <a:p>
            <a:endParaRPr lang="en-US"/>
          </a:p>
        </p:txBody>
      </p:sp>
      <p:pic>
        <p:nvPicPr>
          <p:cNvPr id="13" name="Image 1" descr="preencoded.png"/>
          <p:cNvPicPr>
            <a:picLocks noChangeAspect="1"/>
          </p:cNvPicPr>
          <p:nvPr/>
        </p:nvPicPr>
        <p:blipFill>
          <a:blip r:embed="rId4"/>
          <a:stretch>
            <a:fillRect/>
          </a:stretch>
        </p:blipFill>
        <p:spPr>
          <a:xfrm>
            <a:off x="4206240" y="1170432"/>
            <a:ext cx="731520" cy="731520"/>
          </a:xfrm>
          <a:prstGeom prst="rect">
            <a:avLst/>
          </a:prstGeom>
        </p:spPr>
      </p:pic>
      <p:sp>
        <p:nvSpPr>
          <p:cNvPr id="14" name="Text 10"/>
          <p:cNvSpPr/>
          <p:nvPr/>
        </p:nvSpPr>
        <p:spPr>
          <a:xfrm>
            <a:off x="3337560" y="2011680"/>
            <a:ext cx="246888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Assistant</a:t>
            </a:r>
            <a:endParaRPr lang="en-US" sz="1800" dirty="0"/>
          </a:p>
        </p:txBody>
      </p:sp>
      <p:sp>
        <p:nvSpPr>
          <p:cNvPr id="15" name="Text 11"/>
          <p:cNvSpPr/>
          <p:nvPr/>
        </p:nvSpPr>
        <p:spPr>
          <a:xfrm>
            <a:off x="3355848" y="2542032"/>
            <a:ext cx="2432304" cy="1463040"/>
          </a:xfrm>
          <a:prstGeom prst="rect">
            <a:avLst/>
          </a:prstGeom>
          <a:noFill/>
          <a:ln/>
        </p:spPr>
        <p:txBody>
          <a:bodyPr wrap="square"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You give context. It helps.</a:t>
            </a:r>
            <a:endParaRPr lang="en-US" sz="1150" dirty="0"/>
          </a:p>
          <a:p>
            <a:pPr marL="0" indent="0" algn="ctr">
              <a:buNone/>
            </a:pPr>
            <a:r>
              <a:rPr lang="en-US" sz="1150" dirty="0">
                <a:solidFill>
                  <a:srgbClr val="FFFFFF"/>
                </a:solidFill>
                <a:latin typeface="Calibri" pitchFamily="34" charset="0"/>
                <a:ea typeface="Calibri" pitchFamily="34" charset="-122"/>
                <a:cs typeface="Calibri" pitchFamily="34" charset="-120"/>
              </a:rPr>
              <a:t>Remember this session, use your documents, follow your style.</a:t>
            </a:r>
            <a:endParaRPr lang="en-US" sz="1150" dirty="0"/>
          </a:p>
        </p:txBody>
      </p:sp>
      <p:sp>
        <p:nvSpPr>
          <p:cNvPr id="16" name="Shape 12"/>
          <p:cNvSpPr/>
          <p:nvPr/>
        </p:nvSpPr>
        <p:spPr>
          <a:xfrm>
            <a:off x="3337560" y="4315968"/>
            <a:ext cx="640080" cy="228600"/>
          </a:xfrm>
          <a:prstGeom prst="rect">
            <a:avLst/>
          </a:prstGeom>
          <a:solidFill>
            <a:srgbClr val="F0B20D"/>
          </a:solidFill>
          <a:ln w="12700">
            <a:solidFill>
              <a:srgbClr val="F0B20D"/>
            </a:solidFill>
            <a:prstDash val="solid"/>
          </a:ln>
        </p:spPr>
        <p:txBody>
          <a:bodyPr/>
          <a:lstStyle/>
          <a:p>
            <a:endParaRPr lang="en-US"/>
          </a:p>
        </p:txBody>
      </p:sp>
      <p:sp>
        <p:nvSpPr>
          <p:cNvPr id="17" name="Text 13"/>
          <p:cNvSpPr/>
          <p:nvPr/>
        </p:nvSpPr>
        <p:spPr>
          <a:xfrm>
            <a:off x="3337560" y="4315968"/>
            <a:ext cx="640080" cy="228600"/>
          </a:xfrm>
          <a:prstGeom prst="rect">
            <a:avLst/>
          </a:prstGeom>
          <a:noFill/>
          <a:ln/>
        </p:spPr>
        <p:txBody>
          <a:bodyPr wrap="square" lIns="0" tIns="0" rIns="0" bIns="0" rtlCol="0" anchor="ctr"/>
          <a:lstStyle/>
          <a:p>
            <a:pPr marL="0" indent="0" algn="ctr">
              <a:buNone/>
            </a:pPr>
            <a:r>
              <a:rPr lang="en-US" sz="900" b="1" dirty="0">
                <a:solidFill>
                  <a:srgbClr val="211B41"/>
                </a:solidFill>
                <a:latin typeface="Calibri" pitchFamily="34" charset="0"/>
                <a:ea typeface="Calibri" pitchFamily="34" charset="-122"/>
                <a:cs typeface="Calibri" pitchFamily="34" charset="-120"/>
              </a:rPr>
              <a:t>2023</a:t>
            </a:r>
            <a:endParaRPr lang="en-US" sz="900" dirty="0"/>
          </a:p>
        </p:txBody>
      </p:sp>
      <p:sp>
        <p:nvSpPr>
          <p:cNvPr id="18" name="Shape 14"/>
          <p:cNvSpPr/>
          <p:nvPr/>
        </p:nvSpPr>
        <p:spPr>
          <a:xfrm>
            <a:off x="6035040" y="1051560"/>
            <a:ext cx="2651760" cy="3520440"/>
          </a:xfrm>
          <a:prstGeom prst="rect">
            <a:avLst/>
          </a:prstGeom>
          <a:solidFill>
            <a:srgbClr val="626EFF"/>
          </a:solidFill>
          <a:ln w="12700">
            <a:solidFill>
              <a:srgbClr val="626EFF"/>
            </a:solidFill>
            <a:prstDash val="solid"/>
          </a:ln>
          <a:effectLst>
            <a:outerShdw blurRad="127000" dist="38100" dir="8100000" algn="bl" rotWithShape="0">
              <a:srgbClr val="000000">
                <a:alpha val="13000"/>
              </a:srgbClr>
            </a:outerShdw>
          </a:effectLst>
        </p:spPr>
        <p:txBody>
          <a:bodyPr/>
          <a:lstStyle/>
          <a:p>
            <a:endParaRPr lang="en-US"/>
          </a:p>
        </p:txBody>
      </p:sp>
      <p:pic>
        <p:nvPicPr>
          <p:cNvPr id="19" name="Image 2" descr="preencoded.png"/>
          <p:cNvPicPr>
            <a:picLocks noChangeAspect="1"/>
          </p:cNvPicPr>
          <p:nvPr/>
        </p:nvPicPr>
        <p:blipFill>
          <a:blip r:embed="rId5"/>
          <a:stretch>
            <a:fillRect/>
          </a:stretch>
        </p:blipFill>
        <p:spPr>
          <a:xfrm>
            <a:off x="6995160" y="1170432"/>
            <a:ext cx="731520" cy="731520"/>
          </a:xfrm>
          <a:prstGeom prst="rect">
            <a:avLst/>
          </a:prstGeom>
        </p:spPr>
      </p:pic>
      <p:sp>
        <p:nvSpPr>
          <p:cNvPr id="20" name="Text 15"/>
          <p:cNvSpPr/>
          <p:nvPr/>
        </p:nvSpPr>
        <p:spPr>
          <a:xfrm>
            <a:off x="6126480" y="2011680"/>
            <a:ext cx="246888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Agent</a:t>
            </a:r>
            <a:endParaRPr lang="en-US" sz="1800" dirty="0"/>
          </a:p>
        </p:txBody>
      </p:sp>
      <p:sp>
        <p:nvSpPr>
          <p:cNvPr id="21" name="Text 16"/>
          <p:cNvSpPr/>
          <p:nvPr/>
        </p:nvSpPr>
        <p:spPr>
          <a:xfrm>
            <a:off x="6144768" y="2542032"/>
            <a:ext cx="2432304" cy="1463040"/>
          </a:xfrm>
          <a:prstGeom prst="rect">
            <a:avLst/>
          </a:prstGeom>
          <a:noFill/>
          <a:ln/>
        </p:spPr>
        <p:txBody>
          <a:bodyPr wrap="square"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You give a goal. It figures out the steps.</a:t>
            </a:r>
            <a:endParaRPr lang="en-US" sz="1150" dirty="0"/>
          </a:p>
          <a:p>
            <a:pPr marL="0" indent="0" algn="ctr">
              <a:buNone/>
            </a:pPr>
            <a:r>
              <a:rPr lang="en-US" sz="1150" dirty="0">
                <a:solidFill>
                  <a:srgbClr val="FFFFFF"/>
                </a:solidFill>
                <a:latin typeface="Calibri" pitchFamily="34" charset="0"/>
                <a:ea typeface="Calibri" pitchFamily="34" charset="-122"/>
                <a:cs typeface="Calibri" pitchFamily="34" charset="-120"/>
              </a:rPr>
              <a:t>Plans, uses tools, calls sub-agents, delivers a result.</a:t>
            </a:r>
            <a:endParaRPr lang="en-US" sz="1150" dirty="0"/>
          </a:p>
        </p:txBody>
      </p:sp>
      <p:sp>
        <p:nvSpPr>
          <p:cNvPr id="22" name="Shape 17"/>
          <p:cNvSpPr/>
          <p:nvPr/>
        </p:nvSpPr>
        <p:spPr>
          <a:xfrm>
            <a:off x="6126480" y="4315968"/>
            <a:ext cx="640080" cy="228600"/>
          </a:xfrm>
          <a:prstGeom prst="rect">
            <a:avLst/>
          </a:prstGeom>
          <a:solidFill>
            <a:srgbClr val="F0B20D"/>
          </a:solidFill>
          <a:ln w="12700">
            <a:solidFill>
              <a:srgbClr val="F0B20D"/>
            </a:solidFill>
            <a:prstDash val="solid"/>
          </a:ln>
        </p:spPr>
        <p:txBody>
          <a:bodyPr/>
          <a:lstStyle/>
          <a:p>
            <a:endParaRPr lang="en-US"/>
          </a:p>
        </p:txBody>
      </p:sp>
      <p:sp>
        <p:nvSpPr>
          <p:cNvPr id="23" name="Text 18"/>
          <p:cNvSpPr/>
          <p:nvPr/>
        </p:nvSpPr>
        <p:spPr>
          <a:xfrm>
            <a:off x="6126480" y="4315968"/>
            <a:ext cx="640080" cy="228600"/>
          </a:xfrm>
          <a:prstGeom prst="rect">
            <a:avLst/>
          </a:prstGeom>
          <a:noFill/>
          <a:ln/>
        </p:spPr>
        <p:txBody>
          <a:bodyPr wrap="square" lIns="0" tIns="0" rIns="0" bIns="0" rtlCol="0" anchor="ctr"/>
          <a:lstStyle/>
          <a:p>
            <a:pPr marL="0" indent="0" algn="ctr">
              <a:buNone/>
            </a:pPr>
            <a:r>
              <a:rPr lang="en-US" sz="900" b="1" dirty="0">
                <a:solidFill>
                  <a:srgbClr val="211B41"/>
                </a:solidFill>
                <a:latin typeface="Calibri" pitchFamily="34" charset="0"/>
                <a:ea typeface="Calibri" pitchFamily="34" charset="-122"/>
                <a:cs typeface="Calibri" pitchFamily="34" charset="-120"/>
              </a:rPr>
              <a:t>2025+</a:t>
            </a:r>
            <a:endParaRPr lang="en-US" sz="900" dirty="0"/>
          </a:p>
        </p:txBody>
      </p:sp>
      <p:sp>
        <p:nvSpPr>
          <p:cNvPr id="24" name="Text 19"/>
          <p:cNvSpPr/>
          <p:nvPr/>
        </p:nvSpPr>
        <p:spPr>
          <a:xfrm>
            <a:off x="457200" y="4663440"/>
            <a:ext cx="8229600" cy="301752"/>
          </a:xfrm>
          <a:prstGeom prst="rect">
            <a:avLst/>
          </a:prstGeom>
          <a:noFill/>
          <a:ln/>
        </p:spPr>
        <p:txBody>
          <a:bodyPr wrap="square" lIns="0" tIns="0" rIns="0" bIns="0" rtlCol="0" anchor="ctr"/>
          <a:lstStyle/>
          <a:p>
            <a:pPr marL="0" indent="0">
              <a:buNone/>
            </a:pPr>
            <a:r>
              <a:rPr lang="en-US" sz="1100" i="1" dirty="0">
                <a:solidFill>
                  <a:srgbClr val="4A7A82"/>
                </a:solidFill>
                <a:latin typeface="Calibri" pitchFamily="34" charset="0"/>
                <a:ea typeface="Calibri" pitchFamily="34" charset="-122"/>
                <a:cs typeface="Calibri" pitchFamily="34" charset="-120"/>
              </a:rPr>
              <a:t>A banking agent example: receive a client onboarding request → check KYC database → retrieve product eligibility rules → draft welcome email → route to relationship manager for approval.</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EFF4E0"/>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600" b="1" dirty="0">
                <a:solidFill>
                  <a:srgbClr val="211B41"/>
                </a:solidFill>
                <a:latin typeface="Georgia" pitchFamily="34" charset="0"/>
                <a:ea typeface="Georgia" pitchFamily="34" charset="-122"/>
                <a:cs typeface="Georgia" pitchFamily="34" charset="-120"/>
              </a:rPr>
              <a:t>Tools, MCP, and Skills: The Infrastructure of Action</a:t>
            </a:r>
            <a:endParaRPr lang="en-US" sz="2600" dirty="0"/>
          </a:p>
        </p:txBody>
      </p:sp>
      <p:sp>
        <p:nvSpPr>
          <p:cNvPr id="3" name="Shape 1"/>
          <p:cNvSpPr/>
          <p:nvPr/>
        </p:nvSpPr>
        <p:spPr>
          <a:xfrm>
            <a:off x="457200" y="822960"/>
            <a:ext cx="8229600" cy="27432"/>
          </a:xfrm>
          <a:prstGeom prst="rect">
            <a:avLst/>
          </a:prstGeom>
          <a:solidFill>
            <a:srgbClr val="BBCE8E"/>
          </a:solidFill>
          <a:ln w="12700">
            <a:solidFill>
              <a:srgbClr val="BBCE8E"/>
            </a:solidFill>
            <a:prstDash val="solid"/>
          </a:ln>
        </p:spPr>
        <p:txBody>
          <a:bodyPr/>
          <a:lstStyle/>
          <a:p>
            <a:endParaRPr lang="en-US"/>
          </a:p>
        </p:txBody>
      </p:sp>
      <p:sp>
        <p:nvSpPr>
          <p:cNvPr id="4" name="Shape 2"/>
          <p:cNvSpPr/>
          <p:nvPr/>
        </p:nvSpPr>
        <p:spPr>
          <a:xfrm>
            <a:off x="0" y="4919472"/>
            <a:ext cx="9144000" cy="224028"/>
          </a:xfrm>
          <a:prstGeom prst="rect">
            <a:avLst/>
          </a:prstGeom>
          <a:solidFill>
            <a:srgbClr val="BBCE8E"/>
          </a:solidFill>
          <a:ln w="12700">
            <a:solidFill>
              <a:srgbClr val="BBCE8E"/>
            </a:solidFill>
            <a:prstDash val="solid"/>
          </a:ln>
        </p:spPr>
        <p:txBody>
          <a:bodyPr/>
          <a:lstStyle/>
          <a:p>
            <a:endParaRPr lang="en-US"/>
          </a:p>
        </p:txBody>
      </p:sp>
      <p:sp>
        <p:nvSpPr>
          <p:cNvPr id="5" name="Text 3"/>
          <p:cNvSpPr/>
          <p:nvPr/>
        </p:nvSpPr>
        <p:spPr>
          <a:xfrm>
            <a:off x="274320" y="4928616"/>
            <a:ext cx="8595360" cy="201168"/>
          </a:xfrm>
          <a:prstGeom prst="rect">
            <a:avLst/>
          </a:prstGeom>
          <a:noFill/>
          <a:ln/>
        </p:spPr>
        <p:txBody>
          <a:bodyPr wrap="square" lIns="0" tIns="0" rIns="0" bIns="0" rtlCol="0" anchor="ctr"/>
          <a:lstStyle/>
          <a:p>
            <a:pPr marL="0" indent="0">
              <a:buNone/>
            </a:pPr>
            <a:r>
              <a:rPr lang="en-US" sz="900" dirty="0">
                <a:solidFill>
                  <a:srgbClr val="4A7A82"/>
                </a:solidFill>
                <a:latin typeface="Calibri" pitchFamily="34" charset="0"/>
                <a:ea typeface="Calibri" pitchFamily="34" charset="-122"/>
                <a:cs typeface="Calibri" pitchFamily="34" charset="-120"/>
              </a:rPr>
              <a:t>Blockstruct GmbH  ·  AI Demystified Workshop  ·  UniCredit  ·  April 2026</a:t>
            </a:r>
            <a:endParaRPr lang="en-US" sz="900" dirty="0"/>
          </a:p>
        </p:txBody>
      </p:sp>
      <p:sp>
        <p:nvSpPr>
          <p:cNvPr id="6" name="Shape 4"/>
          <p:cNvSpPr/>
          <p:nvPr/>
        </p:nvSpPr>
        <p:spPr>
          <a:xfrm>
            <a:off x="457200" y="987552"/>
            <a:ext cx="8229600" cy="1828800"/>
          </a:xfrm>
          <a:prstGeom prst="rect">
            <a:avLst/>
          </a:prstGeom>
          <a:solidFill>
            <a:srgbClr val="211B41"/>
          </a:solidFill>
          <a:ln w="12700">
            <a:solidFill>
              <a:srgbClr val="211B41"/>
            </a:solidFill>
            <a:prstDash val="solid"/>
          </a:ln>
          <a:effectLst>
            <a:outerShdw blurRad="127000" dist="38100" dir="8100000" algn="bl" rotWithShape="0">
              <a:srgbClr val="000000">
                <a:alpha val="13000"/>
              </a:srgbClr>
            </a:outerShdw>
          </a:effectLst>
        </p:spPr>
        <p:txBody>
          <a:bodyPr/>
          <a:lstStyle/>
          <a:p>
            <a:endParaRPr lang="en-US"/>
          </a:p>
        </p:txBody>
      </p:sp>
      <p:pic>
        <p:nvPicPr>
          <p:cNvPr id="7" name="Image 0" descr="preencoded.png"/>
          <p:cNvPicPr>
            <a:picLocks noChangeAspect="1"/>
          </p:cNvPicPr>
          <p:nvPr/>
        </p:nvPicPr>
        <p:blipFill>
          <a:blip r:embed="rId3"/>
          <a:stretch>
            <a:fillRect/>
          </a:stretch>
        </p:blipFill>
        <p:spPr>
          <a:xfrm>
            <a:off x="594360" y="1078992"/>
            <a:ext cx="685800" cy="685800"/>
          </a:xfrm>
          <a:prstGeom prst="rect">
            <a:avLst/>
          </a:prstGeom>
        </p:spPr>
      </p:pic>
      <p:sp>
        <p:nvSpPr>
          <p:cNvPr id="8" name="Text 5"/>
          <p:cNvSpPr/>
          <p:nvPr/>
        </p:nvSpPr>
        <p:spPr>
          <a:xfrm>
            <a:off x="1417320" y="1024128"/>
            <a:ext cx="6949440" cy="411480"/>
          </a:xfrm>
          <a:prstGeom prst="rect">
            <a:avLst/>
          </a:prstGeom>
          <a:noFill/>
          <a:ln/>
        </p:spPr>
        <p:txBody>
          <a:bodyPr wrap="square" lIns="0" tIns="0" rIns="0" bIns="0" rtlCol="0" anchor="ctr"/>
          <a:lstStyle/>
          <a:p>
            <a:pPr marL="0" indent="0">
              <a:buNone/>
            </a:pPr>
            <a:r>
              <a:rPr lang="en-US" sz="1600" b="1" dirty="0">
                <a:solidFill>
                  <a:srgbClr val="FFFFFF"/>
                </a:solidFill>
                <a:latin typeface="Georgia" pitchFamily="34" charset="0"/>
                <a:ea typeface="Georgia" pitchFamily="34" charset="-122"/>
                <a:cs typeface="Georgia" pitchFamily="34" charset="-120"/>
              </a:rPr>
              <a:t>MCP — Model Context Protocol</a:t>
            </a:r>
            <a:endParaRPr lang="en-US" sz="1600" dirty="0"/>
          </a:p>
        </p:txBody>
      </p:sp>
      <p:sp>
        <p:nvSpPr>
          <p:cNvPr id="9" name="Text 6"/>
          <p:cNvSpPr/>
          <p:nvPr/>
        </p:nvSpPr>
        <p:spPr>
          <a:xfrm>
            <a:off x="1417320" y="1444752"/>
            <a:ext cx="6949440" cy="777240"/>
          </a:xfrm>
          <a:prstGeom prst="rect">
            <a:avLst/>
          </a:prstGeom>
          <a:noFill/>
          <a:ln/>
        </p:spPr>
        <p:txBody>
          <a:bodyPr wrap="square" lIns="0" tIns="0" rIns="0" bIns="0" rtlCol="0" anchor="ctr"/>
          <a:lstStyle/>
          <a:p>
            <a:pPr marL="0" indent="0">
              <a:buNone/>
            </a:pPr>
            <a:r>
              <a:rPr lang="en-US" sz="1200" dirty="0">
                <a:solidFill>
                  <a:srgbClr val="8F96FF"/>
                </a:solidFill>
                <a:latin typeface="Calibri" pitchFamily="34" charset="0"/>
                <a:ea typeface="Calibri" pitchFamily="34" charset="-122"/>
                <a:cs typeface="Calibri" pitchFamily="34" charset="-120"/>
              </a:rPr>
              <a:t>The USB port of AI. One standard protocol that lets any AI model connect to any tool: your CRM, your email, your document store, your databases, your calendar. Blockstruct builds MCP connectors to your existing systems.</a:t>
            </a:r>
            <a:endParaRPr lang="en-US" sz="1200" dirty="0"/>
          </a:p>
        </p:txBody>
      </p:sp>
      <p:sp>
        <p:nvSpPr>
          <p:cNvPr id="10" name="Text 7"/>
          <p:cNvSpPr/>
          <p:nvPr/>
        </p:nvSpPr>
        <p:spPr>
          <a:xfrm>
            <a:off x="594360" y="2395728"/>
            <a:ext cx="7863840" cy="347472"/>
          </a:xfrm>
          <a:prstGeom prst="rect">
            <a:avLst/>
          </a:prstGeom>
          <a:noFill/>
          <a:ln/>
        </p:spPr>
        <p:txBody>
          <a:bodyPr wrap="square" lIns="0" tIns="0" rIns="0" bIns="0" rtlCol="0" anchor="ctr"/>
          <a:lstStyle/>
          <a:p>
            <a:pPr marL="0" indent="0">
              <a:buNone/>
            </a:pPr>
            <a:r>
              <a:rPr lang="en-US" sz="1150" i="1" dirty="0">
                <a:solidFill>
                  <a:srgbClr val="F0B20D"/>
                </a:solidFill>
                <a:latin typeface="Calibri" pitchFamily="34" charset="0"/>
                <a:ea typeface="Calibri" pitchFamily="34" charset="-122"/>
                <a:cs typeface="Calibri" pitchFamily="34" charset="-120"/>
              </a:rPr>
              <a:t>Connected today at UniCredit via Google Cloud: Google Workspace, BigQuery, Cloud Storage — all MCP-ready.</a:t>
            </a:r>
            <a:endParaRPr lang="en-US" sz="1150" dirty="0"/>
          </a:p>
        </p:txBody>
      </p:sp>
      <p:sp>
        <p:nvSpPr>
          <p:cNvPr id="11" name="Shape 8"/>
          <p:cNvSpPr/>
          <p:nvPr/>
        </p:nvSpPr>
        <p:spPr>
          <a:xfrm>
            <a:off x="457200" y="2852928"/>
            <a:ext cx="8229600" cy="1920240"/>
          </a:xfrm>
          <a:prstGeom prst="rect">
            <a:avLst/>
          </a:prstGeom>
          <a:solidFill>
            <a:srgbClr val="FFFFFF"/>
          </a:solidFill>
          <a:ln w="12700">
            <a:solidFill>
              <a:srgbClr val="BBCE8E"/>
            </a:solidFill>
            <a:prstDash val="solid"/>
          </a:ln>
          <a:effectLst>
            <a:outerShdw blurRad="63500" dist="25400" dir="8100000" algn="bl" rotWithShape="0">
              <a:srgbClr val="000000">
                <a:alpha val="8000"/>
              </a:srgbClr>
            </a:outerShdw>
          </a:effectLst>
        </p:spPr>
        <p:txBody>
          <a:bodyPr/>
          <a:lstStyle/>
          <a:p>
            <a:endParaRPr lang="en-US"/>
          </a:p>
        </p:txBody>
      </p:sp>
      <p:pic>
        <p:nvPicPr>
          <p:cNvPr id="12" name="Image 1" descr="preencoded.png"/>
          <p:cNvPicPr>
            <a:picLocks noChangeAspect="1"/>
          </p:cNvPicPr>
          <p:nvPr/>
        </p:nvPicPr>
        <p:blipFill>
          <a:blip r:embed="rId4"/>
          <a:stretch>
            <a:fillRect/>
          </a:stretch>
        </p:blipFill>
        <p:spPr>
          <a:xfrm>
            <a:off x="594360" y="2944368"/>
            <a:ext cx="685800" cy="685800"/>
          </a:xfrm>
          <a:prstGeom prst="rect">
            <a:avLst/>
          </a:prstGeom>
        </p:spPr>
      </p:pic>
      <p:sp>
        <p:nvSpPr>
          <p:cNvPr id="13" name="Text 9"/>
          <p:cNvSpPr/>
          <p:nvPr/>
        </p:nvSpPr>
        <p:spPr>
          <a:xfrm>
            <a:off x="1417320" y="2889504"/>
            <a:ext cx="6949440" cy="411480"/>
          </a:xfrm>
          <a:prstGeom prst="rect">
            <a:avLst/>
          </a:prstGeom>
          <a:noFill/>
          <a:ln/>
        </p:spPr>
        <p:txBody>
          <a:bodyPr wrap="square" lIns="0" tIns="0" rIns="0" bIns="0" rtlCol="0" anchor="ctr"/>
          <a:lstStyle/>
          <a:p>
            <a:pPr marL="0" indent="0">
              <a:buNone/>
            </a:pPr>
            <a:r>
              <a:rPr lang="en-US" sz="1600" b="1" dirty="0">
                <a:solidFill>
                  <a:srgbClr val="211B41"/>
                </a:solidFill>
                <a:latin typeface="Georgia" pitchFamily="34" charset="0"/>
                <a:ea typeface="Georgia" pitchFamily="34" charset="-122"/>
                <a:cs typeface="Georgia" pitchFamily="34" charset="-120"/>
              </a:rPr>
              <a:t>Skills — Reusable AI Capabilities</a:t>
            </a:r>
            <a:endParaRPr lang="en-US" sz="1600" dirty="0"/>
          </a:p>
        </p:txBody>
      </p:sp>
      <p:sp>
        <p:nvSpPr>
          <p:cNvPr id="14" name="Text 10"/>
          <p:cNvSpPr/>
          <p:nvPr/>
        </p:nvSpPr>
        <p:spPr>
          <a:xfrm>
            <a:off x="1417320" y="3310128"/>
            <a:ext cx="6949440" cy="640080"/>
          </a:xfrm>
          <a:prstGeom prst="rect">
            <a:avLst/>
          </a:prstGeom>
          <a:noFill/>
          <a:ln/>
        </p:spPr>
        <p:txBody>
          <a:bodyPr wrap="square" lIns="0" tIns="0" rIns="0" bIns="0" rtlCol="0" anchor="ctr"/>
          <a:lstStyle/>
          <a:p>
            <a:pPr marL="0" indent="0">
              <a:buNone/>
            </a:pPr>
            <a:r>
              <a:rPr lang="en-US" sz="1200" dirty="0">
                <a:solidFill>
                  <a:srgbClr val="211B41"/>
                </a:solidFill>
                <a:latin typeface="Calibri" pitchFamily="34" charset="0"/>
                <a:ea typeface="Calibri" pitchFamily="34" charset="-122"/>
                <a:cs typeface="Calibri" pitchFamily="34" charset="-120"/>
              </a:rPr>
              <a:t>Think of Skills as apps, but for AI. A Skill bundles a prompt, tools, context, and behaviour into a deployable package. Once built, it can be reused by anyone in the organisation.</a:t>
            </a:r>
            <a:endParaRPr lang="en-US" sz="1200" dirty="0"/>
          </a:p>
        </p:txBody>
      </p:sp>
      <p:sp>
        <p:nvSpPr>
          <p:cNvPr id="15" name="Shape 11"/>
          <p:cNvSpPr/>
          <p:nvPr/>
        </p:nvSpPr>
        <p:spPr>
          <a:xfrm>
            <a:off x="502920" y="4069080"/>
            <a:ext cx="1874520" cy="502920"/>
          </a:xfrm>
          <a:prstGeom prst="rect">
            <a:avLst/>
          </a:prstGeom>
          <a:solidFill>
            <a:srgbClr val="626EFF"/>
          </a:solidFill>
          <a:ln w="12700">
            <a:solidFill>
              <a:srgbClr val="626EFF"/>
            </a:solidFill>
            <a:prstDash val="solid"/>
          </a:ln>
        </p:spPr>
        <p:txBody>
          <a:bodyPr/>
          <a:lstStyle/>
          <a:p>
            <a:endParaRPr lang="en-US"/>
          </a:p>
        </p:txBody>
      </p:sp>
      <p:sp>
        <p:nvSpPr>
          <p:cNvPr id="16" name="Text 12"/>
          <p:cNvSpPr/>
          <p:nvPr/>
        </p:nvSpPr>
        <p:spPr>
          <a:xfrm>
            <a:off x="502920" y="4069080"/>
            <a:ext cx="1874520" cy="5029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Client meeting summariser</a:t>
            </a:r>
            <a:endParaRPr lang="en-US" sz="950" dirty="0"/>
          </a:p>
        </p:txBody>
      </p:sp>
      <p:sp>
        <p:nvSpPr>
          <p:cNvPr id="17" name="Shape 13"/>
          <p:cNvSpPr/>
          <p:nvPr/>
        </p:nvSpPr>
        <p:spPr>
          <a:xfrm>
            <a:off x="2542032" y="4069080"/>
            <a:ext cx="1874520" cy="502920"/>
          </a:xfrm>
          <a:prstGeom prst="rect">
            <a:avLst/>
          </a:prstGeom>
          <a:solidFill>
            <a:srgbClr val="626EFF"/>
          </a:solidFill>
          <a:ln w="12700">
            <a:solidFill>
              <a:srgbClr val="626EFF"/>
            </a:solidFill>
            <a:prstDash val="solid"/>
          </a:ln>
        </p:spPr>
        <p:txBody>
          <a:bodyPr/>
          <a:lstStyle/>
          <a:p>
            <a:endParaRPr lang="en-US"/>
          </a:p>
        </p:txBody>
      </p:sp>
      <p:sp>
        <p:nvSpPr>
          <p:cNvPr id="18" name="Text 14"/>
          <p:cNvSpPr/>
          <p:nvPr/>
        </p:nvSpPr>
        <p:spPr>
          <a:xfrm>
            <a:off x="2542032" y="4069080"/>
            <a:ext cx="1874520" cy="5029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Credit application pre-screener</a:t>
            </a:r>
            <a:endParaRPr lang="en-US" sz="950" dirty="0"/>
          </a:p>
        </p:txBody>
      </p:sp>
      <p:sp>
        <p:nvSpPr>
          <p:cNvPr id="19" name="Shape 15"/>
          <p:cNvSpPr/>
          <p:nvPr/>
        </p:nvSpPr>
        <p:spPr>
          <a:xfrm>
            <a:off x="4581144" y="4069080"/>
            <a:ext cx="1874520" cy="502920"/>
          </a:xfrm>
          <a:prstGeom prst="rect">
            <a:avLst/>
          </a:prstGeom>
          <a:solidFill>
            <a:srgbClr val="626EFF"/>
          </a:solidFill>
          <a:ln w="12700">
            <a:solidFill>
              <a:srgbClr val="626EFF"/>
            </a:solidFill>
            <a:prstDash val="solid"/>
          </a:ln>
        </p:spPr>
        <p:txBody>
          <a:bodyPr/>
          <a:lstStyle/>
          <a:p>
            <a:endParaRPr lang="en-US"/>
          </a:p>
        </p:txBody>
      </p:sp>
      <p:sp>
        <p:nvSpPr>
          <p:cNvPr id="20" name="Text 16"/>
          <p:cNvSpPr/>
          <p:nvPr/>
        </p:nvSpPr>
        <p:spPr>
          <a:xfrm>
            <a:off x="4581144" y="4069080"/>
            <a:ext cx="1874520" cy="5029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Regulatory Q&amp;A assistant</a:t>
            </a:r>
            <a:endParaRPr lang="en-US" sz="950" dirty="0"/>
          </a:p>
        </p:txBody>
      </p:sp>
      <p:sp>
        <p:nvSpPr>
          <p:cNvPr id="21" name="Shape 17"/>
          <p:cNvSpPr/>
          <p:nvPr/>
        </p:nvSpPr>
        <p:spPr>
          <a:xfrm>
            <a:off x="6620256" y="4069080"/>
            <a:ext cx="1874520" cy="502920"/>
          </a:xfrm>
          <a:prstGeom prst="rect">
            <a:avLst/>
          </a:prstGeom>
          <a:solidFill>
            <a:srgbClr val="626EFF"/>
          </a:solidFill>
          <a:ln w="12700">
            <a:solidFill>
              <a:srgbClr val="626EFF"/>
            </a:solidFill>
            <a:prstDash val="solid"/>
          </a:ln>
        </p:spPr>
        <p:txBody>
          <a:bodyPr/>
          <a:lstStyle/>
          <a:p>
            <a:endParaRPr lang="en-US"/>
          </a:p>
        </p:txBody>
      </p:sp>
      <p:sp>
        <p:nvSpPr>
          <p:cNvPr id="22" name="Text 18"/>
          <p:cNvSpPr/>
          <p:nvPr/>
        </p:nvSpPr>
        <p:spPr>
          <a:xfrm>
            <a:off x="6620256" y="4069080"/>
            <a:ext cx="1874520" cy="502920"/>
          </a:xfrm>
          <a:prstGeom prst="rect">
            <a:avLst/>
          </a:prstGeom>
          <a:noFill/>
          <a:ln/>
        </p:spPr>
        <p:txBody>
          <a:bodyPr wrap="square" lIns="0" tIns="0" rIns="0" bIns="0" rtlCol="0" anchor="ctr"/>
          <a:lstStyle/>
          <a:p>
            <a:pPr marL="0" indent="0" algn="ctr">
              <a:buNone/>
            </a:pPr>
            <a:r>
              <a:rPr lang="en-US" sz="950" b="1" dirty="0">
                <a:solidFill>
                  <a:srgbClr val="FFFFFF"/>
                </a:solidFill>
                <a:latin typeface="Calibri" pitchFamily="34" charset="0"/>
                <a:ea typeface="Calibri" pitchFamily="34" charset="-122"/>
                <a:cs typeface="Calibri" pitchFamily="34" charset="-120"/>
              </a:rPr>
              <a:t>Sales pitch personaliser</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211B41"/>
        </a:solidFill>
        <a:effectLst/>
      </p:bgPr>
    </p:bg>
    <p:spTree>
      <p:nvGrpSpPr>
        <p:cNvPr id="1" name=""/>
        <p:cNvGrpSpPr/>
        <p:nvPr/>
      </p:nvGrpSpPr>
      <p:grpSpPr>
        <a:xfrm>
          <a:off x="0" y="0"/>
          <a:ext cx="0" cy="0"/>
          <a:chOff x="0" y="0"/>
          <a:chExt cx="0" cy="0"/>
        </a:xfrm>
      </p:grpSpPr>
      <p:sp>
        <p:nvSpPr>
          <p:cNvPr id="2" name="Text 0"/>
          <p:cNvSpPr/>
          <p:nvPr/>
        </p:nvSpPr>
        <p:spPr>
          <a:xfrm>
            <a:off x="5943600" y="-365760"/>
            <a:ext cx="3474720" cy="4572000"/>
          </a:xfrm>
          <a:prstGeom prst="rect">
            <a:avLst/>
          </a:prstGeom>
          <a:noFill/>
          <a:ln/>
        </p:spPr>
        <p:txBody>
          <a:bodyPr wrap="square" lIns="0" tIns="0" rIns="0" bIns="0" rtlCol="0" anchor="ctr"/>
          <a:lstStyle/>
          <a:p>
            <a:pPr marL="0" indent="0" algn="r">
              <a:buNone/>
            </a:pPr>
            <a:r>
              <a:rPr lang="en-US" sz="32000" b="1" dirty="0">
                <a:solidFill>
                  <a:srgbClr val="2E2458"/>
                </a:solidFill>
                <a:latin typeface="Georgia" pitchFamily="34" charset="0"/>
                <a:ea typeface="Georgia" pitchFamily="34" charset="-122"/>
                <a:cs typeface="Georgia" pitchFamily="34" charset="-120"/>
              </a:rPr>
              <a:t>8</a:t>
            </a:r>
            <a:endParaRPr lang="en-US" sz="32000" dirty="0"/>
          </a:p>
        </p:txBody>
      </p:sp>
      <p:sp>
        <p:nvSpPr>
          <p:cNvPr id="3" name="Shape 1"/>
          <p:cNvSpPr/>
          <p:nvPr/>
        </p:nvSpPr>
        <p:spPr>
          <a:xfrm>
            <a:off x="0" y="0"/>
            <a:ext cx="109728" cy="5143500"/>
          </a:xfrm>
          <a:prstGeom prst="rect">
            <a:avLst/>
          </a:prstGeom>
          <a:solidFill>
            <a:srgbClr val="626EFF"/>
          </a:solidFill>
          <a:ln w="12700">
            <a:solidFill>
              <a:srgbClr val="626EFF"/>
            </a:solidFill>
            <a:prstDash val="solid"/>
          </a:ln>
        </p:spPr>
        <p:txBody>
          <a:bodyPr/>
          <a:lstStyle/>
          <a:p>
            <a:endParaRPr lang="en-US"/>
          </a:p>
        </p:txBody>
      </p:sp>
      <p:sp>
        <p:nvSpPr>
          <p:cNvPr id="4" name="Text 2"/>
          <p:cNvSpPr/>
          <p:nvPr/>
        </p:nvSpPr>
        <p:spPr>
          <a:xfrm>
            <a:off x="320040" y="1280160"/>
            <a:ext cx="5486400" cy="411480"/>
          </a:xfrm>
          <a:prstGeom prst="rect">
            <a:avLst/>
          </a:prstGeom>
          <a:noFill/>
          <a:ln/>
        </p:spPr>
        <p:txBody>
          <a:bodyPr wrap="square" lIns="0" tIns="0" rIns="0" bIns="0" rtlCol="0" anchor="ctr"/>
          <a:lstStyle/>
          <a:p>
            <a:pPr marL="0" indent="0">
              <a:buNone/>
            </a:pPr>
            <a:r>
              <a:rPr lang="en-US" sz="1300" b="1" kern="0" spc="400" dirty="0">
                <a:solidFill>
                  <a:srgbClr val="F0B20D"/>
                </a:solidFill>
                <a:latin typeface="Calibri" pitchFamily="34" charset="0"/>
                <a:ea typeface="Calibri" pitchFamily="34" charset="-122"/>
                <a:cs typeface="Calibri" pitchFamily="34" charset="-120"/>
              </a:rPr>
              <a:t>MODULE 8</a:t>
            </a:r>
            <a:endParaRPr lang="en-US" sz="1300" dirty="0"/>
          </a:p>
        </p:txBody>
      </p:sp>
      <p:sp>
        <p:nvSpPr>
          <p:cNvPr id="5" name="Text 3"/>
          <p:cNvSpPr/>
          <p:nvPr/>
        </p:nvSpPr>
        <p:spPr>
          <a:xfrm>
            <a:off x="320040" y="1737360"/>
            <a:ext cx="6858000" cy="1645920"/>
          </a:xfrm>
          <a:prstGeom prst="rect">
            <a:avLst/>
          </a:prstGeom>
          <a:noFill/>
          <a:ln/>
        </p:spPr>
        <p:txBody>
          <a:bodyPr wrap="square" lIns="0" tIns="0" rIns="0" bIns="0" rtlCol="0" anchor="ctr"/>
          <a:lstStyle/>
          <a:p>
            <a:pPr marL="0" indent="0">
              <a:buNone/>
            </a:pPr>
            <a:r>
              <a:rPr lang="en-US" sz="4200" b="1" dirty="0">
                <a:solidFill>
                  <a:srgbClr val="FFFFFF"/>
                </a:solidFill>
                <a:latin typeface="Georgia" pitchFamily="34" charset="0"/>
                <a:ea typeface="Georgia" pitchFamily="34" charset="-122"/>
                <a:cs typeface="Georgia" pitchFamily="34" charset="-120"/>
              </a:rPr>
              <a:t>The Big Picture</a:t>
            </a:r>
            <a:endParaRPr lang="en-US" sz="4200" dirty="0"/>
          </a:p>
        </p:txBody>
      </p:sp>
      <p:sp>
        <p:nvSpPr>
          <p:cNvPr id="6" name="Text 4"/>
          <p:cNvSpPr/>
          <p:nvPr/>
        </p:nvSpPr>
        <p:spPr>
          <a:xfrm>
            <a:off x="320040" y="3429000"/>
            <a:ext cx="5943600" cy="640080"/>
          </a:xfrm>
          <a:prstGeom prst="rect">
            <a:avLst/>
          </a:prstGeom>
          <a:noFill/>
          <a:ln/>
        </p:spPr>
        <p:txBody>
          <a:bodyPr wrap="square" lIns="0" tIns="0" rIns="0" bIns="0" rtlCol="0" anchor="ctr"/>
          <a:lstStyle/>
          <a:p>
            <a:pPr marL="0" indent="0">
              <a:buNone/>
            </a:pPr>
            <a:r>
              <a:rPr lang="en-US" sz="1600" i="1" dirty="0">
                <a:solidFill>
                  <a:srgbClr val="8F96FF"/>
                </a:solidFill>
                <a:latin typeface="Calibri" pitchFamily="34" charset="0"/>
                <a:ea typeface="Calibri" pitchFamily="34" charset="-122"/>
                <a:cs typeface="Calibri" pitchFamily="34" charset="-120"/>
              </a:rPr>
              <a:t>Where LLMs fit in the map of intelligence — and what remains distinctly human</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EFF4E0"/>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600" b="1" dirty="0">
                <a:solidFill>
                  <a:srgbClr val="211B41"/>
                </a:solidFill>
                <a:latin typeface="Georgia" pitchFamily="34" charset="0"/>
                <a:ea typeface="Georgia" pitchFamily="34" charset="-122"/>
                <a:cs typeface="Georgia" pitchFamily="34" charset="-120"/>
              </a:rPr>
              <a:t>Back to the Brain: Where Is AI Right Now?</a:t>
            </a:r>
            <a:endParaRPr lang="en-US" sz="2600" dirty="0"/>
          </a:p>
        </p:txBody>
      </p:sp>
      <p:sp>
        <p:nvSpPr>
          <p:cNvPr id="3" name="Shape 1"/>
          <p:cNvSpPr/>
          <p:nvPr/>
        </p:nvSpPr>
        <p:spPr>
          <a:xfrm>
            <a:off x="457200" y="822960"/>
            <a:ext cx="8229600" cy="27432"/>
          </a:xfrm>
          <a:prstGeom prst="rect">
            <a:avLst/>
          </a:prstGeom>
          <a:solidFill>
            <a:srgbClr val="BBCE8E"/>
          </a:solidFill>
          <a:ln w="12700">
            <a:solidFill>
              <a:srgbClr val="BBCE8E"/>
            </a:solidFill>
            <a:prstDash val="solid"/>
          </a:ln>
        </p:spPr>
        <p:txBody>
          <a:bodyPr/>
          <a:lstStyle/>
          <a:p>
            <a:endParaRPr lang="en-US"/>
          </a:p>
        </p:txBody>
      </p:sp>
      <p:sp>
        <p:nvSpPr>
          <p:cNvPr id="4" name="Shape 2"/>
          <p:cNvSpPr/>
          <p:nvPr/>
        </p:nvSpPr>
        <p:spPr>
          <a:xfrm>
            <a:off x="0" y="4919472"/>
            <a:ext cx="9144000" cy="224028"/>
          </a:xfrm>
          <a:prstGeom prst="rect">
            <a:avLst/>
          </a:prstGeom>
          <a:solidFill>
            <a:srgbClr val="BBCE8E"/>
          </a:solidFill>
          <a:ln w="12700">
            <a:solidFill>
              <a:srgbClr val="BBCE8E"/>
            </a:solidFill>
            <a:prstDash val="solid"/>
          </a:ln>
        </p:spPr>
        <p:txBody>
          <a:bodyPr/>
          <a:lstStyle/>
          <a:p>
            <a:endParaRPr lang="en-US"/>
          </a:p>
        </p:txBody>
      </p:sp>
      <p:sp>
        <p:nvSpPr>
          <p:cNvPr id="5" name="Text 3"/>
          <p:cNvSpPr/>
          <p:nvPr/>
        </p:nvSpPr>
        <p:spPr>
          <a:xfrm>
            <a:off x="274320" y="4928616"/>
            <a:ext cx="8595360" cy="201168"/>
          </a:xfrm>
          <a:prstGeom prst="rect">
            <a:avLst/>
          </a:prstGeom>
          <a:noFill/>
          <a:ln/>
        </p:spPr>
        <p:txBody>
          <a:bodyPr wrap="square" lIns="0" tIns="0" rIns="0" bIns="0" rtlCol="0" anchor="ctr"/>
          <a:lstStyle/>
          <a:p>
            <a:pPr marL="0" indent="0">
              <a:buNone/>
            </a:pPr>
            <a:r>
              <a:rPr lang="en-US" sz="900" dirty="0">
                <a:solidFill>
                  <a:srgbClr val="4A7A82"/>
                </a:solidFill>
                <a:latin typeface="Calibri" pitchFamily="34" charset="0"/>
                <a:ea typeface="Calibri" pitchFamily="34" charset="-122"/>
                <a:cs typeface="Calibri" pitchFamily="34" charset="-120"/>
              </a:rPr>
              <a:t>Blockstruct GmbH  ·  AI Demystified Workshop  ·  UniCredit  ·  April 2026</a:t>
            </a:r>
            <a:endParaRPr lang="en-US" sz="900" dirty="0"/>
          </a:p>
        </p:txBody>
      </p:sp>
      <p:sp>
        <p:nvSpPr>
          <p:cNvPr id="6" name="Text 4"/>
          <p:cNvSpPr/>
          <p:nvPr/>
        </p:nvSpPr>
        <p:spPr>
          <a:xfrm>
            <a:off x="457200" y="914400"/>
            <a:ext cx="8229600" cy="365760"/>
          </a:xfrm>
          <a:prstGeom prst="rect">
            <a:avLst/>
          </a:prstGeom>
          <a:noFill/>
          <a:ln/>
        </p:spPr>
        <p:txBody>
          <a:bodyPr wrap="square" lIns="0" tIns="0" rIns="0" bIns="0" rtlCol="0" anchor="ctr"/>
          <a:lstStyle/>
          <a:p>
            <a:pPr marL="0" indent="0">
              <a:buNone/>
            </a:pPr>
            <a:r>
              <a:rPr lang="en-US" sz="1300" i="1" dirty="0">
                <a:solidFill>
                  <a:srgbClr val="4A7A82"/>
                </a:solidFill>
                <a:latin typeface="Calibri" pitchFamily="34" charset="0"/>
                <a:ea typeface="Calibri" pitchFamily="34" charset="-122"/>
                <a:cs typeface="Calibri" pitchFamily="34" charset="-120"/>
              </a:rPr>
              <a:t>We started the morning with four types of intelligence. Let's revisit the map.</a:t>
            </a:r>
            <a:endParaRPr lang="en-US" sz="1300" dirty="0"/>
          </a:p>
        </p:txBody>
      </p:sp>
      <p:sp>
        <p:nvSpPr>
          <p:cNvPr id="7" name="Shape 5"/>
          <p:cNvSpPr/>
          <p:nvPr/>
        </p:nvSpPr>
        <p:spPr>
          <a:xfrm>
            <a:off x="457200" y="1389888"/>
            <a:ext cx="4206240" cy="1508760"/>
          </a:xfrm>
          <a:prstGeom prst="rect">
            <a:avLst/>
          </a:prstGeom>
          <a:solidFill>
            <a:srgbClr val="626EFF"/>
          </a:solidFill>
          <a:ln w="12700">
            <a:solidFill>
              <a:srgbClr val="626EFF"/>
            </a:solidFill>
            <a:prstDash val="solid"/>
          </a:ln>
          <a:effectLst>
            <a:outerShdw blurRad="63500" dist="25400" dir="8100000" algn="bl" rotWithShape="0">
              <a:srgbClr val="000000">
                <a:alpha val="8000"/>
              </a:srgbClr>
            </a:outerShdw>
          </a:effectLst>
        </p:spPr>
        <p:txBody>
          <a:bodyPr/>
          <a:lstStyle/>
          <a:p>
            <a:endParaRPr lang="en-US"/>
          </a:p>
        </p:txBody>
      </p:sp>
      <p:sp>
        <p:nvSpPr>
          <p:cNvPr id="8" name="Text 6"/>
          <p:cNvSpPr/>
          <p:nvPr/>
        </p:nvSpPr>
        <p:spPr>
          <a:xfrm>
            <a:off x="594360" y="1463040"/>
            <a:ext cx="3200400" cy="36576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Left Thinking</a:t>
            </a:r>
            <a:endParaRPr lang="en-US" sz="1400" dirty="0"/>
          </a:p>
        </p:txBody>
      </p:sp>
      <p:sp>
        <p:nvSpPr>
          <p:cNvPr id="9" name="Text 7"/>
          <p:cNvSpPr/>
          <p:nvPr/>
        </p:nvSpPr>
        <p:spPr>
          <a:xfrm>
            <a:off x="594360" y="1847088"/>
            <a:ext cx="3246120" cy="6858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Serial logic, pattern recognition, language.</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LLMs operate here.</a:t>
            </a:r>
            <a:endParaRPr lang="en-US" sz="1100" dirty="0"/>
          </a:p>
        </p:txBody>
      </p:sp>
      <p:sp>
        <p:nvSpPr>
          <p:cNvPr id="10" name="Shape 8"/>
          <p:cNvSpPr/>
          <p:nvPr/>
        </p:nvSpPr>
        <p:spPr>
          <a:xfrm>
            <a:off x="566928" y="2551176"/>
            <a:ext cx="1554480" cy="246888"/>
          </a:xfrm>
          <a:prstGeom prst="rect">
            <a:avLst/>
          </a:prstGeom>
          <a:solidFill>
            <a:srgbClr val="F0B20D"/>
          </a:solidFill>
          <a:ln w="12700">
            <a:solidFill>
              <a:srgbClr val="F0B20D"/>
            </a:solidFill>
            <a:prstDash val="solid"/>
          </a:ln>
        </p:spPr>
        <p:txBody>
          <a:bodyPr/>
          <a:lstStyle/>
          <a:p>
            <a:endParaRPr lang="en-US"/>
          </a:p>
        </p:txBody>
      </p:sp>
      <p:sp>
        <p:nvSpPr>
          <p:cNvPr id="11" name="Text 9"/>
          <p:cNvSpPr/>
          <p:nvPr/>
        </p:nvSpPr>
        <p:spPr>
          <a:xfrm>
            <a:off x="566928" y="2551176"/>
            <a:ext cx="1554480" cy="24688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Current AI</a:t>
            </a:r>
            <a:endParaRPr lang="en-US" sz="900" dirty="0"/>
          </a:p>
        </p:txBody>
      </p:sp>
      <p:sp>
        <p:nvSpPr>
          <p:cNvPr id="12" name="Shape 10"/>
          <p:cNvSpPr/>
          <p:nvPr/>
        </p:nvSpPr>
        <p:spPr>
          <a:xfrm>
            <a:off x="4800600" y="1389888"/>
            <a:ext cx="4206240" cy="1508760"/>
          </a:xfrm>
          <a:prstGeom prst="rect">
            <a:avLst/>
          </a:prstGeom>
          <a:solidFill>
            <a:srgbClr val="2E2458"/>
          </a:solidFill>
          <a:ln w="12700">
            <a:solidFill>
              <a:srgbClr val="2E2458"/>
            </a:solidFill>
            <a:prstDash val="solid"/>
          </a:ln>
          <a:effectLst>
            <a:outerShdw blurRad="63500" dist="25400" dir="8100000" algn="bl" rotWithShape="0">
              <a:srgbClr val="000000">
                <a:alpha val="8000"/>
              </a:srgbClr>
            </a:outerShdw>
          </a:effectLst>
        </p:spPr>
        <p:txBody>
          <a:bodyPr/>
          <a:lstStyle/>
          <a:p>
            <a:endParaRPr lang="en-US"/>
          </a:p>
        </p:txBody>
      </p:sp>
      <p:sp>
        <p:nvSpPr>
          <p:cNvPr id="13" name="Text 11"/>
          <p:cNvSpPr/>
          <p:nvPr/>
        </p:nvSpPr>
        <p:spPr>
          <a:xfrm>
            <a:off x="4937760" y="1463040"/>
            <a:ext cx="3200400" cy="36576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Left Emotional</a:t>
            </a:r>
            <a:endParaRPr lang="en-US" sz="1400" dirty="0"/>
          </a:p>
        </p:txBody>
      </p:sp>
      <p:sp>
        <p:nvSpPr>
          <p:cNvPr id="14" name="Text 12"/>
          <p:cNvSpPr/>
          <p:nvPr/>
        </p:nvSpPr>
        <p:spPr>
          <a:xfrm>
            <a:off x="4937760" y="1847088"/>
            <a:ext cx="3246120" cy="68580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Reward, habit, refinement of behaviour.</a:t>
            </a:r>
            <a:endParaRPr lang="en-US" sz="1100" dirty="0"/>
          </a:p>
          <a:p>
            <a:pPr marL="0" indent="0">
              <a:buNone/>
            </a:pPr>
            <a:r>
              <a:rPr lang="en-US" sz="1100" dirty="0">
                <a:solidFill>
                  <a:srgbClr val="FFFFFF"/>
                </a:solidFill>
                <a:latin typeface="Calibri" pitchFamily="34" charset="0"/>
                <a:ea typeface="Calibri" pitchFamily="34" charset="-122"/>
                <a:cs typeface="Calibri" pitchFamily="34" charset="-120"/>
              </a:rPr>
              <a:t>RL is learning this territory.</a:t>
            </a:r>
            <a:endParaRPr lang="en-US" sz="1100" dirty="0"/>
          </a:p>
        </p:txBody>
      </p:sp>
      <p:sp>
        <p:nvSpPr>
          <p:cNvPr id="15" name="Shape 13"/>
          <p:cNvSpPr/>
          <p:nvPr/>
        </p:nvSpPr>
        <p:spPr>
          <a:xfrm>
            <a:off x="4910328" y="2551176"/>
            <a:ext cx="1554480" cy="246888"/>
          </a:xfrm>
          <a:prstGeom prst="rect">
            <a:avLst/>
          </a:prstGeom>
          <a:solidFill>
            <a:srgbClr val="A7B360"/>
          </a:solidFill>
          <a:ln w="12700">
            <a:solidFill>
              <a:srgbClr val="A7B360"/>
            </a:solidFill>
            <a:prstDash val="solid"/>
          </a:ln>
        </p:spPr>
        <p:txBody>
          <a:bodyPr/>
          <a:lstStyle/>
          <a:p>
            <a:endParaRPr lang="en-US"/>
          </a:p>
        </p:txBody>
      </p:sp>
      <p:sp>
        <p:nvSpPr>
          <p:cNvPr id="16" name="Text 14"/>
          <p:cNvSpPr/>
          <p:nvPr/>
        </p:nvSpPr>
        <p:spPr>
          <a:xfrm>
            <a:off x="4910328" y="2551176"/>
            <a:ext cx="1554480" cy="24688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Emerging AI</a:t>
            </a:r>
            <a:endParaRPr lang="en-US" sz="900" dirty="0"/>
          </a:p>
        </p:txBody>
      </p:sp>
      <p:sp>
        <p:nvSpPr>
          <p:cNvPr id="17" name="Shape 15"/>
          <p:cNvSpPr/>
          <p:nvPr/>
        </p:nvSpPr>
        <p:spPr>
          <a:xfrm>
            <a:off x="457200" y="3017520"/>
            <a:ext cx="4206240" cy="1508760"/>
          </a:xfrm>
          <a:prstGeom prst="rect">
            <a:avLst/>
          </a:prstGeom>
          <a:solidFill>
            <a:srgbClr val="BBCE8E"/>
          </a:solidFill>
          <a:ln w="12700">
            <a:solidFill>
              <a:srgbClr val="BBCE8E"/>
            </a:solidFill>
            <a:prstDash val="solid"/>
          </a:ln>
          <a:effectLst>
            <a:outerShdw blurRad="63500" dist="25400" dir="8100000" algn="bl" rotWithShape="0">
              <a:srgbClr val="000000">
                <a:alpha val="8000"/>
              </a:srgbClr>
            </a:outerShdw>
          </a:effectLst>
        </p:spPr>
        <p:txBody>
          <a:bodyPr/>
          <a:lstStyle/>
          <a:p>
            <a:endParaRPr lang="en-US"/>
          </a:p>
        </p:txBody>
      </p:sp>
      <p:sp>
        <p:nvSpPr>
          <p:cNvPr id="18" name="Text 16"/>
          <p:cNvSpPr/>
          <p:nvPr/>
        </p:nvSpPr>
        <p:spPr>
          <a:xfrm>
            <a:off x="594360" y="3090672"/>
            <a:ext cx="3200400" cy="365760"/>
          </a:xfrm>
          <a:prstGeom prst="rect">
            <a:avLst/>
          </a:prstGeom>
          <a:noFill/>
          <a:ln/>
        </p:spPr>
        <p:txBody>
          <a:bodyPr wrap="square" lIns="0" tIns="0" rIns="0" bIns="0" rtlCol="0" anchor="ctr"/>
          <a:lstStyle/>
          <a:p>
            <a:pPr marL="0" indent="0">
              <a:buNone/>
            </a:pPr>
            <a:r>
              <a:rPr lang="en-US" sz="1400" b="1" dirty="0">
                <a:solidFill>
                  <a:srgbClr val="211B41"/>
                </a:solidFill>
                <a:latin typeface="Georgia" pitchFamily="34" charset="0"/>
                <a:ea typeface="Georgia" pitchFamily="34" charset="-122"/>
                <a:cs typeface="Georgia" pitchFamily="34" charset="-120"/>
              </a:rPr>
              <a:t>Right Thinking</a:t>
            </a:r>
            <a:endParaRPr lang="en-US" sz="1400" dirty="0"/>
          </a:p>
        </p:txBody>
      </p:sp>
      <p:sp>
        <p:nvSpPr>
          <p:cNvPr id="19" name="Text 17"/>
          <p:cNvSpPr/>
          <p:nvPr/>
        </p:nvSpPr>
        <p:spPr>
          <a:xfrm>
            <a:off x="594360" y="3474720"/>
            <a:ext cx="3246120" cy="685800"/>
          </a:xfrm>
          <a:prstGeom prst="rect">
            <a:avLst/>
          </a:prstGeom>
          <a:noFill/>
          <a:ln/>
        </p:spPr>
        <p:txBody>
          <a:bodyPr wrap="square" lIns="0" tIns="0" rIns="0" bIns="0" rtlCol="0" anchor="ctr"/>
          <a:lstStyle/>
          <a:p>
            <a:pPr marL="0" indent="0">
              <a:buNone/>
            </a:pPr>
            <a:r>
              <a:rPr lang="en-US" sz="1100" dirty="0">
                <a:solidFill>
                  <a:srgbClr val="211B41"/>
                </a:solidFill>
                <a:latin typeface="Calibri" pitchFamily="34" charset="0"/>
                <a:ea typeface="Calibri" pitchFamily="34" charset="-122"/>
                <a:cs typeface="Calibri" pitchFamily="34" charset="-120"/>
              </a:rPr>
              <a:t>Holistic reasoning, creative connection,</a:t>
            </a:r>
            <a:endParaRPr lang="en-US" sz="1100" dirty="0"/>
          </a:p>
          <a:p>
            <a:pPr marL="0" indent="0">
              <a:buNone/>
            </a:pPr>
            <a:r>
              <a:rPr lang="en-US" sz="1100" dirty="0">
                <a:solidFill>
                  <a:srgbClr val="211B41"/>
                </a:solidFill>
                <a:latin typeface="Calibri" pitchFamily="34" charset="0"/>
                <a:ea typeface="Calibri" pitchFamily="34" charset="-122"/>
                <a:cs typeface="Calibri" pitchFamily="34" charset="-120"/>
              </a:rPr>
              <a:t>contextual leaps.</a:t>
            </a:r>
            <a:endParaRPr lang="en-US" sz="1100" dirty="0"/>
          </a:p>
        </p:txBody>
      </p:sp>
      <p:sp>
        <p:nvSpPr>
          <p:cNvPr id="20" name="Shape 18"/>
          <p:cNvSpPr/>
          <p:nvPr/>
        </p:nvSpPr>
        <p:spPr>
          <a:xfrm>
            <a:off x="566928" y="4178808"/>
            <a:ext cx="1554480" cy="246888"/>
          </a:xfrm>
          <a:prstGeom prst="rect">
            <a:avLst/>
          </a:prstGeom>
          <a:solidFill>
            <a:srgbClr val="4A7A82"/>
          </a:solidFill>
          <a:ln w="12700">
            <a:solidFill>
              <a:srgbClr val="4A7A82"/>
            </a:solidFill>
            <a:prstDash val="solid"/>
          </a:ln>
        </p:spPr>
        <p:txBody>
          <a:bodyPr/>
          <a:lstStyle/>
          <a:p>
            <a:endParaRPr lang="en-US"/>
          </a:p>
        </p:txBody>
      </p:sp>
      <p:sp>
        <p:nvSpPr>
          <p:cNvPr id="21" name="Text 19"/>
          <p:cNvSpPr/>
          <p:nvPr/>
        </p:nvSpPr>
        <p:spPr>
          <a:xfrm>
            <a:off x="566928" y="4178808"/>
            <a:ext cx="1554480" cy="24688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Not yet</a:t>
            </a:r>
            <a:endParaRPr lang="en-US" sz="900" dirty="0"/>
          </a:p>
        </p:txBody>
      </p:sp>
      <p:sp>
        <p:nvSpPr>
          <p:cNvPr id="22" name="Shape 20"/>
          <p:cNvSpPr/>
          <p:nvPr/>
        </p:nvSpPr>
        <p:spPr>
          <a:xfrm>
            <a:off x="4800600" y="3017520"/>
            <a:ext cx="4206240" cy="1508760"/>
          </a:xfrm>
          <a:prstGeom prst="rect">
            <a:avLst/>
          </a:prstGeom>
          <a:solidFill>
            <a:srgbClr val="BBCE8E"/>
          </a:solidFill>
          <a:ln w="12700">
            <a:solidFill>
              <a:srgbClr val="BBCE8E"/>
            </a:solidFill>
            <a:prstDash val="solid"/>
          </a:ln>
          <a:effectLst>
            <a:outerShdw blurRad="63500" dist="25400" dir="8100000" algn="bl" rotWithShape="0">
              <a:srgbClr val="000000">
                <a:alpha val="8000"/>
              </a:srgbClr>
            </a:outerShdw>
          </a:effectLst>
        </p:spPr>
        <p:txBody>
          <a:bodyPr/>
          <a:lstStyle/>
          <a:p>
            <a:endParaRPr lang="en-US"/>
          </a:p>
        </p:txBody>
      </p:sp>
      <p:sp>
        <p:nvSpPr>
          <p:cNvPr id="23" name="Text 21"/>
          <p:cNvSpPr/>
          <p:nvPr/>
        </p:nvSpPr>
        <p:spPr>
          <a:xfrm>
            <a:off x="4937760" y="3090672"/>
            <a:ext cx="3200400" cy="365760"/>
          </a:xfrm>
          <a:prstGeom prst="rect">
            <a:avLst/>
          </a:prstGeom>
          <a:noFill/>
          <a:ln/>
        </p:spPr>
        <p:txBody>
          <a:bodyPr wrap="square" lIns="0" tIns="0" rIns="0" bIns="0" rtlCol="0" anchor="ctr"/>
          <a:lstStyle/>
          <a:p>
            <a:pPr marL="0" indent="0">
              <a:buNone/>
            </a:pPr>
            <a:r>
              <a:rPr lang="en-US" sz="1400" b="1" dirty="0">
                <a:solidFill>
                  <a:srgbClr val="211B41"/>
                </a:solidFill>
                <a:latin typeface="Georgia" pitchFamily="34" charset="0"/>
                <a:ea typeface="Georgia" pitchFamily="34" charset="-122"/>
                <a:cs typeface="Georgia" pitchFamily="34" charset="-120"/>
              </a:rPr>
              <a:t>Right Emotional</a:t>
            </a:r>
            <a:endParaRPr lang="en-US" sz="1400" dirty="0"/>
          </a:p>
        </p:txBody>
      </p:sp>
      <p:sp>
        <p:nvSpPr>
          <p:cNvPr id="24" name="Text 22"/>
          <p:cNvSpPr/>
          <p:nvPr/>
        </p:nvSpPr>
        <p:spPr>
          <a:xfrm>
            <a:off x="4937760" y="3474720"/>
            <a:ext cx="3246120" cy="685800"/>
          </a:xfrm>
          <a:prstGeom prst="rect">
            <a:avLst/>
          </a:prstGeom>
          <a:noFill/>
          <a:ln/>
        </p:spPr>
        <p:txBody>
          <a:bodyPr wrap="square" lIns="0" tIns="0" rIns="0" bIns="0" rtlCol="0" anchor="ctr"/>
          <a:lstStyle/>
          <a:p>
            <a:pPr marL="0" indent="0">
              <a:buNone/>
            </a:pPr>
            <a:r>
              <a:rPr lang="en-US" sz="1100" dirty="0">
                <a:solidFill>
                  <a:srgbClr val="211B41"/>
                </a:solidFill>
                <a:latin typeface="Calibri" pitchFamily="34" charset="0"/>
                <a:ea typeface="Calibri" pitchFamily="34" charset="-122"/>
                <a:cs typeface="Calibri" pitchFamily="34" charset="-120"/>
              </a:rPr>
              <a:t>Empathy, presence, genuine human</a:t>
            </a:r>
            <a:endParaRPr lang="en-US" sz="1100" dirty="0"/>
          </a:p>
          <a:p>
            <a:pPr marL="0" indent="0">
              <a:buNone/>
            </a:pPr>
            <a:r>
              <a:rPr lang="en-US" sz="1100" dirty="0">
                <a:solidFill>
                  <a:srgbClr val="211B41"/>
                </a:solidFill>
                <a:latin typeface="Calibri" pitchFamily="34" charset="0"/>
                <a:ea typeface="Calibri" pitchFamily="34" charset="-122"/>
                <a:cs typeface="Calibri" pitchFamily="34" charset="-120"/>
              </a:rPr>
              <a:t>connection and intuition.</a:t>
            </a:r>
            <a:endParaRPr lang="en-US" sz="1100" dirty="0"/>
          </a:p>
        </p:txBody>
      </p:sp>
      <p:sp>
        <p:nvSpPr>
          <p:cNvPr id="25" name="Shape 23"/>
          <p:cNvSpPr/>
          <p:nvPr/>
        </p:nvSpPr>
        <p:spPr>
          <a:xfrm>
            <a:off x="4910328" y="4178808"/>
            <a:ext cx="1554480" cy="246888"/>
          </a:xfrm>
          <a:prstGeom prst="rect">
            <a:avLst/>
          </a:prstGeom>
          <a:solidFill>
            <a:srgbClr val="626EFF"/>
          </a:solidFill>
          <a:ln w="12700">
            <a:solidFill>
              <a:srgbClr val="626EFF"/>
            </a:solidFill>
            <a:prstDash val="solid"/>
          </a:ln>
        </p:spPr>
        <p:txBody>
          <a:bodyPr/>
          <a:lstStyle/>
          <a:p>
            <a:endParaRPr lang="en-US"/>
          </a:p>
        </p:txBody>
      </p:sp>
      <p:sp>
        <p:nvSpPr>
          <p:cNvPr id="26" name="Text 24"/>
          <p:cNvSpPr/>
          <p:nvPr/>
        </p:nvSpPr>
        <p:spPr>
          <a:xfrm>
            <a:off x="4910328" y="4178808"/>
            <a:ext cx="1554480" cy="24688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Yours to keep</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211B41"/>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Where Is This Going? (The Honest Version)</a:t>
            </a:r>
            <a:endParaRPr lang="en-US" sz="2600" dirty="0"/>
          </a:p>
        </p:txBody>
      </p:sp>
      <p:sp>
        <p:nvSpPr>
          <p:cNvPr id="3" name="Shape 1"/>
          <p:cNvSpPr/>
          <p:nvPr/>
        </p:nvSpPr>
        <p:spPr>
          <a:xfrm>
            <a:off x="457200" y="822960"/>
            <a:ext cx="8229600" cy="27432"/>
          </a:xfrm>
          <a:prstGeom prst="rect">
            <a:avLst/>
          </a:prstGeom>
          <a:solidFill>
            <a:srgbClr val="2E2458"/>
          </a:solidFill>
          <a:ln w="12700">
            <a:solidFill>
              <a:srgbClr val="2E2458"/>
            </a:solidFill>
            <a:prstDash val="solid"/>
          </a:ln>
        </p:spPr>
        <p:txBody>
          <a:bodyPr/>
          <a:lstStyle/>
          <a:p>
            <a:endParaRPr lang="en-US"/>
          </a:p>
        </p:txBody>
      </p:sp>
      <p:sp>
        <p:nvSpPr>
          <p:cNvPr id="4" name="Shape 2"/>
          <p:cNvSpPr/>
          <p:nvPr/>
        </p:nvSpPr>
        <p:spPr>
          <a:xfrm>
            <a:off x="0" y="4919472"/>
            <a:ext cx="9144000" cy="224028"/>
          </a:xfrm>
          <a:prstGeom prst="rect">
            <a:avLst/>
          </a:prstGeom>
          <a:solidFill>
            <a:srgbClr val="2E2458"/>
          </a:solidFill>
          <a:ln w="12700">
            <a:solidFill>
              <a:srgbClr val="2E2458"/>
            </a:solidFill>
            <a:prstDash val="solid"/>
          </a:ln>
        </p:spPr>
        <p:txBody>
          <a:bodyPr/>
          <a:lstStyle/>
          <a:p>
            <a:endParaRPr lang="en-US"/>
          </a:p>
        </p:txBody>
      </p:sp>
      <p:sp>
        <p:nvSpPr>
          <p:cNvPr id="5" name="Text 3"/>
          <p:cNvSpPr/>
          <p:nvPr/>
        </p:nvSpPr>
        <p:spPr>
          <a:xfrm>
            <a:off x="274320" y="4928616"/>
            <a:ext cx="8595360" cy="201168"/>
          </a:xfrm>
          <a:prstGeom prst="rect">
            <a:avLst/>
          </a:prstGeom>
          <a:noFill/>
          <a:ln/>
        </p:spPr>
        <p:txBody>
          <a:bodyPr wrap="square" lIns="0" tIns="0" rIns="0" bIns="0" rtlCol="0" anchor="ctr"/>
          <a:lstStyle/>
          <a:p>
            <a:pPr marL="0" indent="0">
              <a:buNone/>
            </a:pPr>
            <a:r>
              <a:rPr lang="en-US" sz="900" dirty="0">
                <a:solidFill>
                  <a:srgbClr val="4A7A82"/>
                </a:solidFill>
                <a:latin typeface="Calibri" pitchFamily="34" charset="0"/>
                <a:ea typeface="Calibri" pitchFamily="34" charset="-122"/>
                <a:cs typeface="Calibri" pitchFamily="34" charset="-120"/>
              </a:rPr>
              <a:t>Blockstruct GmbH  ·  AI Demystified Workshop  ·  UniCredit  ·  April 2026</a:t>
            </a:r>
            <a:endParaRPr lang="en-US" sz="900" dirty="0"/>
          </a:p>
        </p:txBody>
      </p:sp>
      <p:sp>
        <p:nvSpPr>
          <p:cNvPr id="6" name="Shape 4"/>
          <p:cNvSpPr/>
          <p:nvPr/>
        </p:nvSpPr>
        <p:spPr>
          <a:xfrm>
            <a:off x="457200" y="1005840"/>
            <a:ext cx="1371600" cy="1188720"/>
          </a:xfrm>
          <a:prstGeom prst="rect">
            <a:avLst/>
          </a:prstGeom>
          <a:solidFill>
            <a:srgbClr val="626EFF"/>
          </a:solidFill>
          <a:ln w="12700">
            <a:solidFill>
              <a:srgbClr val="626EFF"/>
            </a:solidFill>
            <a:prstDash val="solid"/>
          </a:ln>
        </p:spPr>
        <p:txBody>
          <a:bodyPr/>
          <a:lstStyle/>
          <a:p>
            <a:endParaRPr lang="en-US"/>
          </a:p>
        </p:txBody>
      </p:sp>
      <p:sp>
        <p:nvSpPr>
          <p:cNvPr id="7" name="Text 5"/>
          <p:cNvSpPr/>
          <p:nvPr/>
        </p:nvSpPr>
        <p:spPr>
          <a:xfrm>
            <a:off x="457200" y="1097280"/>
            <a:ext cx="1371600" cy="1005840"/>
          </a:xfrm>
          <a:prstGeom prst="rect">
            <a:avLst/>
          </a:prstGeom>
          <a:noFill/>
          <a:ln/>
        </p:spPr>
        <p:txBody>
          <a:bodyPr wrap="square" rtlCol="0" anchor="ctr"/>
          <a:lstStyle/>
          <a:p>
            <a:pPr marL="0" indent="0" algn="ctr">
              <a:buNone/>
            </a:pPr>
            <a:r>
              <a:rPr lang="en-US" sz="1200" b="1" dirty="0">
                <a:solidFill>
                  <a:srgbClr val="F0B20D"/>
                </a:solidFill>
                <a:latin typeface="Calibri" pitchFamily="34" charset="0"/>
                <a:ea typeface="Calibri" pitchFamily="34" charset="-122"/>
                <a:cs typeface="Calibri" pitchFamily="34" charset="-120"/>
              </a:rPr>
              <a:t>12–18 months</a:t>
            </a:r>
            <a:endParaRPr lang="en-US" sz="1200" dirty="0"/>
          </a:p>
        </p:txBody>
      </p:sp>
      <p:sp>
        <p:nvSpPr>
          <p:cNvPr id="8" name="Shape 6"/>
          <p:cNvSpPr/>
          <p:nvPr/>
        </p:nvSpPr>
        <p:spPr>
          <a:xfrm>
            <a:off x="1920240" y="1005840"/>
            <a:ext cx="6766560" cy="1188720"/>
          </a:xfrm>
          <a:prstGeom prst="rect">
            <a:avLst/>
          </a:prstGeom>
          <a:solidFill>
            <a:srgbClr val="2E2458"/>
          </a:solidFill>
          <a:ln w="12700">
            <a:solidFill>
              <a:srgbClr val="2E2458"/>
            </a:solidFill>
            <a:prstDash val="solid"/>
          </a:ln>
        </p:spPr>
        <p:txBody>
          <a:bodyPr/>
          <a:lstStyle/>
          <a:p>
            <a:endParaRPr lang="en-US"/>
          </a:p>
        </p:txBody>
      </p:sp>
      <p:sp>
        <p:nvSpPr>
          <p:cNvPr id="9" name="Text 7"/>
          <p:cNvSpPr/>
          <p:nvPr/>
        </p:nvSpPr>
        <p:spPr>
          <a:xfrm>
            <a:off x="2011680" y="1069848"/>
            <a:ext cx="6492240" cy="347472"/>
          </a:xfrm>
          <a:prstGeom prst="rect">
            <a:avLst/>
          </a:prstGeom>
          <a:noFill/>
          <a:ln/>
        </p:spPr>
        <p:txBody>
          <a:bodyPr wrap="square" lIns="0" tIns="0" rIns="0" bIns="0" rtlCol="0" anchor="ctr"/>
          <a:lstStyle/>
          <a:p>
            <a:pPr marL="342900" indent="-342900">
              <a:buSzPct val="100000"/>
              <a:buChar char="•"/>
            </a:pPr>
            <a:r>
              <a:rPr lang="en-US" sz="1150" dirty="0">
                <a:solidFill>
                  <a:srgbClr val="FFFFFF"/>
                </a:solidFill>
                <a:latin typeface="Calibri" pitchFamily="34" charset="0"/>
                <a:ea typeface="Calibri" pitchFamily="34" charset="-122"/>
                <a:cs typeface="Calibri" pitchFamily="34" charset="-120"/>
              </a:rPr>
              <a:t>Agents that reliably execute multi-step banking workflows</a:t>
            </a:r>
            <a:endParaRPr lang="en-US" sz="1150" dirty="0"/>
          </a:p>
        </p:txBody>
      </p:sp>
      <p:sp>
        <p:nvSpPr>
          <p:cNvPr id="10" name="Text 8"/>
          <p:cNvSpPr/>
          <p:nvPr/>
        </p:nvSpPr>
        <p:spPr>
          <a:xfrm>
            <a:off x="2011680" y="1435608"/>
            <a:ext cx="6492240" cy="347472"/>
          </a:xfrm>
          <a:prstGeom prst="rect">
            <a:avLst/>
          </a:prstGeom>
          <a:noFill/>
          <a:ln/>
        </p:spPr>
        <p:txBody>
          <a:bodyPr wrap="square" lIns="0" tIns="0" rIns="0" bIns="0" rtlCol="0" anchor="ctr"/>
          <a:lstStyle/>
          <a:p>
            <a:pPr marL="342900" indent="-342900">
              <a:buSzPct val="100000"/>
              <a:buChar char="•"/>
            </a:pPr>
            <a:r>
              <a:rPr lang="en-US" sz="1150" dirty="0">
                <a:solidFill>
                  <a:srgbClr val="FFFFFF"/>
                </a:solidFill>
                <a:latin typeface="Calibri" pitchFamily="34" charset="0"/>
                <a:ea typeface="Calibri" pitchFamily="34" charset="-122"/>
                <a:cs typeface="Calibri" pitchFamily="34" charset="-120"/>
              </a:rPr>
              <a:t>Memory — AI that remembers your clients across sessions</a:t>
            </a:r>
            <a:endParaRPr lang="en-US" sz="1150" dirty="0"/>
          </a:p>
        </p:txBody>
      </p:sp>
      <p:sp>
        <p:nvSpPr>
          <p:cNvPr id="11" name="Text 9"/>
          <p:cNvSpPr/>
          <p:nvPr/>
        </p:nvSpPr>
        <p:spPr>
          <a:xfrm>
            <a:off x="2011680" y="1801368"/>
            <a:ext cx="6492240" cy="347472"/>
          </a:xfrm>
          <a:prstGeom prst="rect">
            <a:avLst/>
          </a:prstGeom>
          <a:noFill/>
          <a:ln/>
        </p:spPr>
        <p:txBody>
          <a:bodyPr wrap="square" lIns="0" tIns="0" rIns="0" bIns="0" rtlCol="0" anchor="ctr"/>
          <a:lstStyle/>
          <a:p>
            <a:pPr marL="342900" indent="-342900">
              <a:buSzPct val="100000"/>
              <a:buChar char="•"/>
            </a:pPr>
            <a:r>
              <a:rPr lang="en-US" sz="1150" dirty="0">
                <a:solidFill>
                  <a:srgbClr val="FFFFFF"/>
                </a:solidFill>
                <a:latin typeface="Calibri" pitchFamily="34" charset="0"/>
                <a:ea typeface="Calibri" pitchFamily="34" charset="-122"/>
                <a:cs typeface="Calibri" pitchFamily="34" charset="-120"/>
              </a:rPr>
              <a:t>Multimodal: reading contracts, charts, scanned documents together</a:t>
            </a:r>
            <a:endParaRPr lang="en-US" sz="1150" dirty="0"/>
          </a:p>
        </p:txBody>
      </p:sp>
      <p:sp>
        <p:nvSpPr>
          <p:cNvPr id="12" name="Shape 10"/>
          <p:cNvSpPr/>
          <p:nvPr/>
        </p:nvSpPr>
        <p:spPr>
          <a:xfrm>
            <a:off x="457200" y="2331720"/>
            <a:ext cx="1371600" cy="1188720"/>
          </a:xfrm>
          <a:prstGeom prst="rect">
            <a:avLst/>
          </a:prstGeom>
          <a:solidFill>
            <a:srgbClr val="2E2458"/>
          </a:solidFill>
          <a:ln w="12700">
            <a:solidFill>
              <a:srgbClr val="2E2458"/>
            </a:solidFill>
            <a:prstDash val="solid"/>
          </a:ln>
        </p:spPr>
        <p:txBody>
          <a:bodyPr/>
          <a:lstStyle/>
          <a:p>
            <a:endParaRPr lang="en-US"/>
          </a:p>
        </p:txBody>
      </p:sp>
      <p:sp>
        <p:nvSpPr>
          <p:cNvPr id="13" name="Text 11"/>
          <p:cNvSpPr/>
          <p:nvPr/>
        </p:nvSpPr>
        <p:spPr>
          <a:xfrm>
            <a:off x="457200" y="2423160"/>
            <a:ext cx="1371600" cy="1005840"/>
          </a:xfrm>
          <a:prstGeom prst="rect">
            <a:avLst/>
          </a:prstGeom>
          <a:noFill/>
          <a:ln/>
        </p:spPr>
        <p:txBody>
          <a:bodyPr wrap="square" rtlCol="0" anchor="ctr"/>
          <a:lstStyle/>
          <a:p>
            <a:pPr marL="0" indent="0" algn="ctr">
              <a:buNone/>
            </a:pPr>
            <a:r>
              <a:rPr lang="en-US" sz="1200" b="1" dirty="0">
                <a:solidFill>
                  <a:srgbClr val="F0B20D"/>
                </a:solidFill>
                <a:latin typeface="Calibri" pitchFamily="34" charset="0"/>
                <a:ea typeface="Calibri" pitchFamily="34" charset="-122"/>
                <a:cs typeface="Calibri" pitchFamily="34" charset="-120"/>
              </a:rPr>
              <a:t>2–3 years</a:t>
            </a:r>
            <a:endParaRPr lang="en-US" sz="1200" dirty="0"/>
          </a:p>
        </p:txBody>
      </p:sp>
      <p:sp>
        <p:nvSpPr>
          <p:cNvPr id="14" name="Shape 12"/>
          <p:cNvSpPr/>
          <p:nvPr/>
        </p:nvSpPr>
        <p:spPr>
          <a:xfrm>
            <a:off x="1920240" y="2331720"/>
            <a:ext cx="6766560" cy="1188720"/>
          </a:xfrm>
          <a:prstGeom prst="rect">
            <a:avLst/>
          </a:prstGeom>
          <a:solidFill>
            <a:srgbClr val="2E2458"/>
          </a:solidFill>
          <a:ln w="12700">
            <a:solidFill>
              <a:srgbClr val="2E2458"/>
            </a:solidFill>
            <a:prstDash val="solid"/>
          </a:ln>
        </p:spPr>
        <p:txBody>
          <a:bodyPr/>
          <a:lstStyle/>
          <a:p>
            <a:endParaRPr lang="en-US"/>
          </a:p>
        </p:txBody>
      </p:sp>
      <p:sp>
        <p:nvSpPr>
          <p:cNvPr id="15" name="Text 13"/>
          <p:cNvSpPr/>
          <p:nvPr/>
        </p:nvSpPr>
        <p:spPr>
          <a:xfrm>
            <a:off x="2011680" y="2395728"/>
            <a:ext cx="6492240" cy="347472"/>
          </a:xfrm>
          <a:prstGeom prst="rect">
            <a:avLst/>
          </a:prstGeom>
          <a:noFill/>
          <a:ln/>
        </p:spPr>
        <p:txBody>
          <a:bodyPr wrap="square" lIns="0" tIns="0" rIns="0" bIns="0" rtlCol="0" anchor="ctr"/>
          <a:lstStyle/>
          <a:p>
            <a:pPr marL="342900" indent="-342900">
              <a:buSzPct val="100000"/>
              <a:buChar char="•"/>
            </a:pPr>
            <a:r>
              <a:rPr lang="en-US" sz="1150" dirty="0">
                <a:solidFill>
                  <a:srgbClr val="FFFFFF"/>
                </a:solidFill>
                <a:latin typeface="Calibri" pitchFamily="34" charset="0"/>
                <a:ea typeface="Calibri" pitchFamily="34" charset="-122"/>
                <a:cs typeface="Calibri" pitchFamily="34" charset="-120"/>
              </a:rPr>
              <a:t>Better reasoning under uncertainty (reducing hallucinations further)</a:t>
            </a:r>
            <a:endParaRPr lang="en-US" sz="1150" dirty="0"/>
          </a:p>
        </p:txBody>
      </p:sp>
      <p:sp>
        <p:nvSpPr>
          <p:cNvPr id="16" name="Text 14"/>
          <p:cNvSpPr/>
          <p:nvPr/>
        </p:nvSpPr>
        <p:spPr>
          <a:xfrm>
            <a:off x="2011680" y="2761488"/>
            <a:ext cx="6492240" cy="347472"/>
          </a:xfrm>
          <a:prstGeom prst="rect">
            <a:avLst/>
          </a:prstGeom>
          <a:noFill/>
          <a:ln/>
        </p:spPr>
        <p:txBody>
          <a:bodyPr wrap="square" lIns="0" tIns="0" rIns="0" bIns="0" rtlCol="0" anchor="ctr"/>
          <a:lstStyle/>
          <a:p>
            <a:pPr marL="342900" indent="-342900">
              <a:buSzPct val="100000"/>
              <a:buChar char="•"/>
            </a:pPr>
            <a:r>
              <a:rPr lang="en-US" sz="1150" dirty="0">
                <a:solidFill>
                  <a:srgbClr val="FFFFFF"/>
                </a:solidFill>
                <a:latin typeface="Calibri" pitchFamily="34" charset="0"/>
                <a:ea typeface="Calibri" pitchFamily="34" charset="-122"/>
                <a:cs typeface="Calibri" pitchFamily="34" charset="-120"/>
              </a:rPr>
              <a:t>Smaller, cheaper, deployable on-premise models</a:t>
            </a:r>
            <a:endParaRPr lang="en-US" sz="1150" dirty="0"/>
          </a:p>
        </p:txBody>
      </p:sp>
      <p:sp>
        <p:nvSpPr>
          <p:cNvPr id="17" name="Text 15"/>
          <p:cNvSpPr/>
          <p:nvPr/>
        </p:nvSpPr>
        <p:spPr>
          <a:xfrm>
            <a:off x="2011680" y="3127248"/>
            <a:ext cx="6492240" cy="347472"/>
          </a:xfrm>
          <a:prstGeom prst="rect">
            <a:avLst/>
          </a:prstGeom>
          <a:noFill/>
          <a:ln/>
        </p:spPr>
        <p:txBody>
          <a:bodyPr wrap="square" lIns="0" tIns="0" rIns="0" bIns="0" rtlCol="0" anchor="ctr"/>
          <a:lstStyle/>
          <a:p>
            <a:pPr marL="342900" indent="-342900">
              <a:buSzPct val="100000"/>
              <a:buChar char="•"/>
            </a:pPr>
            <a:r>
              <a:rPr lang="en-US" sz="1150" dirty="0">
                <a:solidFill>
                  <a:srgbClr val="FFFFFF"/>
                </a:solidFill>
                <a:latin typeface="Calibri" pitchFamily="34" charset="0"/>
                <a:ea typeface="Calibri" pitchFamily="34" charset="-122"/>
                <a:cs typeface="Calibri" pitchFamily="34" charset="-120"/>
              </a:rPr>
              <a:t>Regulatory clarity: AI Act compliance tooling matures</a:t>
            </a:r>
            <a:endParaRPr lang="en-US" sz="1150" dirty="0"/>
          </a:p>
        </p:txBody>
      </p:sp>
      <p:sp>
        <p:nvSpPr>
          <p:cNvPr id="18" name="Shape 16"/>
          <p:cNvSpPr/>
          <p:nvPr/>
        </p:nvSpPr>
        <p:spPr>
          <a:xfrm>
            <a:off x="457200" y="3657600"/>
            <a:ext cx="1371600" cy="1188720"/>
          </a:xfrm>
          <a:prstGeom prst="rect">
            <a:avLst/>
          </a:prstGeom>
          <a:solidFill>
            <a:srgbClr val="5E4692"/>
          </a:solidFill>
          <a:ln w="12700">
            <a:solidFill>
              <a:srgbClr val="5E4692"/>
            </a:solidFill>
            <a:prstDash val="solid"/>
          </a:ln>
        </p:spPr>
        <p:txBody>
          <a:bodyPr/>
          <a:lstStyle/>
          <a:p>
            <a:endParaRPr lang="en-US"/>
          </a:p>
        </p:txBody>
      </p:sp>
      <p:sp>
        <p:nvSpPr>
          <p:cNvPr id="19" name="Text 17"/>
          <p:cNvSpPr/>
          <p:nvPr/>
        </p:nvSpPr>
        <p:spPr>
          <a:xfrm>
            <a:off x="457200" y="3749040"/>
            <a:ext cx="1371600" cy="1005840"/>
          </a:xfrm>
          <a:prstGeom prst="rect">
            <a:avLst/>
          </a:prstGeom>
          <a:noFill/>
          <a:ln/>
        </p:spPr>
        <p:txBody>
          <a:bodyPr wrap="square" rtlCol="0" anchor="ctr"/>
          <a:lstStyle/>
          <a:p>
            <a:pPr marL="0" indent="0" algn="ctr">
              <a:buNone/>
            </a:pPr>
            <a:r>
              <a:rPr lang="en-US" sz="1200" b="1" dirty="0">
                <a:solidFill>
                  <a:srgbClr val="F0B20D"/>
                </a:solidFill>
                <a:latin typeface="Calibri" pitchFamily="34" charset="0"/>
                <a:ea typeface="Calibri" pitchFamily="34" charset="-122"/>
                <a:cs typeface="Calibri" pitchFamily="34" charset="-120"/>
              </a:rPr>
              <a:t>Ongoing</a:t>
            </a:r>
            <a:endParaRPr lang="en-US" sz="1200" dirty="0"/>
          </a:p>
        </p:txBody>
      </p:sp>
      <p:sp>
        <p:nvSpPr>
          <p:cNvPr id="20" name="Shape 18"/>
          <p:cNvSpPr/>
          <p:nvPr/>
        </p:nvSpPr>
        <p:spPr>
          <a:xfrm>
            <a:off x="1920240" y="3657600"/>
            <a:ext cx="6766560" cy="1188720"/>
          </a:xfrm>
          <a:prstGeom prst="rect">
            <a:avLst/>
          </a:prstGeom>
          <a:solidFill>
            <a:srgbClr val="2E2458"/>
          </a:solidFill>
          <a:ln w="12700">
            <a:solidFill>
              <a:srgbClr val="2E2458"/>
            </a:solidFill>
            <a:prstDash val="solid"/>
          </a:ln>
        </p:spPr>
        <p:txBody>
          <a:bodyPr/>
          <a:lstStyle/>
          <a:p>
            <a:endParaRPr lang="en-US"/>
          </a:p>
        </p:txBody>
      </p:sp>
      <p:sp>
        <p:nvSpPr>
          <p:cNvPr id="21" name="Text 19"/>
          <p:cNvSpPr/>
          <p:nvPr/>
        </p:nvSpPr>
        <p:spPr>
          <a:xfrm>
            <a:off x="2011680" y="3721608"/>
            <a:ext cx="6492240" cy="347472"/>
          </a:xfrm>
          <a:prstGeom prst="rect">
            <a:avLst/>
          </a:prstGeom>
          <a:noFill/>
          <a:ln/>
        </p:spPr>
        <p:txBody>
          <a:bodyPr wrap="square" lIns="0" tIns="0" rIns="0" bIns="0" rtlCol="0" anchor="ctr"/>
          <a:lstStyle/>
          <a:p>
            <a:pPr marL="342900" indent="-342900">
              <a:buSzPct val="100000"/>
              <a:buChar char="•"/>
            </a:pPr>
            <a:r>
              <a:rPr lang="en-US" sz="1150" dirty="0">
                <a:solidFill>
                  <a:srgbClr val="FFFFFF"/>
                </a:solidFill>
                <a:latin typeface="Calibri" pitchFamily="34" charset="0"/>
                <a:ea typeface="Calibri" pitchFamily="34" charset="-122"/>
                <a:cs typeface="Calibri" pitchFamily="34" charset="-120"/>
              </a:rPr>
              <a:t>The boundary between 'AI assistant' and 'AI colleague' continues to blur</a:t>
            </a:r>
            <a:endParaRPr lang="en-US" sz="1150" dirty="0"/>
          </a:p>
        </p:txBody>
      </p:sp>
      <p:sp>
        <p:nvSpPr>
          <p:cNvPr id="22" name="Text 20"/>
          <p:cNvSpPr/>
          <p:nvPr/>
        </p:nvSpPr>
        <p:spPr>
          <a:xfrm>
            <a:off x="2011680" y="4087368"/>
            <a:ext cx="6492240" cy="347472"/>
          </a:xfrm>
          <a:prstGeom prst="rect">
            <a:avLst/>
          </a:prstGeom>
          <a:noFill/>
          <a:ln/>
        </p:spPr>
        <p:txBody>
          <a:bodyPr wrap="square" lIns="0" tIns="0" rIns="0" bIns="0" rtlCol="0" anchor="ctr"/>
          <a:lstStyle/>
          <a:p>
            <a:pPr marL="342900" indent="-342900">
              <a:buSzPct val="100000"/>
              <a:buChar char="•"/>
            </a:pPr>
            <a:r>
              <a:rPr lang="en-US" sz="1150" dirty="0">
                <a:solidFill>
                  <a:srgbClr val="FFFFFF"/>
                </a:solidFill>
                <a:latin typeface="Calibri" pitchFamily="34" charset="0"/>
                <a:ea typeface="Calibri" pitchFamily="34" charset="-122"/>
                <a:cs typeface="Calibri" pitchFamily="34" charset="-120"/>
              </a:rPr>
              <a:t>The professionals who thrive will know how to ask the right questions</a:t>
            </a:r>
            <a:endParaRPr lang="en-US" sz="1150" dirty="0"/>
          </a:p>
        </p:txBody>
      </p:sp>
      <p:sp>
        <p:nvSpPr>
          <p:cNvPr id="23" name="Text 21"/>
          <p:cNvSpPr/>
          <p:nvPr/>
        </p:nvSpPr>
        <p:spPr>
          <a:xfrm>
            <a:off x="2011680" y="4453128"/>
            <a:ext cx="6492240" cy="347472"/>
          </a:xfrm>
          <a:prstGeom prst="rect">
            <a:avLst/>
          </a:prstGeom>
          <a:noFill/>
          <a:ln/>
        </p:spPr>
        <p:txBody>
          <a:bodyPr wrap="square" lIns="0" tIns="0" rIns="0" bIns="0" rtlCol="0" anchor="ctr"/>
          <a:lstStyle/>
          <a:p>
            <a:pPr marL="342900" indent="-342900">
              <a:buSzPct val="100000"/>
              <a:buChar char="•"/>
            </a:pPr>
            <a:r>
              <a:rPr lang="en-US" sz="1150" dirty="0">
                <a:solidFill>
                  <a:srgbClr val="FFFFFF"/>
                </a:solidFill>
                <a:latin typeface="Calibri" pitchFamily="34" charset="0"/>
                <a:ea typeface="Calibri" pitchFamily="34" charset="-122"/>
                <a:cs typeface="Calibri" pitchFamily="34" charset="-120"/>
              </a:rPr>
              <a:t>Your judgment, relationships, and context remain your competitive moat</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626EFF"/>
        </a:solidFill>
        <a:effectLst/>
      </p:bgPr>
    </p:bg>
    <p:spTree>
      <p:nvGrpSpPr>
        <p:cNvPr id="1" name=""/>
        <p:cNvGrpSpPr/>
        <p:nvPr/>
      </p:nvGrpSpPr>
      <p:grpSpPr>
        <a:xfrm>
          <a:off x="0" y="0"/>
          <a:ext cx="0" cy="0"/>
          <a:chOff x="0" y="0"/>
          <a:chExt cx="0" cy="0"/>
        </a:xfrm>
      </p:grpSpPr>
      <p:sp>
        <p:nvSpPr>
          <p:cNvPr id="2" name="Shape 0"/>
          <p:cNvSpPr/>
          <p:nvPr/>
        </p:nvSpPr>
        <p:spPr>
          <a:xfrm>
            <a:off x="-1371600" y="-1828800"/>
            <a:ext cx="5486400" cy="5486400"/>
          </a:xfrm>
          <a:prstGeom prst="line">
            <a:avLst/>
          </a:prstGeom>
          <a:solidFill>
            <a:srgbClr val="FFFFFF">
              <a:alpha val="8000"/>
            </a:srgbClr>
          </a:solidFill>
          <a:ln w="12700">
            <a:solidFill>
              <a:srgbClr val="626EFF"/>
            </a:solidFill>
            <a:prstDash val="solid"/>
          </a:ln>
        </p:spPr>
        <p:txBody>
          <a:bodyPr/>
          <a:lstStyle/>
          <a:p>
            <a:endParaRPr lang="en-US"/>
          </a:p>
        </p:txBody>
      </p:sp>
      <p:sp>
        <p:nvSpPr>
          <p:cNvPr id="3" name="Shape 1"/>
          <p:cNvSpPr/>
          <p:nvPr/>
        </p:nvSpPr>
        <p:spPr>
          <a:xfrm>
            <a:off x="0" y="0"/>
            <a:ext cx="109728" cy="5143500"/>
          </a:xfrm>
          <a:prstGeom prst="rect">
            <a:avLst/>
          </a:prstGeom>
          <a:solidFill>
            <a:srgbClr val="F0B20D"/>
          </a:solidFill>
          <a:ln w="12700">
            <a:solidFill>
              <a:srgbClr val="F0B20D"/>
            </a:solidFill>
            <a:prstDash val="solid"/>
          </a:ln>
        </p:spPr>
        <p:txBody>
          <a:bodyPr/>
          <a:lstStyle/>
          <a:p>
            <a:endParaRPr lang="en-US"/>
          </a:p>
        </p:txBody>
      </p:sp>
      <p:sp>
        <p:nvSpPr>
          <p:cNvPr id="4" name="Text 2"/>
          <p:cNvSpPr/>
          <p:nvPr/>
        </p:nvSpPr>
        <p:spPr>
          <a:xfrm>
            <a:off x="320040" y="1188720"/>
            <a:ext cx="8229600" cy="2011680"/>
          </a:xfrm>
          <a:prstGeom prst="rect">
            <a:avLst/>
          </a:prstGeom>
          <a:noFill/>
          <a:ln/>
        </p:spPr>
        <p:txBody>
          <a:bodyPr wrap="square" rtlCol="0" anchor="ctr"/>
          <a:lstStyle/>
          <a:p>
            <a:pPr marL="0" indent="0">
              <a:buNone/>
            </a:pPr>
            <a:r>
              <a:rPr lang="en-US" sz="4800" b="1" dirty="0">
                <a:solidFill>
                  <a:srgbClr val="FFFFFF"/>
                </a:solidFill>
                <a:latin typeface="Georgia" pitchFamily="34" charset="0"/>
                <a:ea typeface="Georgia" pitchFamily="34" charset="-122"/>
                <a:cs typeface="Georgia" pitchFamily="34" charset="-120"/>
              </a:rPr>
              <a:t>From Understanding</a:t>
            </a:r>
            <a:endParaRPr lang="en-US" sz="4800" dirty="0"/>
          </a:p>
          <a:p>
            <a:pPr marL="0" indent="0">
              <a:buNone/>
            </a:pPr>
            <a:r>
              <a:rPr lang="en-US" sz="4800" b="1" dirty="0">
                <a:solidFill>
                  <a:srgbClr val="FFFFFF"/>
                </a:solidFill>
                <a:latin typeface="Georgia" pitchFamily="34" charset="0"/>
                <a:ea typeface="Georgia" pitchFamily="34" charset="-122"/>
                <a:cs typeface="Georgia" pitchFamily="34" charset="-120"/>
              </a:rPr>
              <a:t>to Application</a:t>
            </a:r>
            <a:endParaRPr lang="en-US" sz="4800" dirty="0"/>
          </a:p>
        </p:txBody>
      </p:sp>
      <p:sp>
        <p:nvSpPr>
          <p:cNvPr id="5" name="Text 3"/>
          <p:cNvSpPr/>
          <p:nvPr/>
        </p:nvSpPr>
        <p:spPr>
          <a:xfrm>
            <a:off x="320040" y="3291840"/>
            <a:ext cx="7315200" cy="548640"/>
          </a:xfrm>
          <a:prstGeom prst="rect">
            <a:avLst/>
          </a:prstGeom>
          <a:noFill/>
          <a:ln/>
        </p:spPr>
        <p:txBody>
          <a:bodyPr wrap="square" rtlCol="0" anchor="ctr"/>
          <a:lstStyle/>
          <a:p>
            <a:pPr marL="0" indent="0">
              <a:buNone/>
            </a:pPr>
            <a:r>
              <a:rPr lang="en-US" sz="1800" i="1" dirty="0">
                <a:solidFill>
                  <a:srgbClr val="F8CE5A"/>
                </a:solidFill>
                <a:latin typeface="Calibri" pitchFamily="34" charset="0"/>
                <a:ea typeface="Calibri" pitchFamily="34" charset="-122"/>
                <a:cs typeface="Calibri" pitchFamily="34" charset="-120"/>
              </a:rPr>
              <a:t>Your role as an AI-literate leader at UniCredit</a:t>
            </a:r>
            <a:endParaRPr lang="en-US" sz="1800" dirty="0"/>
          </a:p>
        </p:txBody>
      </p:sp>
      <p:sp>
        <p:nvSpPr>
          <p:cNvPr id="6" name="Text 4"/>
          <p:cNvSpPr/>
          <p:nvPr/>
        </p:nvSpPr>
        <p:spPr>
          <a:xfrm>
            <a:off x="320040" y="4800600"/>
            <a:ext cx="8229600" cy="256032"/>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Blockstruct GmbH  ·  Member of AI:AT — AI Factory Austria</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EFF4E0"/>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600" b="1" dirty="0">
                <a:solidFill>
                  <a:srgbClr val="211B41"/>
                </a:solidFill>
                <a:latin typeface="Georgia" pitchFamily="34" charset="0"/>
                <a:ea typeface="Georgia" pitchFamily="34" charset="-122"/>
                <a:cs typeface="Georgia" pitchFamily="34" charset="-120"/>
              </a:rPr>
              <a:t>You Are the Architect. AI Is the Contractor.</a:t>
            </a:r>
            <a:endParaRPr lang="en-US" sz="2600" dirty="0"/>
          </a:p>
        </p:txBody>
      </p:sp>
      <p:sp>
        <p:nvSpPr>
          <p:cNvPr id="3" name="Shape 1"/>
          <p:cNvSpPr/>
          <p:nvPr/>
        </p:nvSpPr>
        <p:spPr>
          <a:xfrm>
            <a:off x="457200" y="822960"/>
            <a:ext cx="8229600" cy="27432"/>
          </a:xfrm>
          <a:prstGeom prst="rect">
            <a:avLst/>
          </a:prstGeom>
          <a:solidFill>
            <a:srgbClr val="BBCE8E"/>
          </a:solidFill>
          <a:ln w="12700">
            <a:solidFill>
              <a:srgbClr val="BBCE8E"/>
            </a:solidFill>
            <a:prstDash val="solid"/>
          </a:ln>
        </p:spPr>
        <p:txBody>
          <a:bodyPr/>
          <a:lstStyle/>
          <a:p>
            <a:endParaRPr lang="en-US"/>
          </a:p>
        </p:txBody>
      </p:sp>
      <p:sp>
        <p:nvSpPr>
          <p:cNvPr id="4" name="Shape 2"/>
          <p:cNvSpPr/>
          <p:nvPr/>
        </p:nvSpPr>
        <p:spPr>
          <a:xfrm>
            <a:off x="0" y="4919472"/>
            <a:ext cx="9144000" cy="224028"/>
          </a:xfrm>
          <a:prstGeom prst="rect">
            <a:avLst/>
          </a:prstGeom>
          <a:solidFill>
            <a:srgbClr val="BBCE8E"/>
          </a:solidFill>
          <a:ln w="12700">
            <a:solidFill>
              <a:srgbClr val="BBCE8E"/>
            </a:solidFill>
            <a:prstDash val="solid"/>
          </a:ln>
        </p:spPr>
        <p:txBody>
          <a:bodyPr/>
          <a:lstStyle/>
          <a:p>
            <a:endParaRPr lang="en-US"/>
          </a:p>
        </p:txBody>
      </p:sp>
      <p:sp>
        <p:nvSpPr>
          <p:cNvPr id="5" name="Text 3"/>
          <p:cNvSpPr/>
          <p:nvPr/>
        </p:nvSpPr>
        <p:spPr>
          <a:xfrm>
            <a:off x="274320" y="4928616"/>
            <a:ext cx="8595360" cy="201168"/>
          </a:xfrm>
          <a:prstGeom prst="rect">
            <a:avLst/>
          </a:prstGeom>
          <a:noFill/>
          <a:ln/>
        </p:spPr>
        <p:txBody>
          <a:bodyPr wrap="square" lIns="0" tIns="0" rIns="0" bIns="0" rtlCol="0" anchor="ctr"/>
          <a:lstStyle/>
          <a:p>
            <a:pPr marL="0" indent="0">
              <a:buNone/>
            </a:pPr>
            <a:r>
              <a:rPr lang="en-US" sz="900" dirty="0">
                <a:solidFill>
                  <a:srgbClr val="4A7A82"/>
                </a:solidFill>
                <a:latin typeface="Calibri" pitchFamily="34" charset="0"/>
                <a:ea typeface="Calibri" pitchFamily="34" charset="-122"/>
                <a:cs typeface="Calibri" pitchFamily="34" charset="-120"/>
              </a:rPr>
              <a:t>Blockstruct GmbH  ·  AI Demystified Workshop  ·  UniCredit  ·  April 2026</a:t>
            </a:r>
            <a:endParaRPr lang="en-US" sz="900" dirty="0"/>
          </a:p>
        </p:txBody>
      </p:sp>
      <p:sp>
        <p:nvSpPr>
          <p:cNvPr id="6" name="Text 4"/>
          <p:cNvSpPr/>
          <p:nvPr/>
        </p:nvSpPr>
        <p:spPr>
          <a:xfrm>
            <a:off x="457200" y="914400"/>
            <a:ext cx="8229600" cy="457200"/>
          </a:xfrm>
          <a:prstGeom prst="rect">
            <a:avLst/>
          </a:prstGeom>
          <a:noFill/>
          <a:ln/>
        </p:spPr>
        <p:txBody>
          <a:bodyPr wrap="square" lIns="0" tIns="0" rIns="0" bIns="0" rtlCol="0" anchor="ctr"/>
          <a:lstStyle/>
          <a:p>
            <a:pPr marL="0" indent="0">
              <a:buNone/>
            </a:pPr>
            <a:r>
              <a:rPr lang="en-US" sz="1350" i="1" dirty="0">
                <a:solidFill>
                  <a:srgbClr val="211B41"/>
                </a:solidFill>
                <a:latin typeface="Georgia" pitchFamily="34" charset="0"/>
                <a:ea typeface="Georgia" pitchFamily="34" charset="-122"/>
                <a:cs typeface="Georgia" pitchFamily="34" charset="-120"/>
              </a:rPr>
              <a:t>The professionals who will drive the most value from AI are not the ones who code it — they're the ones who know what to ask for.</a:t>
            </a:r>
            <a:endParaRPr lang="en-US" sz="1350" dirty="0"/>
          </a:p>
        </p:txBody>
      </p:sp>
      <p:sp>
        <p:nvSpPr>
          <p:cNvPr id="7" name="Shape 5"/>
          <p:cNvSpPr/>
          <p:nvPr/>
        </p:nvSpPr>
        <p:spPr>
          <a:xfrm>
            <a:off x="457200" y="1536192"/>
            <a:ext cx="4114800" cy="1463040"/>
          </a:xfrm>
          <a:prstGeom prst="rect">
            <a:avLst/>
          </a:prstGeom>
          <a:solidFill>
            <a:srgbClr val="FFFFFF"/>
          </a:solidFill>
          <a:ln w="12700">
            <a:solidFill>
              <a:srgbClr val="FFFFFF"/>
            </a:solidFill>
            <a:prstDash val="solid"/>
          </a:ln>
          <a:effectLst>
            <a:outerShdw blurRad="63500" dist="25400" dir="8100000" algn="bl" rotWithShape="0">
              <a:srgbClr val="000000">
                <a:alpha val="8000"/>
              </a:srgbClr>
            </a:outerShdw>
          </a:effectLst>
        </p:spPr>
        <p:txBody>
          <a:bodyPr/>
          <a:lstStyle/>
          <a:p>
            <a:endParaRPr lang="en-US"/>
          </a:p>
        </p:txBody>
      </p:sp>
      <p:sp>
        <p:nvSpPr>
          <p:cNvPr id="8" name="Shape 6"/>
          <p:cNvSpPr/>
          <p:nvPr/>
        </p:nvSpPr>
        <p:spPr>
          <a:xfrm>
            <a:off x="594360" y="1645920"/>
            <a:ext cx="640080" cy="640080"/>
          </a:xfrm>
          <a:prstGeom prst="line">
            <a:avLst/>
          </a:prstGeom>
          <a:solidFill>
            <a:srgbClr val="626EFF"/>
          </a:solidFill>
          <a:ln w="12700">
            <a:solidFill>
              <a:srgbClr val="626EFF"/>
            </a:solidFill>
            <a:prstDash val="solid"/>
          </a:ln>
        </p:spPr>
        <p:txBody>
          <a:bodyPr/>
          <a:lstStyle/>
          <a:p>
            <a:endParaRPr lang="en-US"/>
          </a:p>
        </p:txBody>
      </p:sp>
      <p:pic>
        <p:nvPicPr>
          <p:cNvPr id="9" name="Image 0" descr="preencoded.png"/>
          <p:cNvPicPr>
            <a:picLocks noChangeAspect="1"/>
          </p:cNvPicPr>
          <p:nvPr/>
        </p:nvPicPr>
        <p:blipFill>
          <a:blip r:embed="rId3"/>
          <a:stretch>
            <a:fillRect/>
          </a:stretch>
        </p:blipFill>
        <p:spPr>
          <a:xfrm>
            <a:off x="658368" y="1709928"/>
            <a:ext cx="512064" cy="512064"/>
          </a:xfrm>
          <a:prstGeom prst="rect">
            <a:avLst/>
          </a:prstGeom>
        </p:spPr>
      </p:pic>
      <p:sp>
        <p:nvSpPr>
          <p:cNvPr id="10" name="Text 7"/>
          <p:cNvSpPr/>
          <p:nvPr/>
        </p:nvSpPr>
        <p:spPr>
          <a:xfrm>
            <a:off x="1371600" y="1627632"/>
            <a:ext cx="3063240" cy="384048"/>
          </a:xfrm>
          <a:prstGeom prst="rect">
            <a:avLst/>
          </a:prstGeom>
          <a:noFill/>
          <a:ln/>
        </p:spPr>
        <p:txBody>
          <a:bodyPr wrap="square" lIns="0" tIns="0" rIns="0" bIns="0" rtlCol="0" anchor="ctr"/>
          <a:lstStyle/>
          <a:p>
            <a:pPr marL="0" indent="0">
              <a:buNone/>
            </a:pPr>
            <a:r>
              <a:rPr lang="en-US" sz="1250" b="1" dirty="0">
                <a:solidFill>
                  <a:srgbClr val="211B41"/>
                </a:solidFill>
                <a:latin typeface="Calibri" pitchFamily="34" charset="0"/>
                <a:ea typeface="Calibri" pitchFamily="34" charset="-122"/>
                <a:cs typeface="Calibri" pitchFamily="34" charset="-120"/>
              </a:rPr>
              <a:t>Identify the right problems</a:t>
            </a:r>
            <a:endParaRPr lang="en-US" sz="1250" dirty="0"/>
          </a:p>
        </p:txBody>
      </p:sp>
      <p:sp>
        <p:nvSpPr>
          <p:cNvPr id="11" name="Text 8"/>
          <p:cNvSpPr/>
          <p:nvPr/>
        </p:nvSpPr>
        <p:spPr>
          <a:xfrm>
            <a:off x="1371600" y="2029968"/>
            <a:ext cx="3063240" cy="868680"/>
          </a:xfrm>
          <a:prstGeom prst="rect">
            <a:avLst/>
          </a:prstGeom>
          <a:noFill/>
          <a:ln/>
        </p:spPr>
        <p:txBody>
          <a:bodyPr wrap="square" lIns="0" tIns="0" rIns="0" bIns="0" rtlCol="0" anchor="ctr"/>
          <a:lstStyle/>
          <a:p>
            <a:pPr marL="0" indent="0">
              <a:buNone/>
            </a:pPr>
            <a:r>
              <a:rPr lang="en-US" sz="1100" dirty="0">
                <a:solidFill>
                  <a:srgbClr val="211B41"/>
                </a:solidFill>
                <a:latin typeface="Calibri" pitchFamily="34" charset="0"/>
                <a:ea typeface="Calibri" pitchFamily="34" charset="-122"/>
                <a:cs typeface="Calibri" pitchFamily="34" charset="-120"/>
              </a:rPr>
              <a:t>Which processes are document-heavy, rule-based, and high-volume? Those are prime candidates. Which involve genuine human judgment and relationship trust? Protect those.</a:t>
            </a:r>
            <a:endParaRPr lang="en-US" sz="1100" dirty="0"/>
          </a:p>
        </p:txBody>
      </p:sp>
      <p:sp>
        <p:nvSpPr>
          <p:cNvPr id="12" name="Shape 9"/>
          <p:cNvSpPr/>
          <p:nvPr/>
        </p:nvSpPr>
        <p:spPr>
          <a:xfrm>
            <a:off x="4800600" y="1536192"/>
            <a:ext cx="4114800" cy="1463040"/>
          </a:xfrm>
          <a:prstGeom prst="rect">
            <a:avLst/>
          </a:prstGeom>
          <a:solidFill>
            <a:srgbClr val="FFFFFF"/>
          </a:solidFill>
          <a:ln w="12700">
            <a:solidFill>
              <a:srgbClr val="FFFFFF"/>
            </a:solidFill>
            <a:prstDash val="solid"/>
          </a:ln>
          <a:effectLst>
            <a:outerShdw blurRad="63500" dist="25400" dir="8100000" algn="bl" rotWithShape="0">
              <a:srgbClr val="000000">
                <a:alpha val="8000"/>
              </a:srgbClr>
            </a:outerShdw>
          </a:effectLst>
        </p:spPr>
        <p:txBody>
          <a:bodyPr/>
          <a:lstStyle/>
          <a:p>
            <a:endParaRPr lang="en-US"/>
          </a:p>
        </p:txBody>
      </p:sp>
      <p:sp>
        <p:nvSpPr>
          <p:cNvPr id="13" name="Shape 10"/>
          <p:cNvSpPr/>
          <p:nvPr/>
        </p:nvSpPr>
        <p:spPr>
          <a:xfrm>
            <a:off x="4937760" y="1645920"/>
            <a:ext cx="640080" cy="640080"/>
          </a:xfrm>
          <a:prstGeom prst="line">
            <a:avLst/>
          </a:prstGeom>
          <a:solidFill>
            <a:srgbClr val="626EFF"/>
          </a:solidFill>
          <a:ln w="12700">
            <a:solidFill>
              <a:srgbClr val="626EFF"/>
            </a:solidFill>
            <a:prstDash val="solid"/>
          </a:ln>
        </p:spPr>
        <p:txBody>
          <a:bodyPr/>
          <a:lstStyle/>
          <a:p>
            <a:endParaRPr lang="en-US"/>
          </a:p>
        </p:txBody>
      </p:sp>
      <p:pic>
        <p:nvPicPr>
          <p:cNvPr id="14" name="Image 1" descr="preencoded.png"/>
          <p:cNvPicPr>
            <a:picLocks noChangeAspect="1"/>
          </p:cNvPicPr>
          <p:nvPr/>
        </p:nvPicPr>
        <p:blipFill>
          <a:blip r:embed="rId4"/>
          <a:stretch>
            <a:fillRect/>
          </a:stretch>
        </p:blipFill>
        <p:spPr>
          <a:xfrm>
            <a:off x="5001768" y="1709928"/>
            <a:ext cx="512064" cy="512064"/>
          </a:xfrm>
          <a:prstGeom prst="rect">
            <a:avLst/>
          </a:prstGeom>
        </p:spPr>
      </p:pic>
      <p:sp>
        <p:nvSpPr>
          <p:cNvPr id="15" name="Text 11"/>
          <p:cNvSpPr/>
          <p:nvPr/>
        </p:nvSpPr>
        <p:spPr>
          <a:xfrm>
            <a:off x="5715000" y="1627632"/>
            <a:ext cx="3063240" cy="384048"/>
          </a:xfrm>
          <a:prstGeom prst="rect">
            <a:avLst/>
          </a:prstGeom>
          <a:noFill/>
          <a:ln/>
        </p:spPr>
        <p:txBody>
          <a:bodyPr wrap="square" lIns="0" tIns="0" rIns="0" bIns="0" rtlCol="0" anchor="ctr"/>
          <a:lstStyle/>
          <a:p>
            <a:pPr marL="0" indent="0">
              <a:buNone/>
            </a:pPr>
            <a:r>
              <a:rPr lang="en-US" sz="1250" b="1" dirty="0">
                <a:solidFill>
                  <a:srgbClr val="211B41"/>
                </a:solidFill>
                <a:latin typeface="Calibri" pitchFamily="34" charset="0"/>
                <a:ea typeface="Calibri" pitchFamily="34" charset="-122"/>
                <a:cs typeface="Calibri" pitchFamily="34" charset="-120"/>
              </a:rPr>
              <a:t>Evaluate outputs critically</a:t>
            </a:r>
            <a:endParaRPr lang="en-US" sz="1250" dirty="0"/>
          </a:p>
        </p:txBody>
      </p:sp>
      <p:sp>
        <p:nvSpPr>
          <p:cNvPr id="16" name="Text 12"/>
          <p:cNvSpPr/>
          <p:nvPr/>
        </p:nvSpPr>
        <p:spPr>
          <a:xfrm>
            <a:off x="5715000" y="2029968"/>
            <a:ext cx="3063240" cy="868680"/>
          </a:xfrm>
          <a:prstGeom prst="rect">
            <a:avLst/>
          </a:prstGeom>
          <a:noFill/>
          <a:ln/>
        </p:spPr>
        <p:txBody>
          <a:bodyPr wrap="square" lIns="0" tIns="0" rIns="0" bIns="0" rtlCol="0" anchor="ctr"/>
          <a:lstStyle/>
          <a:p>
            <a:pPr marL="0" indent="0">
              <a:buNone/>
            </a:pPr>
            <a:r>
              <a:rPr lang="en-US" sz="1100" dirty="0">
                <a:solidFill>
                  <a:srgbClr val="211B41"/>
                </a:solidFill>
                <a:latin typeface="Calibri" pitchFamily="34" charset="0"/>
                <a:ea typeface="Calibri" pitchFamily="34" charset="-122"/>
                <a:cs typeface="Calibri" pitchFamily="34" charset="-120"/>
              </a:rPr>
              <a:t>Ask: 'How do you know?' Demand citations. Request confidence levels. Never accept a confident AI output at face value without understanding its grounding.</a:t>
            </a:r>
            <a:endParaRPr lang="en-US" sz="1100" dirty="0"/>
          </a:p>
        </p:txBody>
      </p:sp>
      <p:sp>
        <p:nvSpPr>
          <p:cNvPr id="17" name="Shape 13"/>
          <p:cNvSpPr/>
          <p:nvPr/>
        </p:nvSpPr>
        <p:spPr>
          <a:xfrm>
            <a:off x="457200" y="3136392"/>
            <a:ext cx="4114800" cy="1463040"/>
          </a:xfrm>
          <a:prstGeom prst="rect">
            <a:avLst/>
          </a:prstGeom>
          <a:solidFill>
            <a:srgbClr val="FFFFFF"/>
          </a:solidFill>
          <a:ln w="12700">
            <a:solidFill>
              <a:srgbClr val="FFFFFF"/>
            </a:solidFill>
            <a:prstDash val="solid"/>
          </a:ln>
          <a:effectLst>
            <a:outerShdw blurRad="63500" dist="25400" dir="8100000" algn="bl" rotWithShape="0">
              <a:srgbClr val="000000">
                <a:alpha val="8000"/>
              </a:srgbClr>
            </a:outerShdw>
          </a:effectLst>
        </p:spPr>
        <p:txBody>
          <a:bodyPr/>
          <a:lstStyle/>
          <a:p>
            <a:endParaRPr lang="en-US"/>
          </a:p>
        </p:txBody>
      </p:sp>
      <p:sp>
        <p:nvSpPr>
          <p:cNvPr id="18" name="Shape 14"/>
          <p:cNvSpPr/>
          <p:nvPr/>
        </p:nvSpPr>
        <p:spPr>
          <a:xfrm>
            <a:off x="594360" y="3246120"/>
            <a:ext cx="640080" cy="640080"/>
          </a:xfrm>
          <a:prstGeom prst="line">
            <a:avLst/>
          </a:prstGeom>
          <a:solidFill>
            <a:srgbClr val="626EFF"/>
          </a:solidFill>
          <a:ln w="12700">
            <a:solidFill>
              <a:srgbClr val="626EFF"/>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658368" y="3310128"/>
            <a:ext cx="512064" cy="512064"/>
          </a:xfrm>
          <a:prstGeom prst="rect">
            <a:avLst/>
          </a:prstGeom>
        </p:spPr>
      </p:pic>
      <p:sp>
        <p:nvSpPr>
          <p:cNvPr id="20" name="Text 15"/>
          <p:cNvSpPr/>
          <p:nvPr/>
        </p:nvSpPr>
        <p:spPr>
          <a:xfrm>
            <a:off x="1371600" y="3227832"/>
            <a:ext cx="3063240" cy="384048"/>
          </a:xfrm>
          <a:prstGeom prst="rect">
            <a:avLst/>
          </a:prstGeom>
          <a:noFill/>
          <a:ln/>
        </p:spPr>
        <p:txBody>
          <a:bodyPr wrap="square" lIns="0" tIns="0" rIns="0" bIns="0" rtlCol="0" anchor="ctr"/>
          <a:lstStyle/>
          <a:p>
            <a:pPr marL="0" indent="0">
              <a:buNone/>
            </a:pPr>
            <a:r>
              <a:rPr lang="en-US" sz="1250" b="1" dirty="0">
                <a:solidFill>
                  <a:srgbClr val="211B41"/>
                </a:solidFill>
                <a:latin typeface="Calibri" pitchFamily="34" charset="0"/>
                <a:ea typeface="Calibri" pitchFamily="34" charset="-122"/>
                <a:cs typeface="Calibri" pitchFamily="34" charset="-120"/>
              </a:rPr>
              <a:t>Design human-AI workflows</a:t>
            </a:r>
            <a:endParaRPr lang="en-US" sz="1250" dirty="0"/>
          </a:p>
        </p:txBody>
      </p:sp>
      <p:sp>
        <p:nvSpPr>
          <p:cNvPr id="21" name="Text 16"/>
          <p:cNvSpPr/>
          <p:nvPr/>
        </p:nvSpPr>
        <p:spPr>
          <a:xfrm>
            <a:off x="1371600" y="3630168"/>
            <a:ext cx="3063240" cy="868680"/>
          </a:xfrm>
          <a:prstGeom prst="rect">
            <a:avLst/>
          </a:prstGeom>
          <a:noFill/>
          <a:ln/>
        </p:spPr>
        <p:txBody>
          <a:bodyPr wrap="square" lIns="0" tIns="0" rIns="0" bIns="0" rtlCol="0" anchor="ctr"/>
          <a:lstStyle/>
          <a:p>
            <a:pPr marL="0" indent="0">
              <a:buNone/>
            </a:pPr>
            <a:r>
              <a:rPr lang="en-US" sz="1100" dirty="0">
                <a:solidFill>
                  <a:srgbClr val="211B41"/>
                </a:solidFill>
                <a:latin typeface="Calibri" pitchFamily="34" charset="0"/>
                <a:ea typeface="Calibri" pitchFamily="34" charset="-122"/>
                <a:cs typeface="Calibri" pitchFamily="34" charset="-120"/>
              </a:rPr>
              <a:t>The best outcomes come from AI + human, not AI instead of human. Your job is to design the handoff points. Where does AI draft? Where do you review and decide?</a:t>
            </a:r>
            <a:endParaRPr lang="en-US" sz="1100" dirty="0"/>
          </a:p>
        </p:txBody>
      </p:sp>
      <p:sp>
        <p:nvSpPr>
          <p:cNvPr id="22" name="Shape 17"/>
          <p:cNvSpPr/>
          <p:nvPr/>
        </p:nvSpPr>
        <p:spPr>
          <a:xfrm>
            <a:off x="4800600" y="3136392"/>
            <a:ext cx="4114800" cy="1463040"/>
          </a:xfrm>
          <a:prstGeom prst="rect">
            <a:avLst/>
          </a:prstGeom>
          <a:solidFill>
            <a:srgbClr val="FFFFFF"/>
          </a:solidFill>
          <a:ln w="12700">
            <a:solidFill>
              <a:srgbClr val="FFFFFF"/>
            </a:solidFill>
            <a:prstDash val="solid"/>
          </a:ln>
          <a:effectLst>
            <a:outerShdw blurRad="63500" dist="25400" dir="8100000" algn="bl" rotWithShape="0">
              <a:srgbClr val="000000">
                <a:alpha val="8000"/>
              </a:srgbClr>
            </a:outerShdw>
          </a:effectLst>
        </p:spPr>
        <p:txBody>
          <a:bodyPr/>
          <a:lstStyle/>
          <a:p>
            <a:endParaRPr lang="en-US"/>
          </a:p>
        </p:txBody>
      </p:sp>
      <p:sp>
        <p:nvSpPr>
          <p:cNvPr id="23" name="Shape 18"/>
          <p:cNvSpPr/>
          <p:nvPr/>
        </p:nvSpPr>
        <p:spPr>
          <a:xfrm>
            <a:off x="4937760" y="3246120"/>
            <a:ext cx="640080" cy="640080"/>
          </a:xfrm>
          <a:prstGeom prst="line">
            <a:avLst/>
          </a:prstGeom>
          <a:solidFill>
            <a:srgbClr val="626EFF"/>
          </a:solidFill>
          <a:ln w="12700">
            <a:solidFill>
              <a:srgbClr val="626EFF"/>
            </a:solidFill>
            <a:prstDash val="solid"/>
          </a:ln>
        </p:spPr>
        <p:txBody>
          <a:bodyPr/>
          <a:lstStyle/>
          <a:p>
            <a:endParaRPr lang="en-US"/>
          </a:p>
        </p:txBody>
      </p:sp>
      <p:pic>
        <p:nvPicPr>
          <p:cNvPr id="24" name="Image 3" descr="preencoded.png"/>
          <p:cNvPicPr>
            <a:picLocks noChangeAspect="1"/>
          </p:cNvPicPr>
          <p:nvPr/>
        </p:nvPicPr>
        <p:blipFill>
          <a:blip r:embed="rId6"/>
          <a:stretch>
            <a:fillRect/>
          </a:stretch>
        </p:blipFill>
        <p:spPr>
          <a:xfrm>
            <a:off x="5001768" y="3310128"/>
            <a:ext cx="512064" cy="512064"/>
          </a:xfrm>
          <a:prstGeom prst="rect">
            <a:avLst/>
          </a:prstGeom>
        </p:spPr>
      </p:pic>
      <p:sp>
        <p:nvSpPr>
          <p:cNvPr id="25" name="Text 19"/>
          <p:cNvSpPr/>
          <p:nvPr/>
        </p:nvSpPr>
        <p:spPr>
          <a:xfrm>
            <a:off x="5715000" y="3227832"/>
            <a:ext cx="3063240" cy="384048"/>
          </a:xfrm>
          <a:prstGeom prst="rect">
            <a:avLst/>
          </a:prstGeom>
          <a:noFill/>
          <a:ln/>
        </p:spPr>
        <p:txBody>
          <a:bodyPr wrap="square" lIns="0" tIns="0" rIns="0" bIns="0" rtlCol="0" anchor="ctr"/>
          <a:lstStyle/>
          <a:p>
            <a:pPr marL="0" indent="0">
              <a:buNone/>
            </a:pPr>
            <a:r>
              <a:rPr lang="en-US" sz="1250" b="1" dirty="0">
                <a:solidFill>
                  <a:srgbClr val="211B41"/>
                </a:solidFill>
                <a:latin typeface="Calibri" pitchFamily="34" charset="0"/>
                <a:ea typeface="Calibri" pitchFamily="34" charset="-122"/>
                <a:cs typeface="Calibri" pitchFamily="34" charset="-120"/>
              </a:rPr>
              <a:t>Define success metrics</a:t>
            </a:r>
            <a:endParaRPr lang="en-US" sz="1250" dirty="0"/>
          </a:p>
        </p:txBody>
      </p:sp>
      <p:sp>
        <p:nvSpPr>
          <p:cNvPr id="26" name="Text 20"/>
          <p:cNvSpPr/>
          <p:nvPr/>
        </p:nvSpPr>
        <p:spPr>
          <a:xfrm>
            <a:off x="5715000" y="3630168"/>
            <a:ext cx="3063240" cy="868680"/>
          </a:xfrm>
          <a:prstGeom prst="rect">
            <a:avLst/>
          </a:prstGeom>
          <a:noFill/>
          <a:ln/>
        </p:spPr>
        <p:txBody>
          <a:bodyPr wrap="square" lIns="0" tIns="0" rIns="0" bIns="0" rtlCol="0" anchor="ctr"/>
          <a:lstStyle/>
          <a:p>
            <a:pPr marL="0" indent="0">
              <a:buNone/>
            </a:pPr>
            <a:r>
              <a:rPr lang="en-US" sz="1100" dirty="0">
                <a:solidFill>
                  <a:srgbClr val="211B41"/>
                </a:solidFill>
                <a:latin typeface="Calibri" pitchFamily="34" charset="0"/>
                <a:ea typeface="Calibri" pitchFamily="34" charset="-122"/>
                <a:cs typeface="Calibri" pitchFamily="34" charset="-120"/>
              </a:rPr>
              <a:t>What does 'better' look like in measurable terms? Time saved per relationship manager? Accuracy of document classification? Conversion rates on AI-assisted pitches?</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211B41"/>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Georgia" pitchFamily="34" charset="0"/>
                <a:ea typeface="Georgia" pitchFamily="34" charset="-122"/>
                <a:cs typeface="Georgia" pitchFamily="34" charset="-120"/>
              </a:rPr>
              <a:t>The Questions Worth Asking Right Now</a:t>
            </a:r>
            <a:endParaRPr lang="en-US" sz="2600" dirty="0"/>
          </a:p>
        </p:txBody>
      </p:sp>
      <p:sp>
        <p:nvSpPr>
          <p:cNvPr id="3" name="Shape 1"/>
          <p:cNvSpPr/>
          <p:nvPr/>
        </p:nvSpPr>
        <p:spPr>
          <a:xfrm>
            <a:off x="457200" y="822960"/>
            <a:ext cx="8229600" cy="27432"/>
          </a:xfrm>
          <a:prstGeom prst="rect">
            <a:avLst/>
          </a:prstGeom>
          <a:solidFill>
            <a:srgbClr val="2E2458"/>
          </a:solidFill>
          <a:ln w="12700">
            <a:solidFill>
              <a:srgbClr val="2E2458"/>
            </a:solidFill>
            <a:prstDash val="solid"/>
          </a:ln>
        </p:spPr>
        <p:txBody>
          <a:bodyPr/>
          <a:lstStyle/>
          <a:p>
            <a:endParaRPr lang="en-US"/>
          </a:p>
        </p:txBody>
      </p:sp>
      <p:sp>
        <p:nvSpPr>
          <p:cNvPr id="4" name="Shape 2"/>
          <p:cNvSpPr/>
          <p:nvPr/>
        </p:nvSpPr>
        <p:spPr>
          <a:xfrm>
            <a:off x="0" y="4919472"/>
            <a:ext cx="9144000" cy="224028"/>
          </a:xfrm>
          <a:prstGeom prst="rect">
            <a:avLst/>
          </a:prstGeom>
          <a:solidFill>
            <a:srgbClr val="2E2458"/>
          </a:solidFill>
          <a:ln w="12700">
            <a:solidFill>
              <a:srgbClr val="2E2458"/>
            </a:solidFill>
            <a:prstDash val="solid"/>
          </a:ln>
        </p:spPr>
        <p:txBody>
          <a:bodyPr/>
          <a:lstStyle/>
          <a:p>
            <a:endParaRPr lang="en-US"/>
          </a:p>
        </p:txBody>
      </p:sp>
      <p:sp>
        <p:nvSpPr>
          <p:cNvPr id="5" name="Text 3"/>
          <p:cNvSpPr/>
          <p:nvPr/>
        </p:nvSpPr>
        <p:spPr>
          <a:xfrm>
            <a:off x="274320" y="4928616"/>
            <a:ext cx="8595360" cy="201168"/>
          </a:xfrm>
          <a:prstGeom prst="rect">
            <a:avLst/>
          </a:prstGeom>
          <a:noFill/>
          <a:ln/>
        </p:spPr>
        <p:txBody>
          <a:bodyPr wrap="square" lIns="0" tIns="0" rIns="0" bIns="0" rtlCol="0" anchor="ctr"/>
          <a:lstStyle/>
          <a:p>
            <a:pPr marL="0" indent="0">
              <a:buNone/>
            </a:pPr>
            <a:r>
              <a:rPr lang="en-US" sz="900" dirty="0">
                <a:solidFill>
                  <a:srgbClr val="4A7A82"/>
                </a:solidFill>
                <a:latin typeface="Calibri" pitchFamily="34" charset="0"/>
                <a:ea typeface="Calibri" pitchFamily="34" charset="-122"/>
                <a:cs typeface="Calibri" pitchFamily="34" charset="-120"/>
              </a:rPr>
              <a:t>Blockstruct GmbH  ·  AI Demystified Workshop  ·  UniCredit  ·  April 2026</a:t>
            </a:r>
            <a:endParaRPr lang="en-US" sz="900" dirty="0"/>
          </a:p>
        </p:txBody>
      </p:sp>
      <p:sp>
        <p:nvSpPr>
          <p:cNvPr id="6" name="Shape 4"/>
          <p:cNvSpPr/>
          <p:nvPr/>
        </p:nvSpPr>
        <p:spPr>
          <a:xfrm>
            <a:off x="457200" y="987552"/>
            <a:ext cx="8229600" cy="731520"/>
          </a:xfrm>
          <a:prstGeom prst="rect">
            <a:avLst/>
          </a:prstGeom>
          <a:solidFill>
            <a:srgbClr val="2E2458"/>
          </a:solidFill>
          <a:ln w="12700">
            <a:solidFill>
              <a:srgbClr val="2E2458"/>
            </a:solidFill>
            <a:prstDash val="solid"/>
          </a:ln>
        </p:spPr>
        <p:txBody>
          <a:bodyPr/>
          <a:lstStyle/>
          <a:p>
            <a:endParaRPr lang="en-US"/>
          </a:p>
        </p:txBody>
      </p:sp>
      <p:sp>
        <p:nvSpPr>
          <p:cNvPr id="7" name="Shape 5"/>
          <p:cNvSpPr/>
          <p:nvPr/>
        </p:nvSpPr>
        <p:spPr>
          <a:xfrm>
            <a:off x="457200" y="987552"/>
            <a:ext cx="73152" cy="731520"/>
          </a:xfrm>
          <a:prstGeom prst="rect">
            <a:avLst/>
          </a:prstGeom>
          <a:solidFill>
            <a:srgbClr val="F0B20D"/>
          </a:solidFill>
          <a:ln w="12700">
            <a:solidFill>
              <a:srgbClr val="F0B20D"/>
            </a:solidFill>
            <a:prstDash val="solid"/>
          </a:ln>
        </p:spPr>
        <p:txBody>
          <a:bodyPr/>
          <a:lstStyle/>
          <a:p>
            <a:endParaRPr lang="en-US"/>
          </a:p>
        </p:txBody>
      </p:sp>
      <p:sp>
        <p:nvSpPr>
          <p:cNvPr id="8" name="Text 6"/>
          <p:cNvSpPr/>
          <p:nvPr/>
        </p:nvSpPr>
        <p:spPr>
          <a:xfrm>
            <a:off x="594360" y="1014984"/>
            <a:ext cx="7863840" cy="38404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"Where does our sales team spend 60% of their time that isn't actually selling?"</a:t>
            </a:r>
            <a:endParaRPr lang="en-US" sz="1150" dirty="0"/>
          </a:p>
        </p:txBody>
      </p:sp>
      <p:sp>
        <p:nvSpPr>
          <p:cNvPr id="9" name="Text 7"/>
          <p:cNvSpPr/>
          <p:nvPr/>
        </p:nvSpPr>
        <p:spPr>
          <a:xfrm>
            <a:off x="594360" y="1408176"/>
            <a:ext cx="7863840" cy="256032"/>
          </a:xfrm>
          <a:prstGeom prst="rect">
            <a:avLst/>
          </a:prstGeom>
          <a:noFill/>
          <a:ln/>
        </p:spPr>
        <p:txBody>
          <a:bodyPr wrap="square" lIns="0" tIns="0" rIns="0" bIns="0" rtlCol="0" anchor="ctr"/>
          <a:lstStyle/>
          <a:p>
            <a:pPr marL="0" indent="0">
              <a:buNone/>
            </a:pPr>
            <a:r>
              <a:rPr lang="en-US" sz="1050" i="1" dirty="0">
                <a:solidFill>
                  <a:srgbClr val="8F96FF"/>
                </a:solidFill>
                <a:latin typeface="Calibri" pitchFamily="34" charset="0"/>
                <a:ea typeface="Calibri" pitchFamily="34" charset="-122"/>
                <a:cs typeface="Calibri" pitchFamily="34" charset="-120"/>
              </a:rPr>
              <a:t>Meeting prep, reporting, email drafting, CRM updates — all prime for AI augmentation</a:t>
            </a:r>
            <a:endParaRPr lang="en-US" sz="1050" dirty="0"/>
          </a:p>
        </p:txBody>
      </p:sp>
      <p:sp>
        <p:nvSpPr>
          <p:cNvPr id="10" name="Shape 8"/>
          <p:cNvSpPr/>
          <p:nvPr/>
        </p:nvSpPr>
        <p:spPr>
          <a:xfrm>
            <a:off x="457200" y="1783080"/>
            <a:ext cx="8229600" cy="731520"/>
          </a:xfrm>
          <a:prstGeom prst="rect">
            <a:avLst/>
          </a:prstGeom>
          <a:solidFill>
            <a:srgbClr val="5E4692"/>
          </a:solidFill>
          <a:ln w="12700">
            <a:solidFill>
              <a:srgbClr val="5E4692"/>
            </a:solidFill>
            <a:prstDash val="solid"/>
          </a:ln>
        </p:spPr>
        <p:txBody>
          <a:bodyPr/>
          <a:lstStyle/>
          <a:p>
            <a:endParaRPr lang="en-US"/>
          </a:p>
        </p:txBody>
      </p:sp>
      <p:sp>
        <p:nvSpPr>
          <p:cNvPr id="11" name="Shape 9"/>
          <p:cNvSpPr/>
          <p:nvPr/>
        </p:nvSpPr>
        <p:spPr>
          <a:xfrm>
            <a:off x="457200" y="1783080"/>
            <a:ext cx="73152" cy="731520"/>
          </a:xfrm>
          <a:prstGeom prst="rect">
            <a:avLst/>
          </a:prstGeom>
          <a:solidFill>
            <a:srgbClr val="F0B20D"/>
          </a:solidFill>
          <a:ln w="12700">
            <a:solidFill>
              <a:srgbClr val="F0B20D"/>
            </a:solidFill>
            <a:prstDash val="solid"/>
          </a:ln>
        </p:spPr>
        <p:txBody>
          <a:bodyPr/>
          <a:lstStyle/>
          <a:p>
            <a:endParaRPr lang="en-US"/>
          </a:p>
        </p:txBody>
      </p:sp>
      <p:sp>
        <p:nvSpPr>
          <p:cNvPr id="12" name="Text 10"/>
          <p:cNvSpPr/>
          <p:nvPr/>
        </p:nvSpPr>
        <p:spPr>
          <a:xfrm>
            <a:off x="594360" y="1810512"/>
            <a:ext cx="7863840" cy="38404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"What does our best relationship manager know that isn't written down anywhere?"</a:t>
            </a:r>
            <a:endParaRPr lang="en-US" sz="1150" dirty="0"/>
          </a:p>
        </p:txBody>
      </p:sp>
      <p:sp>
        <p:nvSpPr>
          <p:cNvPr id="13" name="Text 11"/>
          <p:cNvSpPr/>
          <p:nvPr/>
        </p:nvSpPr>
        <p:spPr>
          <a:xfrm>
            <a:off x="594360" y="2203704"/>
            <a:ext cx="7863840" cy="256032"/>
          </a:xfrm>
          <a:prstGeom prst="rect">
            <a:avLst/>
          </a:prstGeom>
          <a:noFill/>
          <a:ln/>
        </p:spPr>
        <p:txBody>
          <a:bodyPr wrap="square" lIns="0" tIns="0" rIns="0" bIns="0" rtlCol="0" anchor="ctr"/>
          <a:lstStyle/>
          <a:p>
            <a:pPr marL="0" indent="0">
              <a:buNone/>
            </a:pPr>
            <a:r>
              <a:rPr lang="en-US" sz="1050" i="1" dirty="0">
                <a:solidFill>
                  <a:srgbClr val="8F96FF"/>
                </a:solidFill>
                <a:latin typeface="Calibri" pitchFamily="34" charset="0"/>
                <a:ea typeface="Calibri" pitchFamily="34" charset="-122"/>
                <a:cs typeface="Calibri" pitchFamily="34" charset="-120"/>
              </a:rPr>
              <a:t>That tacit knowledge can be made explicit, embedded, and made available to the whole team</a:t>
            </a:r>
            <a:endParaRPr lang="en-US" sz="1050" dirty="0"/>
          </a:p>
        </p:txBody>
      </p:sp>
      <p:sp>
        <p:nvSpPr>
          <p:cNvPr id="14" name="Shape 12"/>
          <p:cNvSpPr/>
          <p:nvPr/>
        </p:nvSpPr>
        <p:spPr>
          <a:xfrm>
            <a:off x="457200" y="2578608"/>
            <a:ext cx="8229600" cy="731520"/>
          </a:xfrm>
          <a:prstGeom prst="rect">
            <a:avLst/>
          </a:prstGeom>
          <a:solidFill>
            <a:srgbClr val="2E2458"/>
          </a:solidFill>
          <a:ln w="12700">
            <a:solidFill>
              <a:srgbClr val="2E2458"/>
            </a:solidFill>
            <a:prstDash val="solid"/>
          </a:ln>
        </p:spPr>
        <p:txBody>
          <a:bodyPr/>
          <a:lstStyle/>
          <a:p>
            <a:endParaRPr lang="en-US"/>
          </a:p>
        </p:txBody>
      </p:sp>
      <p:sp>
        <p:nvSpPr>
          <p:cNvPr id="15" name="Shape 13"/>
          <p:cNvSpPr/>
          <p:nvPr/>
        </p:nvSpPr>
        <p:spPr>
          <a:xfrm>
            <a:off x="457200" y="2578608"/>
            <a:ext cx="73152" cy="731520"/>
          </a:xfrm>
          <a:prstGeom prst="rect">
            <a:avLst/>
          </a:prstGeom>
          <a:solidFill>
            <a:srgbClr val="F0B20D"/>
          </a:solidFill>
          <a:ln w="12700">
            <a:solidFill>
              <a:srgbClr val="F0B20D"/>
            </a:solidFill>
            <a:prstDash val="solid"/>
          </a:ln>
        </p:spPr>
        <p:txBody>
          <a:bodyPr/>
          <a:lstStyle/>
          <a:p>
            <a:endParaRPr lang="en-US"/>
          </a:p>
        </p:txBody>
      </p:sp>
      <p:sp>
        <p:nvSpPr>
          <p:cNvPr id="16" name="Text 14"/>
          <p:cNvSpPr/>
          <p:nvPr/>
        </p:nvSpPr>
        <p:spPr>
          <a:xfrm>
            <a:off x="594360" y="2606040"/>
            <a:ext cx="7863840" cy="38404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"At which point in our client journey does friction most cost us a deal?"</a:t>
            </a:r>
            <a:endParaRPr lang="en-US" sz="1150" dirty="0"/>
          </a:p>
        </p:txBody>
      </p:sp>
      <p:sp>
        <p:nvSpPr>
          <p:cNvPr id="17" name="Text 15"/>
          <p:cNvSpPr/>
          <p:nvPr/>
        </p:nvSpPr>
        <p:spPr>
          <a:xfrm>
            <a:off x="594360" y="2999232"/>
            <a:ext cx="7863840" cy="256032"/>
          </a:xfrm>
          <a:prstGeom prst="rect">
            <a:avLst/>
          </a:prstGeom>
          <a:noFill/>
          <a:ln/>
        </p:spPr>
        <p:txBody>
          <a:bodyPr wrap="square" lIns="0" tIns="0" rIns="0" bIns="0" rtlCol="0" anchor="ctr"/>
          <a:lstStyle/>
          <a:p>
            <a:pPr marL="0" indent="0">
              <a:buNone/>
            </a:pPr>
            <a:r>
              <a:rPr lang="en-US" sz="1050" i="1" dirty="0">
                <a:solidFill>
                  <a:srgbClr val="8F96FF"/>
                </a:solidFill>
                <a:latin typeface="Calibri" pitchFamily="34" charset="0"/>
                <a:ea typeface="Calibri" pitchFamily="34" charset="-122"/>
                <a:cs typeface="Calibri" pitchFamily="34" charset="-120"/>
              </a:rPr>
              <a:t>Document collection, waiting for approvals, delayed responses — AI can eliminate most of this</a:t>
            </a:r>
            <a:endParaRPr lang="en-US" sz="1050" dirty="0"/>
          </a:p>
        </p:txBody>
      </p:sp>
      <p:sp>
        <p:nvSpPr>
          <p:cNvPr id="18" name="Shape 16"/>
          <p:cNvSpPr/>
          <p:nvPr/>
        </p:nvSpPr>
        <p:spPr>
          <a:xfrm>
            <a:off x="457200" y="3374136"/>
            <a:ext cx="8229600" cy="731520"/>
          </a:xfrm>
          <a:prstGeom prst="rect">
            <a:avLst/>
          </a:prstGeom>
          <a:solidFill>
            <a:srgbClr val="5E4692"/>
          </a:solidFill>
          <a:ln w="12700">
            <a:solidFill>
              <a:srgbClr val="5E4692"/>
            </a:solidFill>
            <a:prstDash val="solid"/>
          </a:ln>
        </p:spPr>
        <p:txBody>
          <a:bodyPr/>
          <a:lstStyle/>
          <a:p>
            <a:endParaRPr lang="en-US"/>
          </a:p>
        </p:txBody>
      </p:sp>
      <p:sp>
        <p:nvSpPr>
          <p:cNvPr id="19" name="Shape 17"/>
          <p:cNvSpPr/>
          <p:nvPr/>
        </p:nvSpPr>
        <p:spPr>
          <a:xfrm>
            <a:off x="457200" y="3374136"/>
            <a:ext cx="73152" cy="731520"/>
          </a:xfrm>
          <a:prstGeom prst="rect">
            <a:avLst/>
          </a:prstGeom>
          <a:solidFill>
            <a:srgbClr val="F0B20D"/>
          </a:solidFill>
          <a:ln w="12700">
            <a:solidFill>
              <a:srgbClr val="F0B20D"/>
            </a:solidFill>
            <a:prstDash val="solid"/>
          </a:ln>
        </p:spPr>
        <p:txBody>
          <a:bodyPr/>
          <a:lstStyle/>
          <a:p>
            <a:endParaRPr lang="en-US"/>
          </a:p>
        </p:txBody>
      </p:sp>
      <p:sp>
        <p:nvSpPr>
          <p:cNvPr id="20" name="Text 18"/>
          <p:cNvSpPr/>
          <p:nvPr/>
        </p:nvSpPr>
        <p:spPr>
          <a:xfrm>
            <a:off x="594360" y="3401568"/>
            <a:ext cx="7863840" cy="38404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"What would a 'second opinion' AI layer in our credit or compliance process be worth?"</a:t>
            </a:r>
            <a:endParaRPr lang="en-US" sz="1150" dirty="0"/>
          </a:p>
        </p:txBody>
      </p:sp>
      <p:sp>
        <p:nvSpPr>
          <p:cNvPr id="21" name="Text 19"/>
          <p:cNvSpPr/>
          <p:nvPr/>
        </p:nvSpPr>
        <p:spPr>
          <a:xfrm>
            <a:off x="594360" y="3794760"/>
            <a:ext cx="7863840" cy="256032"/>
          </a:xfrm>
          <a:prstGeom prst="rect">
            <a:avLst/>
          </a:prstGeom>
          <a:noFill/>
          <a:ln/>
        </p:spPr>
        <p:txBody>
          <a:bodyPr wrap="square" lIns="0" tIns="0" rIns="0" bIns="0" rtlCol="0" anchor="ctr"/>
          <a:lstStyle/>
          <a:p>
            <a:pPr marL="0" indent="0">
              <a:buNone/>
            </a:pPr>
            <a:r>
              <a:rPr lang="en-US" sz="1050" i="1" dirty="0">
                <a:solidFill>
                  <a:srgbClr val="8F96FF"/>
                </a:solidFill>
                <a:latin typeface="Calibri" pitchFamily="34" charset="0"/>
                <a:ea typeface="Calibri" pitchFamily="34" charset="-122"/>
                <a:cs typeface="Calibri" pitchFamily="34" charset="-120"/>
              </a:rPr>
              <a:t>Not replacing the decision — augmenting it with rapid, consistent, auditable analysis</a:t>
            </a:r>
            <a:endParaRPr lang="en-US" sz="1050" dirty="0"/>
          </a:p>
        </p:txBody>
      </p:sp>
      <p:sp>
        <p:nvSpPr>
          <p:cNvPr id="22" name="Shape 20"/>
          <p:cNvSpPr/>
          <p:nvPr/>
        </p:nvSpPr>
        <p:spPr>
          <a:xfrm>
            <a:off x="457200" y="4169664"/>
            <a:ext cx="8229600" cy="731520"/>
          </a:xfrm>
          <a:prstGeom prst="rect">
            <a:avLst/>
          </a:prstGeom>
          <a:solidFill>
            <a:srgbClr val="2E2458"/>
          </a:solidFill>
          <a:ln w="12700">
            <a:solidFill>
              <a:srgbClr val="2E2458"/>
            </a:solidFill>
            <a:prstDash val="solid"/>
          </a:ln>
        </p:spPr>
        <p:txBody>
          <a:bodyPr/>
          <a:lstStyle/>
          <a:p>
            <a:endParaRPr lang="en-US"/>
          </a:p>
        </p:txBody>
      </p:sp>
      <p:sp>
        <p:nvSpPr>
          <p:cNvPr id="23" name="Shape 21"/>
          <p:cNvSpPr/>
          <p:nvPr/>
        </p:nvSpPr>
        <p:spPr>
          <a:xfrm>
            <a:off x="457200" y="4169664"/>
            <a:ext cx="73152" cy="731520"/>
          </a:xfrm>
          <a:prstGeom prst="rect">
            <a:avLst/>
          </a:prstGeom>
          <a:solidFill>
            <a:srgbClr val="F0B20D"/>
          </a:solidFill>
          <a:ln w="12700">
            <a:solidFill>
              <a:srgbClr val="F0B20D"/>
            </a:solidFill>
            <a:prstDash val="solid"/>
          </a:ln>
        </p:spPr>
        <p:txBody>
          <a:bodyPr/>
          <a:lstStyle/>
          <a:p>
            <a:endParaRPr lang="en-US"/>
          </a:p>
        </p:txBody>
      </p:sp>
      <p:sp>
        <p:nvSpPr>
          <p:cNvPr id="24" name="Text 22"/>
          <p:cNvSpPr/>
          <p:nvPr/>
        </p:nvSpPr>
        <p:spPr>
          <a:xfrm>
            <a:off x="594360" y="4197096"/>
            <a:ext cx="7863840" cy="384048"/>
          </a:xfrm>
          <a:prstGeom prst="rect">
            <a:avLst/>
          </a:prstGeom>
          <a:noFill/>
          <a:ln/>
        </p:spPr>
        <p:txBody>
          <a:bodyPr wrap="square" lIns="0" tIns="0" rIns="0" bIns="0" rtlCol="0" anchor="ctr"/>
          <a:lstStyle/>
          <a:p>
            <a:pPr marL="0" indent="0">
              <a:buNone/>
            </a:pPr>
            <a:r>
              <a:rPr lang="en-US" sz="1150" b="1" dirty="0">
                <a:solidFill>
                  <a:srgbClr val="FFFFFF"/>
                </a:solidFill>
                <a:latin typeface="Calibri" pitchFamily="34" charset="0"/>
                <a:ea typeface="Calibri" pitchFamily="34" charset="-122"/>
                <a:cs typeface="Calibri" pitchFamily="34" charset="-120"/>
              </a:rPr>
              <a:t>"Which of our clients are most at risk of churn, and why don't we know sooner?"</a:t>
            </a:r>
            <a:endParaRPr lang="en-US" sz="1150" dirty="0"/>
          </a:p>
        </p:txBody>
      </p:sp>
      <p:sp>
        <p:nvSpPr>
          <p:cNvPr id="25" name="Text 23"/>
          <p:cNvSpPr/>
          <p:nvPr/>
        </p:nvSpPr>
        <p:spPr>
          <a:xfrm>
            <a:off x="594360" y="4590288"/>
            <a:ext cx="7863840" cy="256032"/>
          </a:xfrm>
          <a:prstGeom prst="rect">
            <a:avLst/>
          </a:prstGeom>
          <a:noFill/>
          <a:ln/>
        </p:spPr>
        <p:txBody>
          <a:bodyPr wrap="square" lIns="0" tIns="0" rIns="0" bIns="0" rtlCol="0" anchor="ctr"/>
          <a:lstStyle/>
          <a:p>
            <a:pPr marL="0" indent="0">
              <a:buNone/>
            </a:pPr>
            <a:r>
              <a:rPr lang="en-US" sz="1050" i="1" dirty="0">
                <a:solidFill>
                  <a:srgbClr val="8F96FF"/>
                </a:solidFill>
                <a:latin typeface="Calibri" pitchFamily="34" charset="0"/>
                <a:ea typeface="Calibri" pitchFamily="34" charset="-122"/>
                <a:cs typeface="Calibri" pitchFamily="34" charset="-120"/>
              </a:rPr>
              <a:t>AI pattern recognition on communication data, transaction data, and CRM notes can surface signals</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EFF4E0"/>
        </a:solidFill>
        <a:effectLst/>
      </p:bgPr>
    </p:bg>
    <p:spTree>
      <p:nvGrpSpPr>
        <p:cNvPr id="1" name=""/>
        <p:cNvGrpSpPr/>
        <p:nvPr/>
      </p:nvGrpSpPr>
      <p:grpSpPr>
        <a:xfrm>
          <a:off x="0" y="0"/>
          <a:ext cx="0" cy="0"/>
          <a:chOff x="0" y="0"/>
          <a:chExt cx="0" cy="0"/>
        </a:xfrm>
      </p:grpSpPr>
      <p:sp>
        <p:nvSpPr>
          <p:cNvPr id="2" name="Text 0"/>
          <p:cNvSpPr/>
          <p:nvPr/>
        </p:nvSpPr>
        <p:spPr>
          <a:xfrm>
            <a:off x="457200" y="201168"/>
            <a:ext cx="8229600" cy="594360"/>
          </a:xfrm>
          <a:prstGeom prst="rect">
            <a:avLst/>
          </a:prstGeom>
          <a:noFill/>
          <a:ln/>
        </p:spPr>
        <p:txBody>
          <a:bodyPr wrap="square" lIns="0" tIns="0" rIns="0" bIns="0" rtlCol="0" anchor="ctr"/>
          <a:lstStyle/>
          <a:p>
            <a:pPr marL="0" indent="0">
              <a:buNone/>
            </a:pPr>
            <a:r>
              <a:rPr lang="en-US" sz="2600" b="1" dirty="0">
                <a:solidFill>
                  <a:srgbClr val="211B41"/>
                </a:solidFill>
                <a:latin typeface="Georgia" pitchFamily="34" charset="0"/>
                <a:ea typeface="Georgia" pitchFamily="34" charset="-122"/>
                <a:cs typeface="Georgia" pitchFamily="34" charset="-120"/>
              </a:rPr>
              <a:t>Next Steps</a:t>
            </a:r>
            <a:endParaRPr lang="en-US" sz="2600" dirty="0"/>
          </a:p>
        </p:txBody>
      </p:sp>
      <p:sp>
        <p:nvSpPr>
          <p:cNvPr id="3" name="Shape 1"/>
          <p:cNvSpPr/>
          <p:nvPr/>
        </p:nvSpPr>
        <p:spPr>
          <a:xfrm>
            <a:off x="457200" y="822960"/>
            <a:ext cx="8229600" cy="27432"/>
          </a:xfrm>
          <a:prstGeom prst="rect">
            <a:avLst/>
          </a:prstGeom>
          <a:solidFill>
            <a:srgbClr val="BBCE8E"/>
          </a:solidFill>
          <a:ln w="12700">
            <a:solidFill>
              <a:srgbClr val="BBCE8E"/>
            </a:solidFill>
            <a:prstDash val="solid"/>
          </a:ln>
        </p:spPr>
        <p:txBody>
          <a:bodyPr/>
          <a:lstStyle/>
          <a:p>
            <a:endParaRPr lang="en-US"/>
          </a:p>
        </p:txBody>
      </p:sp>
      <p:sp>
        <p:nvSpPr>
          <p:cNvPr id="4" name="Shape 2"/>
          <p:cNvSpPr/>
          <p:nvPr/>
        </p:nvSpPr>
        <p:spPr>
          <a:xfrm>
            <a:off x="0" y="4919472"/>
            <a:ext cx="9144000" cy="224028"/>
          </a:xfrm>
          <a:prstGeom prst="rect">
            <a:avLst/>
          </a:prstGeom>
          <a:solidFill>
            <a:srgbClr val="BBCE8E"/>
          </a:solidFill>
          <a:ln w="12700">
            <a:solidFill>
              <a:srgbClr val="BBCE8E"/>
            </a:solidFill>
            <a:prstDash val="solid"/>
          </a:ln>
        </p:spPr>
        <p:txBody>
          <a:bodyPr/>
          <a:lstStyle/>
          <a:p>
            <a:endParaRPr lang="en-US"/>
          </a:p>
        </p:txBody>
      </p:sp>
      <p:sp>
        <p:nvSpPr>
          <p:cNvPr id="5" name="Text 3"/>
          <p:cNvSpPr/>
          <p:nvPr/>
        </p:nvSpPr>
        <p:spPr>
          <a:xfrm>
            <a:off x="274320" y="4928616"/>
            <a:ext cx="8595360" cy="201168"/>
          </a:xfrm>
          <a:prstGeom prst="rect">
            <a:avLst/>
          </a:prstGeom>
          <a:noFill/>
          <a:ln/>
        </p:spPr>
        <p:txBody>
          <a:bodyPr wrap="square" lIns="0" tIns="0" rIns="0" bIns="0" rtlCol="0" anchor="ctr"/>
          <a:lstStyle/>
          <a:p>
            <a:pPr marL="0" indent="0">
              <a:buNone/>
            </a:pPr>
            <a:r>
              <a:rPr lang="en-US" sz="900" dirty="0">
                <a:solidFill>
                  <a:srgbClr val="4A7A82"/>
                </a:solidFill>
                <a:latin typeface="Calibri" pitchFamily="34" charset="0"/>
                <a:ea typeface="Calibri" pitchFamily="34" charset="-122"/>
                <a:cs typeface="Calibri" pitchFamily="34" charset="-120"/>
              </a:rPr>
              <a:t>Blockstruct GmbH  ·  AI Demystified Workshop  ·  UniCredit  ·  April 2026</a:t>
            </a:r>
            <a:endParaRPr lang="en-US" sz="900" dirty="0"/>
          </a:p>
        </p:txBody>
      </p:sp>
      <p:sp>
        <p:nvSpPr>
          <p:cNvPr id="6" name="Shape 4"/>
          <p:cNvSpPr/>
          <p:nvPr/>
        </p:nvSpPr>
        <p:spPr>
          <a:xfrm>
            <a:off x="457200" y="1097280"/>
            <a:ext cx="640080" cy="640080"/>
          </a:xfrm>
          <a:prstGeom prst="line">
            <a:avLst/>
          </a:prstGeom>
          <a:solidFill>
            <a:srgbClr val="626EFF"/>
          </a:solidFill>
          <a:ln w="12700">
            <a:solidFill>
              <a:srgbClr val="626EFF"/>
            </a:solidFill>
            <a:prstDash val="solid"/>
          </a:ln>
        </p:spPr>
        <p:txBody>
          <a:bodyPr/>
          <a:lstStyle/>
          <a:p>
            <a:endParaRPr lang="en-US"/>
          </a:p>
        </p:txBody>
      </p:sp>
      <p:sp>
        <p:nvSpPr>
          <p:cNvPr id="7" name="Text 5"/>
          <p:cNvSpPr/>
          <p:nvPr/>
        </p:nvSpPr>
        <p:spPr>
          <a:xfrm>
            <a:off x="457200" y="1097280"/>
            <a:ext cx="640080" cy="64008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8" name="Shape 6"/>
          <p:cNvSpPr/>
          <p:nvPr/>
        </p:nvSpPr>
        <p:spPr>
          <a:xfrm>
            <a:off x="768096" y="1737360"/>
            <a:ext cx="27432" cy="256032"/>
          </a:xfrm>
          <a:prstGeom prst="rect">
            <a:avLst/>
          </a:prstGeom>
          <a:solidFill>
            <a:srgbClr val="BBCE8E"/>
          </a:solidFill>
          <a:ln w="12700">
            <a:solidFill>
              <a:srgbClr val="BBCE8E"/>
            </a:solidFill>
            <a:prstDash val="solid"/>
          </a:ln>
        </p:spPr>
        <p:txBody>
          <a:bodyPr/>
          <a:lstStyle/>
          <a:p>
            <a:endParaRPr lang="en-US"/>
          </a:p>
        </p:txBody>
      </p:sp>
      <p:sp>
        <p:nvSpPr>
          <p:cNvPr id="9" name="Shape 7"/>
          <p:cNvSpPr/>
          <p:nvPr/>
        </p:nvSpPr>
        <p:spPr>
          <a:xfrm>
            <a:off x="1261872" y="1005840"/>
            <a:ext cx="6766560" cy="841248"/>
          </a:xfrm>
          <a:prstGeom prst="rect">
            <a:avLst/>
          </a:prstGeom>
          <a:solidFill>
            <a:srgbClr val="FFFFFF"/>
          </a:solidFill>
          <a:ln w="12700">
            <a:solidFill>
              <a:srgbClr val="BBCE8E"/>
            </a:solidFill>
            <a:prstDash val="solid"/>
          </a:ln>
        </p:spPr>
        <p:txBody>
          <a:bodyPr/>
          <a:lstStyle/>
          <a:p>
            <a:endParaRPr lang="en-US"/>
          </a:p>
        </p:txBody>
      </p:sp>
      <p:sp>
        <p:nvSpPr>
          <p:cNvPr id="10" name="Text 8"/>
          <p:cNvSpPr/>
          <p:nvPr/>
        </p:nvSpPr>
        <p:spPr>
          <a:xfrm>
            <a:off x="1389888" y="1069848"/>
            <a:ext cx="4114800" cy="347472"/>
          </a:xfrm>
          <a:prstGeom prst="rect">
            <a:avLst/>
          </a:prstGeom>
          <a:noFill/>
          <a:ln/>
        </p:spPr>
        <p:txBody>
          <a:bodyPr wrap="square" lIns="0" tIns="0" rIns="0" bIns="0" rtlCol="0" anchor="ctr"/>
          <a:lstStyle/>
          <a:p>
            <a:pPr marL="0" indent="0">
              <a:buNone/>
            </a:pPr>
            <a:r>
              <a:rPr lang="en-US" sz="1300" b="1" dirty="0">
                <a:solidFill>
                  <a:srgbClr val="211B41"/>
                </a:solidFill>
                <a:latin typeface="Calibri" pitchFamily="34" charset="0"/>
                <a:ea typeface="Calibri" pitchFamily="34" charset="-122"/>
                <a:cs typeface="Calibri" pitchFamily="34" charset="-120"/>
              </a:rPr>
              <a:t>Workshop output session</a:t>
            </a:r>
            <a:endParaRPr lang="en-US" sz="1300" dirty="0"/>
          </a:p>
        </p:txBody>
      </p:sp>
      <p:sp>
        <p:nvSpPr>
          <p:cNvPr id="11" name="Shape 9"/>
          <p:cNvSpPr/>
          <p:nvPr/>
        </p:nvSpPr>
        <p:spPr>
          <a:xfrm>
            <a:off x="6675120" y="1060704"/>
            <a:ext cx="1234440" cy="292608"/>
          </a:xfrm>
          <a:prstGeom prst="rect">
            <a:avLst/>
          </a:prstGeom>
          <a:solidFill>
            <a:srgbClr val="F0B20D"/>
          </a:solidFill>
          <a:ln w="12700">
            <a:solidFill>
              <a:srgbClr val="F0B20D"/>
            </a:solidFill>
            <a:prstDash val="solid"/>
          </a:ln>
        </p:spPr>
        <p:txBody>
          <a:bodyPr/>
          <a:lstStyle/>
          <a:p>
            <a:endParaRPr lang="en-US"/>
          </a:p>
        </p:txBody>
      </p:sp>
      <p:sp>
        <p:nvSpPr>
          <p:cNvPr id="12" name="Text 10"/>
          <p:cNvSpPr/>
          <p:nvPr/>
        </p:nvSpPr>
        <p:spPr>
          <a:xfrm>
            <a:off x="6675120" y="1060704"/>
            <a:ext cx="1234440" cy="292608"/>
          </a:xfrm>
          <a:prstGeom prst="rect">
            <a:avLst/>
          </a:prstGeom>
          <a:noFill/>
          <a:ln/>
        </p:spPr>
        <p:txBody>
          <a:bodyPr wrap="square" lIns="0" tIns="0" rIns="0" bIns="0" rtlCol="0" anchor="ctr"/>
          <a:lstStyle/>
          <a:p>
            <a:pPr marL="0" indent="0" algn="ctr">
              <a:buNone/>
            </a:pPr>
            <a:r>
              <a:rPr lang="en-US" sz="950" b="1" dirty="0">
                <a:solidFill>
                  <a:srgbClr val="211B41"/>
                </a:solidFill>
                <a:latin typeface="Calibri" pitchFamily="34" charset="0"/>
                <a:ea typeface="Calibri" pitchFamily="34" charset="-122"/>
                <a:cs typeface="Calibri" pitchFamily="34" charset="-120"/>
              </a:rPr>
              <a:t>This week</a:t>
            </a:r>
            <a:endParaRPr lang="en-US" sz="950" dirty="0"/>
          </a:p>
        </p:txBody>
      </p:sp>
      <p:sp>
        <p:nvSpPr>
          <p:cNvPr id="13" name="Text 11"/>
          <p:cNvSpPr/>
          <p:nvPr/>
        </p:nvSpPr>
        <p:spPr>
          <a:xfrm>
            <a:off x="1389888" y="1426464"/>
            <a:ext cx="6492240" cy="365760"/>
          </a:xfrm>
          <a:prstGeom prst="rect">
            <a:avLst/>
          </a:prstGeom>
          <a:noFill/>
          <a:ln/>
        </p:spPr>
        <p:txBody>
          <a:bodyPr wrap="square" lIns="0" tIns="0" rIns="0" bIns="0" rtlCol="0" anchor="ctr"/>
          <a:lstStyle/>
          <a:p>
            <a:pPr marL="0" indent="0">
              <a:buNone/>
            </a:pPr>
            <a:r>
              <a:rPr lang="en-US" sz="1100" dirty="0">
                <a:solidFill>
                  <a:srgbClr val="211B41"/>
                </a:solidFill>
                <a:latin typeface="Calibri" pitchFamily="34" charset="0"/>
                <a:ea typeface="Calibri" pitchFamily="34" charset="-122"/>
                <a:cs typeface="Calibri" pitchFamily="34" charset="-120"/>
              </a:rPr>
              <a:t>Each participant identifies one concrete AI application opportunity in their area. We facilitate a 60-minute structured discussion to surface and prioritise ideas.</a:t>
            </a:r>
            <a:endParaRPr lang="en-US" sz="1100" dirty="0"/>
          </a:p>
        </p:txBody>
      </p:sp>
      <p:sp>
        <p:nvSpPr>
          <p:cNvPr id="14" name="Shape 12"/>
          <p:cNvSpPr/>
          <p:nvPr/>
        </p:nvSpPr>
        <p:spPr>
          <a:xfrm>
            <a:off x="457200" y="2057400"/>
            <a:ext cx="640080" cy="640080"/>
          </a:xfrm>
          <a:prstGeom prst="line">
            <a:avLst/>
          </a:prstGeom>
          <a:solidFill>
            <a:srgbClr val="626EFF"/>
          </a:solidFill>
          <a:ln w="12700">
            <a:solidFill>
              <a:srgbClr val="626EFF"/>
            </a:solidFill>
            <a:prstDash val="solid"/>
          </a:ln>
        </p:spPr>
        <p:txBody>
          <a:bodyPr/>
          <a:lstStyle/>
          <a:p>
            <a:endParaRPr lang="en-US"/>
          </a:p>
        </p:txBody>
      </p:sp>
      <p:sp>
        <p:nvSpPr>
          <p:cNvPr id="15" name="Text 13"/>
          <p:cNvSpPr/>
          <p:nvPr/>
        </p:nvSpPr>
        <p:spPr>
          <a:xfrm>
            <a:off x="457200" y="2057400"/>
            <a:ext cx="640080" cy="64008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6" name="Shape 14"/>
          <p:cNvSpPr/>
          <p:nvPr/>
        </p:nvSpPr>
        <p:spPr>
          <a:xfrm>
            <a:off x="768096" y="2697480"/>
            <a:ext cx="27432" cy="256032"/>
          </a:xfrm>
          <a:prstGeom prst="rect">
            <a:avLst/>
          </a:prstGeom>
          <a:solidFill>
            <a:srgbClr val="BBCE8E"/>
          </a:solidFill>
          <a:ln w="12700">
            <a:solidFill>
              <a:srgbClr val="BBCE8E"/>
            </a:solidFill>
            <a:prstDash val="solid"/>
          </a:ln>
        </p:spPr>
        <p:txBody>
          <a:bodyPr/>
          <a:lstStyle/>
          <a:p>
            <a:endParaRPr lang="en-US"/>
          </a:p>
        </p:txBody>
      </p:sp>
      <p:sp>
        <p:nvSpPr>
          <p:cNvPr id="17" name="Shape 15"/>
          <p:cNvSpPr/>
          <p:nvPr/>
        </p:nvSpPr>
        <p:spPr>
          <a:xfrm>
            <a:off x="1261872" y="1965960"/>
            <a:ext cx="6766560" cy="841248"/>
          </a:xfrm>
          <a:prstGeom prst="rect">
            <a:avLst/>
          </a:prstGeom>
          <a:solidFill>
            <a:srgbClr val="FFFFFF"/>
          </a:solidFill>
          <a:ln w="12700">
            <a:solidFill>
              <a:srgbClr val="BBCE8E"/>
            </a:solidFill>
            <a:prstDash val="solid"/>
          </a:ln>
        </p:spPr>
        <p:txBody>
          <a:bodyPr/>
          <a:lstStyle/>
          <a:p>
            <a:endParaRPr lang="en-US"/>
          </a:p>
        </p:txBody>
      </p:sp>
      <p:sp>
        <p:nvSpPr>
          <p:cNvPr id="18" name="Text 16"/>
          <p:cNvSpPr/>
          <p:nvPr/>
        </p:nvSpPr>
        <p:spPr>
          <a:xfrm>
            <a:off x="1389888" y="2029968"/>
            <a:ext cx="4114800" cy="347472"/>
          </a:xfrm>
          <a:prstGeom prst="rect">
            <a:avLst/>
          </a:prstGeom>
          <a:noFill/>
          <a:ln/>
        </p:spPr>
        <p:txBody>
          <a:bodyPr wrap="square" lIns="0" tIns="0" rIns="0" bIns="0" rtlCol="0" anchor="ctr"/>
          <a:lstStyle/>
          <a:p>
            <a:pPr marL="0" indent="0">
              <a:buNone/>
            </a:pPr>
            <a:r>
              <a:rPr lang="en-US" sz="1300" b="1" dirty="0">
                <a:solidFill>
                  <a:srgbClr val="211B41"/>
                </a:solidFill>
                <a:latin typeface="Calibri" pitchFamily="34" charset="0"/>
                <a:ea typeface="Calibri" pitchFamily="34" charset="-122"/>
                <a:cs typeface="Calibri" pitchFamily="34" charset="-120"/>
              </a:rPr>
              <a:t>Priority use case design</a:t>
            </a:r>
            <a:endParaRPr lang="en-US" sz="1300" dirty="0"/>
          </a:p>
        </p:txBody>
      </p:sp>
      <p:sp>
        <p:nvSpPr>
          <p:cNvPr id="19" name="Shape 17"/>
          <p:cNvSpPr/>
          <p:nvPr/>
        </p:nvSpPr>
        <p:spPr>
          <a:xfrm>
            <a:off x="6675120" y="2020824"/>
            <a:ext cx="1234440" cy="292608"/>
          </a:xfrm>
          <a:prstGeom prst="rect">
            <a:avLst/>
          </a:prstGeom>
          <a:solidFill>
            <a:srgbClr val="F0B20D"/>
          </a:solidFill>
          <a:ln w="12700">
            <a:solidFill>
              <a:srgbClr val="F0B20D"/>
            </a:solidFill>
            <a:prstDash val="solid"/>
          </a:ln>
        </p:spPr>
        <p:txBody>
          <a:bodyPr/>
          <a:lstStyle/>
          <a:p>
            <a:endParaRPr lang="en-US"/>
          </a:p>
        </p:txBody>
      </p:sp>
      <p:sp>
        <p:nvSpPr>
          <p:cNvPr id="20" name="Text 18"/>
          <p:cNvSpPr/>
          <p:nvPr/>
        </p:nvSpPr>
        <p:spPr>
          <a:xfrm>
            <a:off x="6675120" y="2020824"/>
            <a:ext cx="1234440" cy="292608"/>
          </a:xfrm>
          <a:prstGeom prst="rect">
            <a:avLst/>
          </a:prstGeom>
          <a:noFill/>
          <a:ln/>
        </p:spPr>
        <p:txBody>
          <a:bodyPr wrap="square" lIns="0" tIns="0" rIns="0" bIns="0" rtlCol="0" anchor="ctr"/>
          <a:lstStyle/>
          <a:p>
            <a:pPr marL="0" indent="0" algn="ctr">
              <a:buNone/>
            </a:pPr>
            <a:r>
              <a:rPr lang="en-US" sz="950" b="1" dirty="0">
                <a:solidFill>
                  <a:srgbClr val="211B41"/>
                </a:solidFill>
                <a:latin typeface="Calibri" pitchFamily="34" charset="0"/>
                <a:ea typeface="Calibri" pitchFamily="34" charset="-122"/>
                <a:cs typeface="Calibri" pitchFamily="34" charset="-120"/>
              </a:rPr>
              <a:t>2–3 weeks</a:t>
            </a:r>
            <a:endParaRPr lang="en-US" sz="950" dirty="0"/>
          </a:p>
        </p:txBody>
      </p:sp>
      <p:sp>
        <p:nvSpPr>
          <p:cNvPr id="21" name="Text 19"/>
          <p:cNvSpPr/>
          <p:nvPr/>
        </p:nvSpPr>
        <p:spPr>
          <a:xfrm>
            <a:off x="1389888" y="2386584"/>
            <a:ext cx="6492240" cy="365760"/>
          </a:xfrm>
          <a:prstGeom prst="rect">
            <a:avLst/>
          </a:prstGeom>
          <a:noFill/>
          <a:ln/>
        </p:spPr>
        <p:txBody>
          <a:bodyPr wrap="square" lIns="0" tIns="0" rIns="0" bIns="0" rtlCol="0" anchor="ctr"/>
          <a:lstStyle/>
          <a:p>
            <a:pPr marL="0" indent="0">
              <a:buNone/>
            </a:pPr>
            <a:r>
              <a:rPr lang="en-US" sz="1100" dirty="0">
                <a:solidFill>
                  <a:srgbClr val="211B41"/>
                </a:solidFill>
                <a:latin typeface="Calibri" pitchFamily="34" charset="0"/>
                <a:ea typeface="Calibri" pitchFamily="34" charset="-122"/>
                <a:cs typeface="Calibri" pitchFamily="34" charset="-120"/>
              </a:rPr>
              <a:t>Blockstruct works with your teams to design the 2–3 highest-value pilots: objectives, data requirements, success metrics, compliance checkpoints.</a:t>
            </a:r>
            <a:endParaRPr lang="en-US" sz="1100" dirty="0"/>
          </a:p>
        </p:txBody>
      </p:sp>
      <p:sp>
        <p:nvSpPr>
          <p:cNvPr id="22" name="Shape 20"/>
          <p:cNvSpPr/>
          <p:nvPr/>
        </p:nvSpPr>
        <p:spPr>
          <a:xfrm>
            <a:off x="457200" y="3017520"/>
            <a:ext cx="640080" cy="640080"/>
          </a:xfrm>
          <a:prstGeom prst="line">
            <a:avLst/>
          </a:prstGeom>
          <a:solidFill>
            <a:srgbClr val="626EFF"/>
          </a:solidFill>
          <a:ln w="12700">
            <a:solidFill>
              <a:srgbClr val="626EFF"/>
            </a:solidFill>
            <a:prstDash val="solid"/>
          </a:ln>
        </p:spPr>
        <p:txBody>
          <a:bodyPr/>
          <a:lstStyle/>
          <a:p>
            <a:endParaRPr lang="en-US"/>
          </a:p>
        </p:txBody>
      </p:sp>
      <p:sp>
        <p:nvSpPr>
          <p:cNvPr id="23" name="Text 21"/>
          <p:cNvSpPr/>
          <p:nvPr/>
        </p:nvSpPr>
        <p:spPr>
          <a:xfrm>
            <a:off x="457200" y="3017520"/>
            <a:ext cx="640080" cy="64008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24" name="Shape 22"/>
          <p:cNvSpPr/>
          <p:nvPr/>
        </p:nvSpPr>
        <p:spPr>
          <a:xfrm>
            <a:off x="768096" y="3657600"/>
            <a:ext cx="27432" cy="256032"/>
          </a:xfrm>
          <a:prstGeom prst="rect">
            <a:avLst/>
          </a:prstGeom>
          <a:solidFill>
            <a:srgbClr val="BBCE8E"/>
          </a:solidFill>
          <a:ln w="12700">
            <a:solidFill>
              <a:srgbClr val="BBCE8E"/>
            </a:solidFill>
            <a:prstDash val="solid"/>
          </a:ln>
        </p:spPr>
        <p:txBody>
          <a:bodyPr/>
          <a:lstStyle/>
          <a:p>
            <a:endParaRPr lang="en-US"/>
          </a:p>
        </p:txBody>
      </p:sp>
      <p:sp>
        <p:nvSpPr>
          <p:cNvPr id="25" name="Shape 23"/>
          <p:cNvSpPr/>
          <p:nvPr/>
        </p:nvSpPr>
        <p:spPr>
          <a:xfrm>
            <a:off x="1261872" y="2926080"/>
            <a:ext cx="6766560" cy="841248"/>
          </a:xfrm>
          <a:prstGeom prst="rect">
            <a:avLst/>
          </a:prstGeom>
          <a:solidFill>
            <a:srgbClr val="FFFFFF"/>
          </a:solidFill>
          <a:ln w="12700">
            <a:solidFill>
              <a:srgbClr val="BBCE8E"/>
            </a:solidFill>
            <a:prstDash val="solid"/>
          </a:ln>
        </p:spPr>
        <p:txBody>
          <a:bodyPr/>
          <a:lstStyle/>
          <a:p>
            <a:endParaRPr lang="en-US"/>
          </a:p>
        </p:txBody>
      </p:sp>
      <p:sp>
        <p:nvSpPr>
          <p:cNvPr id="26" name="Text 24"/>
          <p:cNvSpPr/>
          <p:nvPr/>
        </p:nvSpPr>
        <p:spPr>
          <a:xfrm>
            <a:off x="1389888" y="2990088"/>
            <a:ext cx="4114800" cy="347472"/>
          </a:xfrm>
          <a:prstGeom prst="rect">
            <a:avLst/>
          </a:prstGeom>
          <a:noFill/>
          <a:ln/>
        </p:spPr>
        <p:txBody>
          <a:bodyPr wrap="square" lIns="0" tIns="0" rIns="0" bIns="0" rtlCol="0" anchor="ctr"/>
          <a:lstStyle/>
          <a:p>
            <a:pPr marL="0" indent="0">
              <a:buNone/>
            </a:pPr>
            <a:r>
              <a:rPr lang="en-US" sz="1300" b="1" dirty="0">
                <a:solidFill>
                  <a:srgbClr val="211B41"/>
                </a:solidFill>
                <a:latin typeface="Calibri" pitchFamily="34" charset="0"/>
                <a:ea typeface="Calibri" pitchFamily="34" charset="-122"/>
                <a:cs typeface="Calibri" pitchFamily="34" charset="-120"/>
              </a:rPr>
              <a:t>Pilot build &amp; deploy</a:t>
            </a:r>
            <a:endParaRPr lang="en-US" sz="1300" dirty="0"/>
          </a:p>
        </p:txBody>
      </p:sp>
      <p:sp>
        <p:nvSpPr>
          <p:cNvPr id="27" name="Shape 25"/>
          <p:cNvSpPr/>
          <p:nvPr/>
        </p:nvSpPr>
        <p:spPr>
          <a:xfrm>
            <a:off x="6675120" y="2980944"/>
            <a:ext cx="1234440" cy="292608"/>
          </a:xfrm>
          <a:prstGeom prst="rect">
            <a:avLst/>
          </a:prstGeom>
          <a:solidFill>
            <a:srgbClr val="F0B20D"/>
          </a:solidFill>
          <a:ln w="12700">
            <a:solidFill>
              <a:srgbClr val="F0B20D"/>
            </a:solidFill>
            <a:prstDash val="solid"/>
          </a:ln>
        </p:spPr>
        <p:txBody>
          <a:bodyPr/>
          <a:lstStyle/>
          <a:p>
            <a:endParaRPr lang="en-US"/>
          </a:p>
        </p:txBody>
      </p:sp>
      <p:sp>
        <p:nvSpPr>
          <p:cNvPr id="28" name="Text 26"/>
          <p:cNvSpPr/>
          <p:nvPr/>
        </p:nvSpPr>
        <p:spPr>
          <a:xfrm>
            <a:off x="6675120" y="2980944"/>
            <a:ext cx="1234440" cy="292608"/>
          </a:xfrm>
          <a:prstGeom prst="rect">
            <a:avLst/>
          </a:prstGeom>
          <a:noFill/>
          <a:ln/>
        </p:spPr>
        <p:txBody>
          <a:bodyPr wrap="square" lIns="0" tIns="0" rIns="0" bIns="0" rtlCol="0" anchor="ctr"/>
          <a:lstStyle/>
          <a:p>
            <a:pPr marL="0" indent="0" algn="ctr">
              <a:buNone/>
            </a:pPr>
            <a:r>
              <a:rPr lang="en-US" sz="950" b="1" dirty="0">
                <a:solidFill>
                  <a:srgbClr val="211B41"/>
                </a:solidFill>
                <a:latin typeface="Calibri" pitchFamily="34" charset="0"/>
                <a:ea typeface="Calibri" pitchFamily="34" charset="-122"/>
                <a:cs typeface="Calibri" pitchFamily="34" charset="-120"/>
              </a:rPr>
              <a:t>6–10 weeks</a:t>
            </a:r>
            <a:endParaRPr lang="en-US" sz="950" dirty="0"/>
          </a:p>
        </p:txBody>
      </p:sp>
      <p:sp>
        <p:nvSpPr>
          <p:cNvPr id="29" name="Text 27"/>
          <p:cNvSpPr/>
          <p:nvPr/>
        </p:nvSpPr>
        <p:spPr>
          <a:xfrm>
            <a:off x="1389888" y="3346704"/>
            <a:ext cx="6492240" cy="365760"/>
          </a:xfrm>
          <a:prstGeom prst="rect">
            <a:avLst/>
          </a:prstGeom>
          <a:noFill/>
          <a:ln/>
        </p:spPr>
        <p:txBody>
          <a:bodyPr wrap="square" lIns="0" tIns="0" rIns="0" bIns="0" rtlCol="0" anchor="ctr"/>
          <a:lstStyle/>
          <a:p>
            <a:pPr marL="0" indent="0">
              <a:buNone/>
            </a:pPr>
            <a:r>
              <a:rPr lang="en-US" sz="1100" dirty="0">
                <a:solidFill>
                  <a:srgbClr val="211B41"/>
                </a:solidFill>
                <a:latin typeface="Calibri" pitchFamily="34" charset="0"/>
                <a:ea typeface="Calibri" pitchFamily="34" charset="-122"/>
                <a:cs typeface="Calibri" pitchFamily="34" charset="-120"/>
              </a:rPr>
              <a:t>We build on your Google Cloud / Gemini environment. You get a working prototype — not a PowerPoint. Tested with real users from your teams.</a:t>
            </a:r>
            <a:endParaRPr lang="en-US" sz="1100" dirty="0"/>
          </a:p>
        </p:txBody>
      </p:sp>
      <p:sp>
        <p:nvSpPr>
          <p:cNvPr id="30" name="Shape 28"/>
          <p:cNvSpPr/>
          <p:nvPr/>
        </p:nvSpPr>
        <p:spPr>
          <a:xfrm>
            <a:off x="457200" y="3977640"/>
            <a:ext cx="640080" cy="640080"/>
          </a:xfrm>
          <a:prstGeom prst="line">
            <a:avLst/>
          </a:prstGeom>
          <a:solidFill>
            <a:srgbClr val="626EFF"/>
          </a:solidFill>
          <a:ln w="12700">
            <a:solidFill>
              <a:srgbClr val="626EFF"/>
            </a:solidFill>
            <a:prstDash val="solid"/>
          </a:ln>
        </p:spPr>
        <p:txBody>
          <a:bodyPr/>
          <a:lstStyle/>
          <a:p>
            <a:endParaRPr lang="en-US"/>
          </a:p>
        </p:txBody>
      </p:sp>
      <p:sp>
        <p:nvSpPr>
          <p:cNvPr id="31" name="Text 29"/>
          <p:cNvSpPr/>
          <p:nvPr/>
        </p:nvSpPr>
        <p:spPr>
          <a:xfrm>
            <a:off x="457200" y="3977640"/>
            <a:ext cx="640080" cy="640080"/>
          </a:xfrm>
          <a:prstGeom prst="rect">
            <a:avLst/>
          </a:prstGeom>
          <a:noFill/>
          <a:ln/>
        </p:spPr>
        <p:txBody>
          <a:bodyPr wrap="square" lIns="0" tIns="0" rIns="0" bIns="0" rtlCol="0" anchor="ctr"/>
          <a:lstStyle/>
          <a:p>
            <a:pPr marL="0" indent="0" algn="ctr">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32" name="Shape 30"/>
          <p:cNvSpPr/>
          <p:nvPr/>
        </p:nvSpPr>
        <p:spPr>
          <a:xfrm>
            <a:off x="1261872" y="3886200"/>
            <a:ext cx="6766560" cy="841248"/>
          </a:xfrm>
          <a:prstGeom prst="rect">
            <a:avLst/>
          </a:prstGeom>
          <a:solidFill>
            <a:srgbClr val="FFFFFF"/>
          </a:solidFill>
          <a:ln w="12700">
            <a:solidFill>
              <a:srgbClr val="BBCE8E"/>
            </a:solidFill>
            <a:prstDash val="solid"/>
          </a:ln>
        </p:spPr>
        <p:txBody>
          <a:bodyPr/>
          <a:lstStyle/>
          <a:p>
            <a:endParaRPr lang="en-US"/>
          </a:p>
        </p:txBody>
      </p:sp>
      <p:sp>
        <p:nvSpPr>
          <p:cNvPr id="33" name="Text 31"/>
          <p:cNvSpPr/>
          <p:nvPr/>
        </p:nvSpPr>
        <p:spPr>
          <a:xfrm>
            <a:off x="1389888" y="3950208"/>
            <a:ext cx="4114800" cy="347472"/>
          </a:xfrm>
          <a:prstGeom prst="rect">
            <a:avLst/>
          </a:prstGeom>
          <a:noFill/>
          <a:ln/>
        </p:spPr>
        <p:txBody>
          <a:bodyPr wrap="square" lIns="0" tIns="0" rIns="0" bIns="0" rtlCol="0" anchor="ctr"/>
          <a:lstStyle/>
          <a:p>
            <a:pPr marL="0" indent="0">
              <a:buNone/>
            </a:pPr>
            <a:r>
              <a:rPr lang="en-US" sz="1300" b="1" dirty="0">
                <a:solidFill>
                  <a:srgbClr val="211B41"/>
                </a:solidFill>
                <a:latin typeface="Calibri" pitchFamily="34" charset="0"/>
                <a:ea typeface="Calibri" pitchFamily="34" charset="-122"/>
                <a:cs typeface="Calibri" pitchFamily="34" charset="-120"/>
              </a:rPr>
              <a:t>Measure, iterate, expand</a:t>
            </a:r>
            <a:endParaRPr lang="en-US" sz="1300" dirty="0"/>
          </a:p>
        </p:txBody>
      </p:sp>
      <p:sp>
        <p:nvSpPr>
          <p:cNvPr id="34" name="Shape 32"/>
          <p:cNvSpPr/>
          <p:nvPr/>
        </p:nvSpPr>
        <p:spPr>
          <a:xfrm>
            <a:off x="6675120" y="3941064"/>
            <a:ext cx="1234440" cy="292608"/>
          </a:xfrm>
          <a:prstGeom prst="rect">
            <a:avLst/>
          </a:prstGeom>
          <a:solidFill>
            <a:srgbClr val="F0B20D"/>
          </a:solidFill>
          <a:ln w="12700">
            <a:solidFill>
              <a:srgbClr val="F0B20D"/>
            </a:solidFill>
            <a:prstDash val="solid"/>
          </a:ln>
        </p:spPr>
        <p:txBody>
          <a:bodyPr/>
          <a:lstStyle/>
          <a:p>
            <a:endParaRPr lang="en-US"/>
          </a:p>
        </p:txBody>
      </p:sp>
      <p:sp>
        <p:nvSpPr>
          <p:cNvPr id="35" name="Text 33"/>
          <p:cNvSpPr/>
          <p:nvPr/>
        </p:nvSpPr>
        <p:spPr>
          <a:xfrm>
            <a:off x="6675120" y="3941064"/>
            <a:ext cx="1234440" cy="292608"/>
          </a:xfrm>
          <a:prstGeom prst="rect">
            <a:avLst/>
          </a:prstGeom>
          <a:noFill/>
          <a:ln/>
        </p:spPr>
        <p:txBody>
          <a:bodyPr wrap="square" lIns="0" tIns="0" rIns="0" bIns="0" rtlCol="0" anchor="ctr"/>
          <a:lstStyle/>
          <a:p>
            <a:pPr marL="0" indent="0" algn="ctr">
              <a:buNone/>
            </a:pPr>
            <a:r>
              <a:rPr lang="en-US" sz="950" b="1" dirty="0">
                <a:solidFill>
                  <a:srgbClr val="211B41"/>
                </a:solidFill>
                <a:latin typeface="Calibri" pitchFamily="34" charset="0"/>
                <a:ea typeface="Calibri" pitchFamily="34" charset="-122"/>
                <a:cs typeface="Calibri" pitchFamily="34" charset="-120"/>
              </a:rPr>
              <a:t>Ongoing</a:t>
            </a:r>
            <a:endParaRPr lang="en-US" sz="950" dirty="0"/>
          </a:p>
        </p:txBody>
      </p:sp>
      <p:sp>
        <p:nvSpPr>
          <p:cNvPr id="36" name="Text 34"/>
          <p:cNvSpPr/>
          <p:nvPr/>
        </p:nvSpPr>
        <p:spPr>
          <a:xfrm>
            <a:off x="1389888" y="4306824"/>
            <a:ext cx="6492240" cy="365760"/>
          </a:xfrm>
          <a:prstGeom prst="rect">
            <a:avLst/>
          </a:prstGeom>
          <a:noFill/>
          <a:ln/>
        </p:spPr>
        <p:txBody>
          <a:bodyPr wrap="square" lIns="0" tIns="0" rIns="0" bIns="0" rtlCol="0" anchor="ctr"/>
          <a:lstStyle/>
          <a:p>
            <a:pPr marL="0" indent="0">
              <a:buNone/>
            </a:pPr>
            <a:r>
              <a:rPr lang="en-US" sz="1100" dirty="0">
                <a:solidFill>
                  <a:srgbClr val="211B41"/>
                </a:solidFill>
                <a:latin typeface="Calibri" pitchFamily="34" charset="0"/>
                <a:ea typeface="Calibri" pitchFamily="34" charset="-122"/>
                <a:cs typeface="Calibri" pitchFamily="34" charset="-120"/>
              </a:rPr>
              <a:t>Based on pilot results, we define the roadmap for scaling. Every Blockstruct engagement is built for supervisory readiness and data sovereignty from day one.</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211B41"/>
        </a:solidFill>
        <a:effectLst/>
      </p:bgPr>
    </p:bg>
    <p:spTree>
      <p:nvGrpSpPr>
        <p:cNvPr id="1" name=""/>
        <p:cNvGrpSpPr/>
        <p:nvPr/>
      </p:nvGrpSpPr>
      <p:grpSpPr>
        <a:xfrm>
          <a:off x="0" y="0"/>
          <a:ext cx="0" cy="0"/>
          <a:chOff x="0" y="0"/>
          <a:chExt cx="0" cy="0"/>
        </a:xfrm>
      </p:grpSpPr>
      <p:sp>
        <p:nvSpPr>
          <p:cNvPr id="2" name="Shape 0"/>
          <p:cNvSpPr/>
          <p:nvPr/>
        </p:nvSpPr>
        <p:spPr>
          <a:xfrm>
            <a:off x="5943600" y="457200"/>
            <a:ext cx="4114800" cy="4114800"/>
          </a:xfrm>
          <a:prstGeom prst="line">
            <a:avLst/>
          </a:prstGeom>
          <a:solidFill>
            <a:srgbClr val="2E2458"/>
          </a:solidFill>
          <a:ln w="12700">
            <a:solidFill>
              <a:srgbClr val="2E2458"/>
            </a:solidFill>
            <a:prstDash val="solid"/>
          </a:ln>
        </p:spPr>
        <p:txBody>
          <a:bodyPr/>
          <a:lstStyle/>
          <a:p>
            <a:endParaRPr lang="en-US"/>
          </a:p>
        </p:txBody>
      </p:sp>
      <p:sp>
        <p:nvSpPr>
          <p:cNvPr id="3" name="Shape 1"/>
          <p:cNvSpPr/>
          <p:nvPr/>
        </p:nvSpPr>
        <p:spPr>
          <a:xfrm>
            <a:off x="0" y="0"/>
            <a:ext cx="9144000" cy="82296"/>
          </a:xfrm>
          <a:prstGeom prst="rect">
            <a:avLst/>
          </a:prstGeom>
          <a:solidFill>
            <a:srgbClr val="F0B20D"/>
          </a:solidFill>
          <a:ln w="12700">
            <a:solidFill>
              <a:srgbClr val="F0B20D"/>
            </a:solidFill>
            <a:prstDash val="solid"/>
          </a:ln>
        </p:spPr>
        <p:txBody>
          <a:bodyPr/>
          <a:lstStyle/>
          <a:p>
            <a:endParaRPr lang="en-US"/>
          </a:p>
        </p:txBody>
      </p:sp>
      <p:sp>
        <p:nvSpPr>
          <p:cNvPr id="4" name="Text 2"/>
          <p:cNvSpPr/>
          <p:nvPr/>
        </p:nvSpPr>
        <p:spPr>
          <a:xfrm>
            <a:off x="502920" y="502920"/>
            <a:ext cx="6400800" cy="1280160"/>
          </a:xfrm>
          <a:prstGeom prst="rect">
            <a:avLst/>
          </a:prstGeom>
          <a:noFill/>
          <a:ln/>
        </p:spPr>
        <p:txBody>
          <a:bodyPr wrap="square" rtlCol="0" anchor="ctr"/>
          <a:lstStyle/>
          <a:p>
            <a:pPr marL="0" indent="0">
              <a:buNone/>
            </a:pPr>
            <a:r>
              <a:rPr lang="en-US" sz="6400" b="1" dirty="0">
                <a:solidFill>
                  <a:srgbClr val="FFFFFF"/>
                </a:solidFill>
                <a:latin typeface="Georgia" pitchFamily="34" charset="0"/>
                <a:ea typeface="Georgia" pitchFamily="34" charset="-122"/>
                <a:cs typeface="Georgia" pitchFamily="34" charset="-120"/>
              </a:rPr>
              <a:t>Thank you.</a:t>
            </a:r>
            <a:endParaRPr lang="en-US" sz="6400" dirty="0"/>
          </a:p>
        </p:txBody>
      </p:sp>
      <p:sp>
        <p:nvSpPr>
          <p:cNvPr id="5" name="Text 3"/>
          <p:cNvSpPr/>
          <p:nvPr/>
        </p:nvSpPr>
        <p:spPr>
          <a:xfrm>
            <a:off x="502920" y="1828800"/>
            <a:ext cx="6400800" cy="457200"/>
          </a:xfrm>
          <a:prstGeom prst="rect">
            <a:avLst/>
          </a:prstGeom>
          <a:noFill/>
          <a:ln/>
        </p:spPr>
        <p:txBody>
          <a:bodyPr wrap="square" rtlCol="0" anchor="ctr"/>
          <a:lstStyle/>
          <a:p>
            <a:pPr marL="0" indent="0">
              <a:buNone/>
            </a:pPr>
            <a:r>
              <a:rPr lang="en-US" sz="1600" i="1" dirty="0">
                <a:solidFill>
                  <a:srgbClr val="8F96FF"/>
                </a:solidFill>
                <a:latin typeface="Calibri" pitchFamily="34" charset="0"/>
                <a:ea typeface="Calibri" pitchFamily="34" charset="-122"/>
                <a:cs typeface="Calibri" pitchFamily="34" charset="-120"/>
              </a:rPr>
              <a:t>Questions, challenges, and scepticism all welcome.</a:t>
            </a:r>
            <a:endParaRPr lang="en-US" sz="1600" dirty="0"/>
          </a:p>
        </p:txBody>
      </p:sp>
      <p:sp>
        <p:nvSpPr>
          <p:cNvPr id="6" name="Shape 4"/>
          <p:cNvSpPr/>
          <p:nvPr/>
        </p:nvSpPr>
        <p:spPr>
          <a:xfrm>
            <a:off x="502920" y="2395728"/>
            <a:ext cx="4114800" cy="27432"/>
          </a:xfrm>
          <a:prstGeom prst="rect">
            <a:avLst/>
          </a:prstGeom>
          <a:solidFill>
            <a:srgbClr val="2E2458"/>
          </a:solidFill>
          <a:ln w="12700">
            <a:solidFill>
              <a:srgbClr val="2E2458"/>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502920" y="2578608"/>
            <a:ext cx="640080" cy="640080"/>
          </a:xfrm>
          <a:prstGeom prst="rect">
            <a:avLst/>
          </a:prstGeom>
        </p:spPr>
      </p:pic>
      <p:sp>
        <p:nvSpPr>
          <p:cNvPr id="8" name="Text 5"/>
          <p:cNvSpPr/>
          <p:nvPr/>
        </p:nvSpPr>
        <p:spPr>
          <a:xfrm>
            <a:off x="1234440" y="2578608"/>
            <a:ext cx="4572000" cy="384048"/>
          </a:xfrm>
          <a:prstGeom prst="rect">
            <a:avLst/>
          </a:prstGeom>
          <a:noFill/>
          <a:ln/>
        </p:spPr>
        <p:txBody>
          <a:bodyPr wrap="square" lIns="0" tIns="0" rIns="0" bIns="0" rtlCol="0" anchor="ctr"/>
          <a:lstStyle/>
          <a:p>
            <a:pPr marL="0" indent="0">
              <a:buNone/>
            </a:pPr>
            <a:r>
              <a:rPr lang="en-US" sz="1800" b="1" dirty="0">
                <a:solidFill>
                  <a:srgbClr val="FFFFFF"/>
                </a:solidFill>
                <a:latin typeface="Georgia" pitchFamily="34" charset="0"/>
                <a:ea typeface="Georgia" pitchFamily="34" charset="-122"/>
                <a:cs typeface="Georgia" pitchFamily="34" charset="-120"/>
              </a:rPr>
              <a:t>Srdjan Kupresanin</a:t>
            </a:r>
            <a:endParaRPr lang="en-US" sz="1800" dirty="0"/>
          </a:p>
        </p:txBody>
      </p:sp>
      <p:sp>
        <p:nvSpPr>
          <p:cNvPr id="9" name="Text 6"/>
          <p:cNvSpPr/>
          <p:nvPr/>
        </p:nvSpPr>
        <p:spPr>
          <a:xfrm>
            <a:off x="1234440" y="2980944"/>
            <a:ext cx="4572000" cy="320040"/>
          </a:xfrm>
          <a:prstGeom prst="rect">
            <a:avLst/>
          </a:prstGeom>
          <a:noFill/>
          <a:ln/>
        </p:spPr>
        <p:txBody>
          <a:bodyPr wrap="square" lIns="0" tIns="0" rIns="0" bIns="0" rtlCol="0" anchor="ctr"/>
          <a:lstStyle/>
          <a:p>
            <a:pPr marL="0" indent="0">
              <a:buNone/>
            </a:pPr>
            <a:r>
              <a:rPr lang="en-US" sz="1300" dirty="0">
                <a:solidFill>
                  <a:srgbClr val="8F96FF"/>
                </a:solidFill>
                <a:latin typeface="Calibri" pitchFamily="34" charset="0"/>
                <a:ea typeface="Calibri" pitchFamily="34" charset="-122"/>
                <a:cs typeface="Calibri" pitchFamily="34" charset="-120"/>
              </a:rPr>
              <a:t>Founder &amp; CEO, Blockstruct GmbH</a:t>
            </a:r>
            <a:endParaRPr lang="en-US" sz="1300" dirty="0"/>
          </a:p>
        </p:txBody>
      </p:sp>
      <p:sp>
        <p:nvSpPr>
          <p:cNvPr id="10" name="Text 7"/>
          <p:cNvSpPr/>
          <p:nvPr/>
        </p:nvSpPr>
        <p:spPr>
          <a:xfrm>
            <a:off x="1234440" y="3401568"/>
            <a:ext cx="3657600" cy="292608"/>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Vienna, Austria</a:t>
            </a:r>
            <a:endParaRPr lang="en-US" sz="1200" dirty="0"/>
          </a:p>
        </p:txBody>
      </p:sp>
      <p:sp>
        <p:nvSpPr>
          <p:cNvPr id="11" name="Shape 8"/>
          <p:cNvSpPr/>
          <p:nvPr/>
        </p:nvSpPr>
        <p:spPr>
          <a:xfrm>
            <a:off x="502920" y="3977640"/>
            <a:ext cx="4754880" cy="594360"/>
          </a:xfrm>
          <a:prstGeom prst="rect">
            <a:avLst/>
          </a:prstGeom>
          <a:solidFill>
            <a:srgbClr val="5E4692"/>
          </a:solidFill>
          <a:ln w="12700">
            <a:solidFill>
              <a:srgbClr val="626EFF"/>
            </a:solidFill>
            <a:prstDash val="solid"/>
          </a:ln>
        </p:spPr>
        <p:txBody>
          <a:bodyPr/>
          <a:lstStyle/>
          <a:p>
            <a:endParaRPr lang="en-US"/>
          </a:p>
        </p:txBody>
      </p:sp>
      <p:sp>
        <p:nvSpPr>
          <p:cNvPr id="12" name="Text 9"/>
          <p:cNvSpPr/>
          <p:nvPr/>
        </p:nvSpPr>
        <p:spPr>
          <a:xfrm>
            <a:off x="621792" y="4005072"/>
            <a:ext cx="4572000" cy="530352"/>
          </a:xfrm>
          <a:prstGeom prst="rect">
            <a:avLst/>
          </a:prstGeom>
          <a:noFill/>
          <a:ln/>
        </p:spPr>
        <p:txBody>
          <a:bodyPr wrap="square" rtlCol="0" anchor="ctr"/>
          <a:lstStyle/>
          <a:p>
            <a:pPr marL="0" indent="0">
              <a:buNone/>
            </a:pPr>
            <a:r>
              <a:rPr lang="en-US" sz="1050" dirty="0">
                <a:solidFill>
                  <a:srgbClr val="8F96FF"/>
                </a:solidFill>
                <a:latin typeface="Calibri" pitchFamily="34" charset="0"/>
                <a:ea typeface="Calibri" pitchFamily="34" charset="-122"/>
                <a:cs typeface="Calibri" pitchFamily="34" charset="-120"/>
              </a:rPr>
              <a:t>🔬  Member of AI:AT — AI Factory Austria</a:t>
            </a:r>
            <a:endParaRPr lang="en-US" sz="1050" dirty="0"/>
          </a:p>
          <a:p>
            <a:pPr marL="0" indent="0">
              <a:buNone/>
            </a:pPr>
            <a:r>
              <a:rPr lang="en-US" sz="1050" dirty="0">
                <a:solidFill>
                  <a:srgbClr val="8F96FF"/>
                </a:solidFill>
                <a:latin typeface="Calibri" pitchFamily="34" charset="0"/>
                <a:ea typeface="Calibri" pitchFamily="34" charset="-122"/>
                <a:cs typeface="Calibri" pitchFamily="34" charset="-120"/>
              </a:rPr>
              <a:t>Part of the European AI Factories initiative (EuroHPC JU)</a:t>
            </a:r>
            <a:endParaRPr lang="en-US" sz="1050" dirty="0"/>
          </a:p>
        </p:txBody>
      </p:sp>
      <p:sp>
        <p:nvSpPr>
          <p:cNvPr id="13" name="Shape 10"/>
          <p:cNvSpPr/>
          <p:nvPr/>
        </p:nvSpPr>
        <p:spPr>
          <a:xfrm>
            <a:off x="0" y="4919472"/>
            <a:ext cx="9144000" cy="224028"/>
          </a:xfrm>
          <a:prstGeom prst="rect">
            <a:avLst/>
          </a:prstGeom>
          <a:solidFill>
            <a:srgbClr val="2E2458"/>
          </a:solidFill>
          <a:ln w="12700">
            <a:solidFill>
              <a:srgbClr val="2E2458"/>
            </a:solidFill>
            <a:prstDash val="solid"/>
          </a:ln>
        </p:spPr>
        <p:txBody>
          <a:bodyPr/>
          <a:lstStyle/>
          <a:p>
            <a:endParaRPr lang="en-US"/>
          </a:p>
        </p:txBody>
      </p:sp>
      <p:sp>
        <p:nvSpPr>
          <p:cNvPr id="14" name="Text 11"/>
          <p:cNvSpPr/>
          <p:nvPr/>
        </p:nvSpPr>
        <p:spPr>
          <a:xfrm>
            <a:off x="274320" y="4928616"/>
            <a:ext cx="8595360" cy="201168"/>
          </a:xfrm>
          <a:prstGeom prst="rect">
            <a:avLst/>
          </a:prstGeom>
          <a:noFill/>
          <a:ln/>
        </p:spPr>
        <p:txBody>
          <a:bodyPr wrap="square" lIns="0" tIns="0" rIns="0" bIns="0" rtlCol="0" anchor="ctr"/>
          <a:lstStyle/>
          <a:p>
            <a:pPr marL="0" indent="0">
              <a:buNone/>
            </a:pPr>
            <a:r>
              <a:rPr lang="en-US" sz="900" dirty="0">
                <a:solidFill>
                  <a:srgbClr val="4A7A82"/>
                </a:solidFill>
                <a:latin typeface="Calibri" pitchFamily="34" charset="0"/>
                <a:ea typeface="Calibri" pitchFamily="34" charset="-122"/>
                <a:cs typeface="Calibri" pitchFamily="34" charset="-120"/>
              </a:rPr>
              <a:t>Blockstruct GmbH  ·  AI Demystified Workshop  ·  UniCredit  ·  April 2026</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211B41"/>
      </a:dk2>
      <a:lt2>
        <a:srgbClr val="BBCE8E"/>
      </a:lt2>
      <a:accent1>
        <a:srgbClr val="626EFF"/>
      </a:accent1>
      <a:accent2>
        <a:srgbClr val="F0B20D"/>
      </a:accent2>
      <a:accent3>
        <a:srgbClr val="8E8E9E"/>
      </a:accent3>
      <a:accent4>
        <a:srgbClr val="F0B20D"/>
      </a:accent4>
      <a:accent5>
        <a:srgbClr val="0EA9B6"/>
      </a:accent5>
      <a:accent6>
        <a:srgbClr val="A7B360"/>
      </a:accent6>
      <a:hlink>
        <a:srgbClr val="0EA9B6"/>
      </a:hlink>
      <a:folHlink>
        <a:srgbClr val="5E469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1130</TotalTime>
  <Words>4324</Words>
  <Application>Microsoft Macintosh PowerPoint</Application>
  <PresentationFormat>On-screen Show (16:9)</PresentationFormat>
  <Paragraphs>501</Paragraphs>
  <Slides>39</Slides>
  <Notes>39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39</vt:i4>
      </vt:variant>
    </vt:vector>
  </HeadingPairs>
  <TitlesOfParts>
    <vt:vector size="43"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Demystified — UniCredit Leadership Workshop</dc:title>
  <dc:subject>PptxGenJS Presentation</dc:subject>
  <dc:creator>Blockstruct GmbH</dc:creator>
  <cp:lastModifiedBy>Srdjan Kupresanin</cp:lastModifiedBy>
  <cp:revision>2</cp:revision>
  <cp:lastPrinted>2026-04-16T10:09:58Z</cp:lastPrinted>
  <dcterms:created xsi:type="dcterms:W3CDTF">2026-04-10T09:08:21Z</dcterms:created>
  <dcterms:modified xsi:type="dcterms:W3CDTF">2026-04-16T10:10:09Z</dcterms:modified>
</cp:coreProperties>
</file>